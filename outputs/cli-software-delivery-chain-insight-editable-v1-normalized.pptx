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Top workflow image and its source map: outputs/cli-upper-half-c-final-light.png; outputs/cli-upper-half-c-refined-command-sources.md</a:t>
            </a:r>
          </a:p>
          <a:p>
            <a:r>
              <a:t>- Representative table source map: outputs/cli-lower-left-representative-table-sources.md</a:t>
            </a:r>
          </a:p>
          <a:p>
            <a:r>
              <a:t>- CLI/MCP evidence audit: 50_deepdives/cli-agent-interface/industry-mcp-evolution-and-progressive-discovery-2026-07-28.md</a:t>
            </a:r>
          </a:p>
          <a:p>
            <a:r>
              <a:t>- Claude Code Tool Search: https://code.claude.com/docs/en/mcp#scale-with-mcp-tool-search</a:t>
            </a:r>
          </a:p>
          <a:p>
            <a:r>
              <a:t>- MCP Client Best Practices: https://modelcontextprotocol.io/docs/develop/clients/client-best-practices</a:t>
            </a:r>
          </a:p>
          <a:p>
            <a:r>
              <a:t>- Thoughtworks Technology Radar, MCP by default: https://www.thoughtworks.com/radar/techniques/mcp-by-default</a:t>
            </a:r>
          </a:p>
          <a:p>
            <a:r>
              <a:t>[/Sources]</a:t>
            </a:r>
          </a:p>
          <a:p>
            <a:endParaRPr/>
          </a:p>
          <a:p>
            <a:r>
              <a:t>Evidence boundary: Tool Search is a host/client implementation pattern, not an MCP core RPC guarantee. Thoughtworks cautions against default adoption and explicitly does not reject MCP.</a:t>
            </a:r>
          </a:p>
          <a:p>
            <a:r>
              <a:t>as_of: 2026-07-28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hashicorp.com/terraform/cli/commands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jfrog.com/integrations/docs/jfrog-cli-command-referenc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ircleci.com/docs/guides/toolkit/local-cli/" TargetMode="External"/><Relationship Id="rId5" Type="http://schemas.openxmlformats.org/officeDocument/2006/relationships/hyperlink" Target="https://docs.snyk.io/developer-tools/snyk-cli" TargetMode="External"/><Relationship Id="rId4" Type="http://schemas.openxmlformats.org/officeDocument/2006/relationships/hyperlink" Target="https://cli.github.com/manual/" TargetMode="External"/><Relationship Id="rId9" Type="http://schemas.openxmlformats.org/officeDocument/2006/relationships/hyperlink" Target="https://github.com/getsentry/sentry-cl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FCE9413-7B3F-4C4B-8A5D-F4E1189653B6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676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600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CLI 贯穿软件交付作业链，直接执行与标准接入协同演进</a:t>
            </a:r>
          </a:p>
        </p:txBody>
      </p:sp>
      <p:sp>
        <p:nvSpPr>
          <p:cNvPr id="2" name="as-of">
            <a:extLst>
              <a:ext uri="{FF2B5EF4-FFF2-40B4-BE49-F238E27FC236}">
                <a16:creationId xmlns:a16="http://schemas.microsoft.com/office/drawing/2014/main" id="{7E861201-C1B8-4169-9262-CEDD3663C3D9}"/>
              </a:ext>
            </a:extLst>
          </p:cNvPr>
          <p:cNvSpPr>
            <a:spLocks noGrp="1"/>
          </p:cNvSpPr>
          <p:nvPr/>
        </p:nvSpPr>
        <p:spPr>
          <a:xfrm>
            <a:off x="15544800" y="295275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技术洞察 · 2026-07-28</a:t>
            </a:r>
          </a:p>
        </p:txBody>
      </p:sp>
      <p:sp>
        <p:nvSpPr>
          <p:cNvPr id="3" name="title-accent">
            <a:extLst>
              <a:ext uri="{FF2B5EF4-FFF2-40B4-BE49-F238E27FC236}">
                <a16:creationId xmlns:a16="http://schemas.microsoft.com/office/drawing/2014/main" id="{9942B81B-A663-493A-B89D-C908E2D3EDBC}"/>
              </a:ext>
            </a:extLst>
          </p:cNvPr>
          <p:cNvSpPr>
            <a:spLocks noGrp="1"/>
          </p:cNvSpPr>
          <p:nvPr/>
        </p:nvSpPr>
        <p:spPr>
          <a:xfrm>
            <a:off x="381000" y="742950"/>
            <a:ext cx="1104900" cy="66675"/>
          </a:xfrm>
          <a:prstGeom prst="rect">
            <a:avLst/>
          </a:prstGeom>
          <a:solidFill>
            <a:srgbClr val="EF70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897731"/>
            <a:ext cx="17526000" cy="4929188"/>
          </a:xfrm>
          <a:prstGeom prst="rect">
            <a:avLst/>
          </a:prstGeom>
        </p:spPr>
      </p:pic>
      <p:graphicFrame>
        <p:nvGraphicFramePr>
          <p:cNvPr id="29" name="表格 28"/>
          <p:cNvGraphicFramePr/>
          <p:nvPr/>
        </p:nvGraphicFramePr>
        <p:xfrm>
          <a:off x="381000" y="6000750"/>
          <a:ext cx="8572500" cy="3903348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作业阶段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 / CLI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接入方式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形态 / 成熟度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4"/>
                        </a:rPr>
                        <a:t>GitHub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/ PR / Review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/ Actions /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Remote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远程托管 / 可本地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检查与门禁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5"/>
                        </a:rPr>
                        <a:t>Snyk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代码 / 容器 / IaC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 / 忽略 / 修复建议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 mcp -t stdio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EA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6"/>
                        </a:rPr>
                        <a:t>CircleCI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process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execute / diagnostic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 mcp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CLI v1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制品与供应链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7"/>
                        </a:rPr>
                        <a:t>JFrog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jf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 / 复制 / 发布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Xray / SBOM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Remote MCP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/ 自托管 Beta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8"/>
                        </a:rPr>
                        <a:t>HashiCorp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 / plan / apply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terraform-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Server · v1.0.x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观测与恢复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9"/>
                        </a:rPr>
                        <a:t>Sentry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sentry-cli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 / Deploy / Commit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Map / Event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mcp.sentry.dev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远程可用 / stdio 开发中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/>
          <p:nvPr/>
        </p:nvGraphicFramePr>
        <p:xfrm>
          <a:off x="9182100" y="6000750"/>
          <a:ext cx="8724900" cy="2506028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CLI｜直接执行面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MCP｜标准接入面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复用成熟工具的完整执行语义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命令、文件、进程进入 Agent 工作循环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统一能力发现与调用契约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接入本地或远程服务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能力保真、易重放，Shell 组合成本低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复用脚本、Runner、权限与运维经验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跨客户端互操作，支持远程鉴权与集中治理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能力描述与 OAuth 边界更易标准化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接口与版本差异由 Agent / Skill 消化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输出不稳会降低自动化可靠性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Server、协议生命周期与权限治理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全量注入工具定义会占用上下文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本地工程动作、CI Runner、已有成熟 CLI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远程系统、多客户端共享、企业身份治理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li-trend-surface">
            <a:extLst>
              <a:ext uri="{FF2B5EF4-FFF2-40B4-BE49-F238E27FC236}">
                <a16:creationId xmlns:a16="http://schemas.microsoft.com/office/drawing/2014/main" id="{0EF34881-3EB6-43BE-8257-D2EBBEA88419}"/>
              </a:ext>
            </a:extLst>
          </p:cNvPr>
          <p:cNvSpPr>
            <a:spLocks noGrp="1"/>
          </p:cNvSpPr>
          <p:nvPr/>
        </p:nvSpPr>
        <p:spPr>
          <a:xfrm>
            <a:off x="9182100" y="8420100"/>
            <a:ext cx="87249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CDD6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li-trend-edge">
            <a:extLst>
              <a:ext uri="{FF2B5EF4-FFF2-40B4-BE49-F238E27FC236}">
                <a16:creationId xmlns:a16="http://schemas.microsoft.com/office/drawing/2014/main" id="{7DD4E14F-2BE6-43C3-97DC-EC77E0611F51}"/>
              </a:ext>
            </a:extLst>
          </p:cNvPr>
          <p:cNvSpPr>
            <a:spLocks noGrp="1"/>
          </p:cNvSpPr>
          <p:nvPr/>
        </p:nvSpPr>
        <p:spPr>
          <a:xfrm>
            <a:off x="9182100" y="8420100"/>
            <a:ext cx="57150" cy="447675"/>
          </a:xfrm>
          <a:prstGeom prst="rect">
            <a:avLst/>
          </a:prstGeom>
          <a:solidFill>
            <a:srgbClr val="4967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cli-trend-label-bg">
            <a:extLst>
              <a:ext uri="{FF2B5EF4-FFF2-40B4-BE49-F238E27FC236}">
                <a16:creationId xmlns:a16="http://schemas.microsoft.com/office/drawing/2014/main" id="{00B7D69A-1B08-42F3-BFA4-AFAD4290F2FA}"/>
              </a:ext>
            </a:extLst>
          </p:cNvPr>
          <p:cNvSpPr>
            <a:spLocks noGrp="1"/>
          </p:cNvSpPr>
          <p:nvPr/>
        </p:nvSpPr>
        <p:spPr>
          <a:xfrm>
            <a:off x="9334500" y="8496300"/>
            <a:ext cx="876300" cy="295275"/>
          </a:xfrm>
          <a:prstGeom prst="roundRect">
            <a:avLst>
              <a:gd name="adj" fmla="val 38710"/>
            </a:avLst>
          </a:prstGeom>
          <a:solidFill>
            <a:srgbClr val="EDF1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li-trend-label">
            <a:extLst>
              <a:ext uri="{FF2B5EF4-FFF2-40B4-BE49-F238E27FC236}">
                <a16:creationId xmlns:a16="http://schemas.microsoft.com/office/drawing/2014/main" id="{89DEDDBE-0280-4C10-8F81-F7F1EAF8511B}"/>
              </a:ext>
            </a:extLst>
          </p:cNvPr>
          <p:cNvSpPr>
            <a:spLocks noGrp="1"/>
          </p:cNvSpPr>
          <p:nvPr/>
        </p:nvSpPr>
        <p:spPr>
          <a:xfrm>
            <a:off x="9334500" y="8496300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rPr>
              <a:t>CLI 趋势</a:t>
            </a:r>
          </a:p>
        </p:txBody>
      </p:sp>
      <p:sp>
        <p:nvSpPr>
          <p:cNvPr id="11" name="cli-trend-sentence">
            <a:extLst>
              <a:ext uri="{FF2B5EF4-FFF2-40B4-BE49-F238E27FC236}">
                <a16:creationId xmlns:a16="http://schemas.microsoft.com/office/drawing/2014/main" id="{6E4004F2-97C4-4209-BFC7-B8CC95D10B93}"/>
              </a:ext>
            </a:extLst>
          </p:cNvPr>
          <p:cNvSpPr>
            <a:spLocks noGrp="1"/>
          </p:cNvSpPr>
          <p:nvPr/>
        </p:nvSpPr>
        <p:spPr>
          <a:xfrm>
            <a:off x="10363200" y="8467725"/>
            <a:ext cx="538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140"/>
          </a:bodyPr>
          <a:lstStyle/>
          <a:p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Agent CLI 从交互命令走向 Headless、结构化输出与 Skill，成为可重放的高保真执行面。</a:t>
            </a:r>
          </a:p>
        </p:txBody>
      </p:sp>
      <p:sp>
        <p:nvSpPr>
          <p:cNvPr id="12" name="cli-trend-evidence">
            <a:extLst>
              <a:ext uri="{FF2B5EF4-FFF2-40B4-BE49-F238E27FC236}">
                <a16:creationId xmlns:a16="http://schemas.microsoft.com/office/drawing/2014/main" id="{274DD7B9-CD7C-43F5-A1AC-34056E528D13}"/>
              </a:ext>
            </a:extLst>
          </p:cNvPr>
          <p:cNvSpPr>
            <a:spLocks noGrp="1"/>
          </p:cNvSpPr>
          <p:nvPr/>
        </p:nvSpPr>
        <p:spPr>
          <a:xfrm>
            <a:off x="15735300" y="8486775"/>
            <a:ext cx="2019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066"/>
          </a:bodyPr>
          <a:lstStyle/>
          <a:p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Codex · Claude Code · Copilot</a:t>
            </a:r>
          </a:p>
        </p:txBody>
      </p:sp>
      <p:sp>
        <p:nvSpPr>
          <p:cNvPr id="13" name="mcp-trend-surface">
            <a:extLst>
              <a:ext uri="{FF2B5EF4-FFF2-40B4-BE49-F238E27FC236}">
                <a16:creationId xmlns:a16="http://schemas.microsoft.com/office/drawing/2014/main" id="{971C6D1C-FD2F-40D4-B88F-B580FAD360C8}"/>
              </a:ext>
            </a:extLst>
          </p:cNvPr>
          <p:cNvSpPr>
            <a:spLocks noGrp="1"/>
          </p:cNvSpPr>
          <p:nvPr/>
        </p:nvSpPr>
        <p:spPr>
          <a:xfrm>
            <a:off x="9182100" y="8943975"/>
            <a:ext cx="87249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CDD6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mcp-trend-edge">
            <a:extLst>
              <a:ext uri="{FF2B5EF4-FFF2-40B4-BE49-F238E27FC236}">
                <a16:creationId xmlns:a16="http://schemas.microsoft.com/office/drawing/2014/main" id="{8CFD810E-F6F5-4DBD-A2BC-2F8075A2A5F1}"/>
              </a:ext>
            </a:extLst>
          </p:cNvPr>
          <p:cNvSpPr>
            <a:spLocks noGrp="1"/>
          </p:cNvSpPr>
          <p:nvPr/>
        </p:nvSpPr>
        <p:spPr>
          <a:xfrm>
            <a:off x="9182100" y="8943975"/>
            <a:ext cx="57150" cy="447675"/>
          </a:xfrm>
          <a:prstGeom prst="rect">
            <a:avLst/>
          </a:prstGeom>
          <a:solidFill>
            <a:srgbClr val="EF70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mcp-trend-label-bg">
            <a:extLst>
              <a:ext uri="{FF2B5EF4-FFF2-40B4-BE49-F238E27FC236}">
                <a16:creationId xmlns:a16="http://schemas.microsoft.com/office/drawing/2014/main" id="{7E6F2D82-3765-4194-A9B1-DBE6DEDE533E}"/>
              </a:ext>
            </a:extLst>
          </p:cNvPr>
          <p:cNvSpPr>
            <a:spLocks noGrp="1"/>
          </p:cNvSpPr>
          <p:nvPr/>
        </p:nvSpPr>
        <p:spPr>
          <a:xfrm>
            <a:off x="9334500" y="9020175"/>
            <a:ext cx="876300" cy="295275"/>
          </a:xfrm>
          <a:prstGeom prst="roundRect">
            <a:avLst>
              <a:gd name="adj" fmla="val 38710"/>
            </a:avLst>
          </a:prstGeom>
          <a:solidFill>
            <a:srgbClr val="FFF0E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mcp-trend-label">
            <a:extLst>
              <a:ext uri="{FF2B5EF4-FFF2-40B4-BE49-F238E27FC236}">
                <a16:creationId xmlns:a16="http://schemas.microsoft.com/office/drawing/2014/main" id="{09C95972-CB08-4CA2-8A5C-F6FA0EA91061}"/>
              </a:ext>
            </a:extLst>
          </p:cNvPr>
          <p:cNvSpPr>
            <a:spLocks noGrp="1"/>
          </p:cNvSpPr>
          <p:nvPr/>
        </p:nvSpPr>
        <p:spPr>
          <a:xfrm>
            <a:off x="9334500" y="9020175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rPr>
              <a:t>MCP 趋势</a:t>
            </a:r>
          </a:p>
        </p:txBody>
      </p:sp>
      <p:sp>
        <p:nvSpPr>
          <p:cNvPr id="17" name="mcp-trend-sentence">
            <a:extLst>
              <a:ext uri="{FF2B5EF4-FFF2-40B4-BE49-F238E27FC236}">
                <a16:creationId xmlns:a16="http://schemas.microsoft.com/office/drawing/2014/main" id="{58E20B63-BA43-4F34-84A2-00337797AA9F}"/>
              </a:ext>
            </a:extLst>
          </p:cNvPr>
          <p:cNvSpPr>
            <a:spLocks noGrp="1"/>
          </p:cNvSpPr>
          <p:nvPr/>
        </p:nvSpPr>
        <p:spPr>
          <a:xfrm>
            <a:off x="10363200" y="8991600"/>
            <a:ext cx="538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140"/>
          </a:bodyPr>
          <a:lstStyle/>
          <a:p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MCP 以 Tool Search、渐进发现和程序化调用转向按需加载，并强化远程鉴权与治理。</a:t>
            </a:r>
          </a:p>
        </p:txBody>
      </p:sp>
      <p:sp>
        <p:nvSpPr>
          <p:cNvPr id="18" name="mcp-trend-evidence">
            <a:extLst>
              <a:ext uri="{FF2B5EF4-FFF2-40B4-BE49-F238E27FC236}">
                <a16:creationId xmlns:a16="http://schemas.microsoft.com/office/drawing/2014/main" id="{A132E078-3F6B-4C17-ADA2-21BF158C4045}"/>
              </a:ext>
            </a:extLst>
          </p:cNvPr>
          <p:cNvSpPr>
            <a:spLocks noGrp="1"/>
          </p:cNvSpPr>
          <p:nvPr/>
        </p:nvSpPr>
        <p:spPr>
          <a:xfrm>
            <a:off x="15735300" y="9010650"/>
            <a:ext cx="2019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Claude Code · MCP 官方</a:t>
            </a:r>
          </a:p>
        </p:txBody>
      </p:sp>
      <p:sp>
        <p:nvSpPr>
          <p:cNvPr id="19" name="overall-trend-surface">
            <a:extLst>
              <a:ext uri="{FF2B5EF4-FFF2-40B4-BE49-F238E27FC236}">
                <a16:creationId xmlns:a16="http://schemas.microsoft.com/office/drawing/2014/main" id="{641D4434-E070-49D4-9C44-351C9D7F0AFE}"/>
              </a:ext>
            </a:extLst>
          </p:cNvPr>
          <p:cNvSpPr>
            <a:spLocks noGrp="1"/>
          </p:cNvSpPr>
          <p:nvPr/>
        </p:nvSpPr>
        <p:spPr>
          <a:xfrm>
            <a:off x="9182100" y="9467850"/>
            <a:ext cx="87249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CDD6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overall-trend-edge">
            <a:extLst>
              <a:ext uri="{FF2B5EF4-FFF2-40B4-BE49-F238E27FC236}">
                <a16:creationId xmlns:a16="http://schemas.microsoft.com/office/drawing/2014/main" id="{9319E973-9EC7-4D43-BF12-03497BCCCC67}"/>
              </a:ext>
            </a:extLst>
          </p:cNvPr>
          <p:cNvSpPr>
            <a:spLocks noGrp="1"/>
          </p:cNvSpPr>
          <p:nvPr/>
        </p:nvSpPr>
        <p:spPr>
          <a:xfrm>
            <a:off x="9182100" y="9467850"/>
            <a:ext cx="57150" cy="447675"/>
          </a:xfrm>
          <a:prstGeom prst="rect">
            <a:avLst/>
          </a:prstGeom>
          <a:solidFill>
            <a:srgbClr val="19324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overall-trend-label-bg">
            <a:extLst>
              <a:ext uri="{FF2B5EF4-FFF2-40B4-BE49-F238E27FC236}">
                <a16:creationId xmlns:a16="http://schemas.microsoft.com/office/drawing/2014/main" id="{F33FFD3F-2309-41F6-9495-A5F843CDFECF}"/>
              </a:ext>
            </a:extLst>
          </p:cNvPr>
          <p:cNvSpPr>
            <a:spLocks noGrp="1"/>
          </p:cNvSpPr>
          <p:nvPr/>
        </p:nvSpPr>
        <p:spPr>
          <a:xfrm>
            <a:off x="9334500" y="9544050"/>
            <a:ext cx="876300" cy="295275"/>
          </a:xfrm>
          <a:prstGeom prst="roundRect">
            <a:avLst>
              <a:gd name="adj" fmla="val 38710"/>
            </a:avLst>
          </a:prstGeom>
          <a:solidFill>
            <a:srgbClr val="19324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verall-trend-label">
            <a:extLst>
              <a:ext uri="{FF2B5EF4-FFF2-40B4-BE49-F238E27FC236}">
                <a16:creationId xmlns:a16="http://schemas.microsoft.com/office/drawing/2014/main" id="{4657B609-2E67-4516-BC64-A30D54982403}"/>
              </a:ext>
            </a:extLst>
          </p:cNvPr>
          <p:cNvSpPr>
            <a:spLocks noGrp="1"/>
          </p:cNvSpPr>
          <p:nvPr/>
        </p:nvSpPr>
        <p:spPr>
          <a:xfrm>
            <a:off x="9334500" y="9544050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整体趋势</a:t>
            </a:r>
          </a:p>
        </p:txBody>
      </p:sp>
      <p:sp>
        <p:nvSpPr>
          <p:cNvPr id="23" name="overall-trend-sentence">
            <a:extLst>
              <a:ext uri="{FF2B5EF4-FFF2-40B4-BE49-F238E27FC236}">
                <a16:creationId xmlns:a16="http://schemas.microsoft.com/office/drawing/2014/main" id="{4504F17C-06F9-4C93-95C2-6301C6FC3852}"/>
              </a:ext>
            </a:extLst>
          </p:cNvPr>
          <p:cNvSpPr>
            <a:spLocks noGrp="1"/>
          </p:cNvSpPr>
          <p:nvPr/>
        </p:nvSpPr>
        <p:spPr>
          <a:xfrm>
            <a:off x="10363200" y="9515475"/>
            <a:ext cx="538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140"/>
          </a:bodyPr>
          <a:lstStyle/>
          <a:p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主流终端 Agent 同时保留 CLI 与 MCP，界面选择趋向按任务组合，而非默认封装所有能力。</a:t>
            </a:r>
          </a:p>
        </p:txBody>
      </p:sp>
      <p:sp>
        <p:nvSpPr>
          <p:cNvPr id="24" name="overall-trend-evidence">
            <a:extLst>
              <a:ext uri="{FF2B5EF4-FFF2-40B4-BE49-F238E27FC236}">
                <a16:creationId xmlns:a16="http://schemas.microsoft.com/office/drawing/2014/main" id="{F60E88DC-5760-4240-834E-45361E74D90F}"/>
              </a:ext>
            </a:extLst>
          </p:cNvPr>
          <p:cNvSpPr>
            <a:spLocks noGrp="1"/>
          </p:cNvSpPr>
          <p:nvPr/>
        </p:nvSpPr>
        <p:spPr>
          <a:xfrm>
            <a:off x="15735300" y="9534525"/>
            <a:ext cx="2019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Thoughtworks · Caution</a:t>
            </a:r>
          </a:p>
        </p:txBody>
      </p:sp>
    </p:spTree>
    <p:extLst>
      <p:ext uri="{BB962C8B-B14F-4D97-AF65-F5344CB8AC3E}">
        <p14:creationId xmlns:p14="http://schemas.microsoft.com/office/powerpoint/2010/main" val="16966677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399</Words>
  <Application>Microsoft Macintosh PowerPoint</Application>
  <DocSecurity>0</DocSecurity>
  <PresentationFormat>自定义</PresentationFormat>
  <Paragraphs>91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Zhu Jiayi</cp:lastModifiedBy>
  <cp:revision>1</cp:revision>
  <dcterms:created xsi:type="dcterms:W3CDTF">2026-07-28T13:19:43Z</dcterms:created>
  <dcterms:modified xsi:type="dcterms:W3CDTF">2026-07-28T13:29:20Z</dcterms:modified>
</cp:coreProperties>
</file>