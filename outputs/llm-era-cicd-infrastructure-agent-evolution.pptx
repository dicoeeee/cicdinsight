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9"/>
    <p:restoredTop sz="94660"/>
  </p:normalViewPr>
  <p:slideViewPr>
    <p:cSldViewPr snapToGrid="0">
      <p:cViewPr varScale="1">
        <p:scale>
          <a:sx n="196" d="100"/>
          <a:sy n="196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讲解主线</a:t>
            </a:r>
          </a:p>
          <a:p>
            <a:r>
              <a:t>1. 左侧不是公司横向排名，而是同一类基础设施中不同厂商已经采用的差异化演进路径。</a:t>
            </a:r>
          </a:p>
          <a:p>
            <a:r>
              <a:t>2. 右侧从上到下归纳四个共同方向：代码仓承载任务与上下文；流水线成为 Agent Session 与 Tool 调用的动态运行时；构建与底层资源成为高频验证和弹性调度底座；制品与供应链平台提供实时事实、交付证据和 Agent 行为资产。</a:t>
            </a:r>
          </a:p>
          <a:p>
            <a:r>
              <a:t>3. 页面只证明演进方向，不表示行业已普遍完成转型，也不外推统一 ROI。</a:t>
            </a:r>
          </a:p>
          <a:p>
            <a:endParaRPr/>
          </a:p>
          <a:p>
            <a:r>
              <a:t>公司变化说明</a:t>
            </a:r>
          </a:p>
          <a:p>
            <a:r>
              <a:t>- GitHub：Coding Agent 把 Issue 或评论转成异步任务，在临时 Actions 环境读取仓库上下文并形成改动，最终以 Branch 或 Draft PR 交付；Agentic Workflows 把 Markdown 意图编译为 Actions YAML，仍由 Runner、权限与 Policy 执行。</a:t>
            </a:r>
          </a:p>
          <a:p>
            <a:r>
              <a:t>- GitLab：Issue、MR、评论或 Pipeline Event 可触发 Custom Flow；Flow 在 Runner 执行，并把 Session、CI Job Log 与候选结果重新关联到 MR。</a:t>
            </a:r>
          </a:p>
          <a:p>
            <a:r>
              <a:t>- Buildkite：MCP 把 Build State、Log 与 Trigger 暴露为 Tool，Agent Step 可在 Pipeline 内分析日志或触发后续构建。</a:t>
            </a:r>
          </a:p>
          <a:p>
            <a:r>
              <a:t>- Harness：Worker Agent 把非 Root 执行、Credential Broker、Egress Proxy、短期 Runtime Token 与 Autofix 复验轮次纳入同一运行环境。</a:t>
            </a:r>
          </a:p>
          <a:p>
            <a:r>
              <a:t>- CircleCI：Chunk Sidecar / Microbuild 使用预热快照、增量同步和精简结果提供快速内环，完整 CI 继续承担系统级验证。</a:t>
            </a:r>
          </a:p>
          <a:p>
            <a:r>
              <a:t>- Nx：Project Graph 与 Affected Analysis 选择受影响任务，再通过 Remote Cache 和动态 Worker 分发；Self-Healing 生成候选修复后重跑原失败 Task。</a:t>
            </a:r>
          </a:p>
          <a:p>
            <a:r>
              <a:t>- Bazel：Hermetic Action Graph、Remote Cache 与 RBE 早于大模型存在，但为并行 Agent 提供确定性复用和远程算力承载；变化是既有构建能力因新任务模式升值。</a:t>
            </a:r>
          </a:p>
          <a:p>
            <a:r>
              <a:t>- Sonatype：MCP 把版本、漏洞、许可证、维护状态和推荐版本前移到 Agent 选择依赖的时点。</a:t>
            </a:r>
          </a:p>
          <a:p>
            <a:r>
              <a:t>- Cloudsmith：MCP 把漏洞、版本和部分制品管理能力暴露为 Tool，并只开放非破坏性动作。</a:t>
            </a:r>
          </a:p>
          <a:p>
            <a:r>
              <a:t>- JFrog：MCP 覆盖 Repository、Xray、SBOM、Evidence 与 Release；Agent Packages Repository 开始存放 Skill、Plugin、Prompt 与 MCP Server。</a:t>
            </a:r>
          </a:p>
          <a:p>
            <a:endParaRPr/>
          </a:p>
          <a:p>
            <a:r>
              <a:t>证据边界与状态</a:t>
            </a:r>
          </a:p>
          <a:p>
            <a:r>
              <a:t>- GitHub Cloud Agent、GitLab Agent Platform / Custom Flows 为 GA；GitHub Agentic Workflows 为 Public Preview。</a:t>
            </a:r>
          </a:p>
          <a:p>
            <a:r>
              <a:t>- JFrog MCP 为 Beta，Skills / Agent Packages 的部分能力为 Open Beta。</a:t>
            </a:r>
          </a:p>
          <a:p>
            <a:r>
              <a:t>- CircleCI 性能数字属于厂商自测；本页不展示或外推。</a:t>
            </a:r>
          </a:p>
          <a:p>
            <a:r>
              <a:t>- MCP、CLI/API 或 Tool 可调用不等于获得合并、发布、Policy 激活或制品删除授权。</a:t>
            </a:r>
          </a:p>
          <a:p>
            <a:endParaRPr/>
          </a:p>
          <a:p>
            <a:r>
              <a:t>[Sources]</a:t>
            </a:r>
          </a:p>
          <a:p>
            <a:r>
              <a:t>GitHub Copilot coding agent GA: https://github.blog/changelog/2025-09-25-copilot-coding-agent-is-now-generally-available/</a:t>
            </a:r>
          </a:p>
          <a:p>
            <a:r>
              <a:t>GitHub Cloud Agent docs: https://docs.github.com/en/copilot/how-tos/use-copilot-agents/cloud-agent/use-cloud-agent-on-github</a:t>
            </a:r>
          </a:p>
          <a:p>
            <a:r>
              <a:t>GitLab Duo Agent Platform: https://docs.gitlab.com/user/duo_agent_platform/</a:t>
            </a:r>
          </a:p>
          <a:p>
            <a:r>
              <a:t>GitHub Agentic Workflows: https://docs.github.com/en/enterprise-cloud@latest/copilot/concepts/agents/about-github-agentic-workflows</a:t>
            </a:r>
          </a:p>
          <a:p>
            <a:r>
              <a:t>Buildkite AI agents in Pipelines: https://buildkite.com/docs/platform/ai-agents</a:t>
            </a:r>
          </a:p>
          <a:p>
            <a:r>
              <a:t>Harness Worker Agents: https://developer.harness.io/docs/platform/harness-ai/core-capabilities/in-your-pipelines/harness-agents/</a:t>
            </a:r>
          </a:p>
          <a:p>
            <a:r>
              <a:t>CircleCI Agentic Validation: https://circleci.com/blog/agentic-validation-needs-different-infrastructure/</a:t>
            </a:r>
          </a:p>
          <a:p>
            <a:r>
              <a:t>Nx Self-Healing CI: https://nx.dev/docs/features/ci-features/self-healing-ci</a:t>
            </a:r>
          </a:p>
          <a:p>
            <a:r>
              <a:t>Nx Dynamic Agents: https://nx.dev/docs/features/ci-features/dynamic-agents</a:t>
            </a:r>
          </a:p>
          <a:p>
            <a:r>
              <a:t>Bazel Remote Execution: https://bazel.build/remote/rbe</a:t>
            </a:r>
          </a:p>
          <a:p>
            <a:r>
              <a:t>Bazel Remote Cache: https://bazel.build/remote/caching</a:t>
            </a:r>
          </a:p>
          <a:p>
            <a:r>
              <a:t>Sonatype Guide: https://www.sonatype.com/press-releases/introducing-guide-for-secure-agentic-development</a:t>
            </a:r>
          </a:p>
          <a:p>
            <a:r>
              <a:t>Cloudsmith MCP: https://cloudsmith.com/changelog/manage-your-supply-chain-using-natural-language-with-mcp</a:t>
            </a:r>
          </a:p>
          <a:p>
            <a:r>
              <a:t>JFrog Skills and MCP: https://jfrog.com/blog/ai-agents-jfrog-skills-mcp-tools/</a:t>
            </a:r>
          </a:p>
          <a:p>
            <a:r>
              <a:t>Logo provenance (GitHub, GitLab, Buildkite, CircleCI, Nx, Bazel, Sonatype, Cloudsmith, JFrog): https://simpleicons.org/</a:t>
            </a:r>
          </a:p>
          <a:p>
            <a:r>
              <a:t>Harness logo: https://www.harness.io/press-kit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-title">
            <a:extLst>
              <a:ext uri="{FF2B5EF4-FFF2-40B4-BE49-F238E27FC236}">
                <a16:creationId xmlns:a16="http://schemas.microsoft.com/office/drawing/2014/main" id="{C78BD5E2-2ECB-4656-91BD-04A7787904E1}"/>
              </a:ext>
            </a:extLst>
          </p:cNvPr>
          <p:cNvSpPr>
            <a:spLocks/>
          </p:cNvSpPr>
          <p:nvPr/>
        </p:nvSpPr>
        <p:spPr>
          <a:xfrm>
            <a:off x="513398" y="242888"/>
            <a:ext cx="10944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90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5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sz="1905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长程任务正推动</a:t>
            </a:r>
            <a:r>
              <a:rPr sz="1905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CI/CD </a:t>
            </a:r>
            <a:r>
              <a:rPr sz="1905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基础设施向上下文协作、动态运行、快速验证与供应链事实演进</a:t>
            </a:r>
            <a:endParaRPr sz="1905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9D35C5B6-1A9D-4E98-937E-63AEC1B045D6}"/>
              </a:ext>
            </a:extLst>
          </p:cNvPr>
          <p:cNvSpPr>
            <a:spLocks/>
          </p:cNvSpPr>
          <p:nvPr/>
        </p:nvSpPr>
        <p:spPr>
          <a:xfrm>
            <a:off x="406718" y="647700"/>
            <a:ext cx="11378565" cy="1143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eft-column-title">
            <a:extLst>
              <a:ext uri="{FF2B5EF4-FFF2-40B4-BE49-F238E27FC236}">
                <a16:creationId xmlns:a16="http://schemas.microsoft.com/office/drawing/2014/main" id="{92B8DCB5-843F-4017-A53A-2CA407E3BB20}"/>
              </a:ext>
            </a:extLst>
          </p:cNvPr>
          <p:cNvSpPr>
            <a:spLocks/>
          </p:cNvSpPr>
          <p:nvPr/>
        </p:nvSpPr>
        <p:spPr>
          <a:xfrm>
            <a:off x="457200" y="742950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>
                <a:solidFill>
                  <a:srgbClr val="5F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F6775"/>
                </a:solidFill>
                <a:latin typeface="Microsoft YaHei"/>
                <a:ea typeface="Microsoft YaHei"/>
                <a:cs typeface="Microsoft YaHei"/>
              </a:rPr>
              <a:t>代表公司的差异化路径</a:t>
            </a:r>
          </a:p>
        </p:txBody>
      </p:sp>
      <p:sp>
        <p:nvSpPr>
          <p:cNvPr id="4" name="right-column-title">
            <a:extLst>
              <a:ext uri="{FF2B5EF4-FFF2-40B4-BE49-F238E27FC236}">
                <a16:creationId xmlns:a16="http://schemas.microsoft.com/office/drawing/2014/main" id="{4B4F2EEA-604C-4E35-937E-CB853EBCE722}"/>
              </a:ext>
            </a:extLst>
          </p:cNvPr>
          <p:cNvSpPr>
            <a:spLocks/>
          </p:cNvSpPr>
          <p:nvPr/>
        </p:nvSpPr>
        <p:spPr>
          <a:xfrm>
            <a:off x="5016818" y="742950"/>
            <a:ext cx="233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88" b="1">
                <a:solidFill>
                  <a:srgbClr val="5F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F6775"/>
                </a:solidFill>
                <a:latin typeface="Microsoft YaHei"/>
                <a:ea typeface="Microsoft YaHei"/>
                <a:cs typeface="Microsoft YaHei"/>
              </a:rPr>
              <a:t>共同演进与公司证据解释</a:t>
            </a:r>
          </a:p>
        </p:txBody>
      </p:sp>
      <p:sp>
        <p:nvSpPr>
          <p:cNvPr id="5" name="agent-task-driver-note">
            <a:extLst>
              <a:ext uri="{FF2B5EF4-FFF2-40B4-BE49-F238E27FC236}">
                <a16:creationId xmlns:a16="http://schemas.microsoft.com/office/drawing/2014/main" id="{BD199958-9C21-4929-831D-68E6ACDFF277}"/>
              </a:ext>
            </a:extLst>
          </p:cNvPr>
          <p:cNvSpPr>
            <a:spLocks/>
          </p:cNvSpPr>
          <p:nvPr/>
        </p:nvSpPr>
        <p:spPr>
          <a:xfrm>
            <a:off x="9048750" y="762000"/>
            <a:ext cx="2724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00" b="1">
                <a:solidFill>
                  <a:srgbClr val="959C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959CA7"/>
                </a:solidFill>
                <a:latin typeface="Microsoft YaHei"/>
                <a:ea typeface="Microsoft YaHei"/>
                <a:cs typeface="Microsoft YaHei"/>
              </a:rPr>
              <a:t>驱动：长时异步 · 并行会话 · 多轮迭代 · 跨工具副作用</a:t>
            </a:r>
          </a:p>
        </p:txBody>
      </p:sp>
      <p:pic>
        <p:nvPicPr>
          <p:cNvPr id="56" name="left-company-paths-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979751"/>
            <a:ext cx="4305300" cy="4695616"/>
          </a:xfrm>
          <a:prstGeom prst="rect">
            <a:avLst/>
          </a:prstGeom>
        </p:spPr>
      </p:pic>
      <p:sp>
        <p:nvSpPr>
          <p:cNvPr id="7" name="right-layer-01-outer">
            <a:extLst>
              <a:ext uri="{FF2B5EF4-FFF2-40B4-BE49-F238E27FC236}">
                <a16:creationId xmlns:a16="http://schemas.microsoft.com/office/drawing/2014/main" id="{D96A8385-9ADB-4BB6-B495-D8D074CECE78}"/>
              </a:ext>
            </a:extLst>
          </p:cNvPr>
          <p:cNvSpPr>
            <a:spLocks/>
          </p:cNvSpPr>
          <p:nvPr/>
        </p:nvSpPr>
        <p:spPr>
          <a:xfrm>
            <a:off x="5016818" y="978218"/>
            <a:ext cx="6769418" cy="902018"/>
          </a:xfrm>
          <a:prstGeom prst="roundRect">
            <a:avLst>
              <a:gd name="adj" fmla="val 8448"/>
            </a:avLst>
          </a:prstGeom>
          <a:solidFill>
            <a:srgbClr val="FFFFFF"/>
          </a:solidFill>
          <a:ln w="7144">
            <a:solidFill>
              <a:srgbClr val="E3E6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8" name="right-layer-01-accent">
            <a:extLst>
              <a:ext uri="{FF2B5EF4-FFF2-40B4-BE49-F238E27FC236}">
                <a16:creationId xmlns:a16="http://schemas.microsoft.com/office/drawing/2014/main" id="{E6EBC55F-8137-4132-862D-F7C8AF8F202F}"/>
              </a:ext>
            </a:extLst>
          </p:cNvPr>
          <p:cNvSpPr>
            <a:spLocks/>
          </p:cNvSpPr>
          <p:nvPr/>
        </p:nvSpPr>
        <p:spPr>
          <a:xfrm>
            <a:off x="5016818" y="978218"/>
            <a:ext cx="32385" cy="902018"/>
          </a:xfrm>
          <a:prstGeom prst="rect">
            <a:avLst/>
          </a:prstGeom>
          <a:solidFill>
            <a:srgbClr val="4068B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ight-layer-01-header-fill">
            <a:extLst>
              <a:ext uri="{FF2B5EF4-FFF2-40B4-BE49-F238E27FC236}">
                <a16:creationId xmlns:a16="http://schemas.microsoft.com/office/drawing/2014/main" id="{C769201D-4A82-42C3-BBF3-E92825C49920}"/>
              </a:ext>
            </a:extLst>
          </p:cNvPr>
          <p:cNvSpPr>
            <a:spLocks/>
          </p:cNvSpPr>
          <p:nvPr/>
        </p:nvSpPr>
        <p:spPr>
          <a:xfrm>
            <a:off x="5049203" y="983933"/>
            <a:ext cx="6731318" cy="251460"/>
          </a:xfrm>
          <a:prstGeom prst="rect">
            <a:avLst/>
          </a:prstGeom>
          <a:solidFill>
            <a:srgbClr val="EEF3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5" name="group-right-layer-01">
            <a:extLst>
              <a:ext uri="{FF2B5EF4-FFF2-40B4-BE49-F238E27FC236}">
                <a16:creationId xmlns:a16="http://schemas.microsoft.com/office/drawing/2014/main" id="{1695D95C-8DB0-2CB1-F2DB-21FD2826D863}"/>
              </a:ext>
            </a:extLst>
          </p:cNvPr>
          <p:cNvGrpSpPr/>
          <p:nvPr/>
        </p:nvGrpSpPr>
        <p:grpSpPr>
          <a:xfrm>
            <a:off x="5049203" y="1009650"/>
            <a:ext cx="6731318" cy="822960"/>
            <a:chOff x="5049203" y="1009650"/>
            <a:chExt cx="6731318" cy="822960"/>
          </a:xfrm>
        </p:grpSpPr>
        <p:sp>
          <p:nvSpPr>
            <p:cNvPr id="10" name="right-layer-01-header-rule">
              <a:extLst>
                <a:ext uri="{FF2B5EF4-FFF2-40B4-BE49-F238E27FC236}">
                  <a16:creationId xmlns:a16="http://schemas.microsoft.com/office/drawing/2014/main" id="{CFBC0D56-5CF4-4747-874F-5B8BD7813850}"/>
                </a:ext>
              </a:extLst>
            </p:cNvPr>
            <p:cNvSpPr>
              <a:spLocks/>
            </p:cNvSpPr>
            <p:nvPr/>
          </p:nvSpPr>
          <p:spPr>
            <a:xfrm>
              <a:off x="5049203" y="1228725"/>
              <a:ext cx="6731318" cy="6668"/>
            </a:xfrm>
            <a:prstGeom prst="rect">
              <a:avLst/>
            </a:prstGeom>
            <a:solidFill>
              <a:srgbClr val="EEF3FB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ight-layer-01-category">
              <a:extLst>
                <a:ext uri="{FF2B5EF4-FFF2-40B4-BE49-F238E27FC236}">
                  <a16:creationId xmlns:a16="http://schemas.microsoft.com/office/drawing/2014/main" id="{8058B76E-DB9C-405B-83A5-C9E71CA9BC27}"/>
                </a:ext>
              </a:extLst>
            </p:cNvPr>
            <p:cNvSpPr>
              <a:spLocks/>
            </p:cNvSpPr>
            <p:nvPr/>
          </p:nvSpPr>
          <p:spPr>
            <a:xfrm>
              <a:off x="5131118" y="1021080"/>
              <a:ext cx="781050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765" b="1">
                  <a:solidFill>
                    <a:srgbClr val="4068B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765" b="1">
                  <a:solidFill>
                    <a:srgbClr val="4068B2"/>
                  </a:solidFill>
                  <a:latin typeface="Microsoft YaHei"/>
                  <a:ea typeface="Microsoft YaHei"/>
                  <a:cs typeface="Microsoft YaHei"/>
                </a:rPr>
                <a:t>01  代码仓</a:t>
              </a:r>
            </a:p>
          </p:txBody>
        </p:sp>
        <p:sp>
          <p:nvSpPr>
            <p:cNvPr id="12" name="right-layer-01-conclusion">
              <a:extLst>
                <a:ext uri="{FF2B5EF4-FFF2-40B4-BE49-F238E27FC236}">
                  <a16:creationId xmlns:a16="http://schemas.microsoft.com/office/drawing/2014/main" id="{30D3BFCD-E4D0-4FF7-978B-745C8A59A337}"/>
                </a:ext>
              </a:extLst>
            </p:cNvPr>
            <p:cNvSpPr>
              <a:spLocks/>
            </p:cNvSpPr>
            <p:nvPr/>
          </p:nvSpPr>
          <p:spPr>
            <a:xfrm>
              <a:off x="5912168" y="1009650"/>
              <a:ext cx="5759768" cy="1857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rPr>
                <a:t>代码事实源 → Agent 任务、上下文与候选变更协作面</a:t>
              </a:r>
            </a:p>
          </p:txBody>
        </p:sp>
        <p:sp>
          <p:nvSpPr>
            <p:cNvPr id="13" name="right-layer-01-company-evidence">
              <a:extLst>
                <a:ext uri="{FF2B5EF4-FFF2-40B4-BE49-F238E27FC236}">
                  <a16:creationId xmlns:a16="http://schemas.microsoft.com/office/drawing/2014/main" id="{5DE9755F-517F-4DDC-874E-8133BF8E698A}"/>
                </a:ext>
              </a:extLst>
            </p:cNvPr>
            <p:cNvSpPr>
              <a:spLocks/>
            </p:cNvSpPr>
            <p:nvPr/>
          </p:nvSpPr>
          <p:spPr>
            <a:xfrm>
              <a:off x="5131117" y="1273493"/>
              <a:ext cx="6609397" cy="3590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marL="10" indent="-7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GitHub：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Issue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/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评论变成异步任务，在临时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Actions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环境执行，最终以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Branch / Draft PR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交付</a:t>
              </a:r>
              <a:r>
                <a:rPr lang="zh-CN" altLang="en-US"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仓库闭合了委托、执行和审查</a:t>
              </a:r>
              <a:endParaRPr sz="900" dirty="0">
                <a:solidFill>
                  <a:srgbClr val="374154"/>
                </a:solidFill>
                <a:latin typeface="Microsoft YaHei"/>
                <a:ea typeface="Microsoft YaHei"/>
                <a:cs typeface="Microsoft YaHei"/>
              </a:endParaRPr>
            </a:p>
            <a:p>
              <a:pPr marL="10" indent="-7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GitLab：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仓库事件触发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Custom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Flow，Runner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执行后把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Session、CI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Log 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与结果关联回</a:t>
              </a:r>
              <a:r>
                <a:rPr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MR</a:t>
              </a:r>
              <a:r>
                <a:rPr lang="zh-CN" altLang="en-US"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仓库承担运行归因和候选</a:t>
              </a:r>
              <a:r>
                <a:rPr lang="zh-CN" altLang="en-US" sz="9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交付</a:t>
              </a:r>
              <a:endParaRPr sz="900" dirty="0">
                <a:solidFill>
                  <a:srgbClr val="37415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right-layer-01-response-bg">
              <a:extLst>
                <a:ext uri="{FF2B5EF4-FFF2-40B4-BE49-F238E27FC236}">
                  <a16:creationId xmlns:a16="http://schemas.microsoft.com/office/drawing/2014/main" id="{CD528D74-6DFC-4FB1-B1B3-2DD09746EE7D}"/>
                </a:ext>
              </a:extLst>
            </p:cNvPr>
            <p:cNvSpPr>
              <a:spLocks/>
            </p:cNvSpPr>
            <p:nvPr/>
          </p:nvSpPr>
          <p:spPr>
            <a:xfrm>
              <a:off x="5131118" y="1670685"/>
              <a:ext cx="6578918" cy="161925"/>
            </a:xfrm>
            <a:prstGeom prst="roundRect">
              <a:avLst>
                <a:gd name="adj" fmla="val 23529"/>
              </a:avLst>
            </a:prstGeom>
            <a:solidFill>
              <a:srgbClr val="EEF3FB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ight-layer-01-response-accent">
              <a:extLst>
                <a:ext uri="{FF2B5EF4-FFF2-40B4-BE49-F238E27FC236}">
                  <a16:creationId xmlns:a16="http://schemas.microsoft.com/office/drawing/2014/main" id="{65365350-CDC5-4C03-8F72-5B34F68D5F32}"/>
                </a:ext>
              </a:extLst>
            </p:cNvPr>
            <p:cNvSpPr>
              <a:spLocks/>
            </p:cNvSpPr>
            <p:nvPr/>
          </p:nvSpPr>
          <p:spPr>
            <a:xfrm>
              <a:off x="5131118" y="1670685"/>
              <a:ext cx="23813" cy="161925"/>
            </a:xfrm>
            <a:prstGeom prst="roundRect">
              <a:avLst>
                <a:gd name="adj" fmla="val 50000"/>
              </a:avLst>
            </a:prstGeom>
            <a:solidFill>
              <a:srgbClr val="4068B2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ight-layer-01-response-text">
              <a:extLst>
                <a:ext uri="{FF2B5EF4-FFF2-40B4-BE49-F238E27FC236}">
                  <a16:creationId xmlns:a16="http://schemas.microsoft.com/office/drawing/2014/main" id="{2D4525EE-2AFB-4120-8770-9C37EE72DB66}"/>
                </a:ext>
              </a:extLst>
            </p:cNvPr>
            <p:cNvSpPr>
              <a:spLocks/>
            </p:cNvSpPr>
            <p:nvPr/>
          </p:nvSpPr>
          <p:spPr>
            <a:xfrm>
              <a:off x="5207318" y="1678305"/>
              <a:ext cx="6445568" cy="1466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19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基础设施响应：任务、仓库规则、运行上下文和候选变更需要版本化、可检索、可接续</a:t>
              </a:r>
              <a:r>
                <a:rPr sz="619" b="1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54" name="group-right-layer-02">
            <a:extLst>
              <a:ext uri="{FF2B5EF4-FFF2-40B4-BE49-F238E27FC236}">
                <a16:creationId xmlns:a16="http://schemas.microsoft.com/office/drawing/2014/main" id="{7A869164-5FA5-8917-C671-8C4184A528D7}"/>
              </a:ext>
            </a:extLst>
          </p:cNvPr>
          <p:cNvGrpSpPr/>
          <p:nvPr/>
        </p:nvGrpSpPr>
        <p:grpSpPr>
          <a:xfrm>
            <a:off x="5016818" y="1930718"/>
            <a:ext cx="6769418" cy="1212533"/>
            <a:chOff x="5016818" y="1930718"/>
            <a:chExt cx="6769418" cy="1212533"/>
          </a:xfrm>
        </p:grpSpPr>
        <p:sp>
          <p:nvSpPr>
            <p:cNvPr id="17" name="right-layer-02-outer">
              <a:extLst>
                <a:ext uri="{FF2B5EF4-FFF2-40B4-BE49-F238E27FC236}">
                  <a16:creationId xmlns:a16="http://schemas.microsoft.com/office/drawing/2014/main" id="{CF007E3E-03C1-45A0-96C9-3FF2E91A0C25}"/>
                </a:ext>
              </a:extLst>
            </p:cNvPr>
            <p:cNvSpPr>
              <a:spLocks/>
            </p:cNvSpPr>
            <p:nvPr/>
          </p:nvSpPr>
          <p:spPr>
            <a:xfrm>
              <a:off x="5016818" y="1930718"/>
              <a:ext cx="6769418" cy="1212533"/>
            </a:xfrm>
            <a:prstGeom prst="roundRect">
              <a:avLst>
                <a:gd name="adj" fmla="val 6284"/>
              </a:avLst>
            </a:prstGeom>
            <a:solidFill>
              <a:srgbClr val="FFFFFF"/>
            </a:solidFill>
            <a:ln w="7144">
              <a:solidFill>
                <a:srgbClr val="E3E6EB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4">
              <a:scrgbClr r="0" g="0" b="0"/>
            </a:effectRef>
            <a:fontRef idx="maj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right-layer-02-accent">
              <a:extLst>
                <a:ext uri="{FF2B5EF4-FFF2-40B4-BE49-F238E27FC236}">
                  <a16:creationId xmlns:a16="http://schemas.microsoft.com/office/drawing/2014/main" id="{C0D0FFDB-2ED4-4E10-8B02-EC7B195F5895}"/>
                </a:ext>
              </a:extLst>
            </p:cNvPr>
            <p:cNvSpPr>
              <a:spLocks/>
            </p:cNvSpPr>
            <p:nvPr/>
          </p:nvSpPr>
          <p:spPr>
            <a:xfrm>
              <a:off x="5016818" y="1930718"/>
              <a:ext cx="32385" cy="1212533"/>
            </a:xfrm>
            <a:prstGeom prst="rect">
              <a:avLst/>
            </a:prstGeom>
            <a:solidFill>
              <a:srgbClr val="19805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ight-layer-02-header-fill">
              <a:extLst>
                <a:ext uri="{FF2B5EF4-FFF2-40B4-BE49-F238E27FC236}">
                  <a16:creationId xmlns:a16="http://schemas.microsoft.com/office/drawing/2014/main" id="{FC76CF43-EF8F-4C73-BDA2-C67BE210DB3E}"/>
                </a:ext>
              </a:extLst>
            </p:cNvPr>
            <p:cNvSpPr>
              <a:spLocks/>
            </p:cNvSpPr>
            <p:nvPr/>
          </p:nvSpPr>
          <p:spPr>
            <a:xfrm>
              <a:off x="5049203" y="1936432"/>
              <a:ext cx="6731318" cy="251460"/>
            </a:xfrm>
            <a:prstGeom prst="rect">
              <a:avLst/>
            </a:prstGeom>
            <a:solidFill>
              <a:srgbClr val="EDF8F3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ight-layer-02-header-rule">
              <a:extLst>
                <a:ext uri="{FF2B5EF4-FFF2-40B4-BE49-F238E27FC236}">
                  <a16:creationId xmlns:a16="http://schemas.microsoft.com/office/drawing/2014/main" id="{51D9749A-90AA-45E2-8B2C-E8814B2EEE5F}"/>
                </a:ext>
              </a:extLst>
            </p:cNvPr>
            <p:cNvSpPr>
              <a:spLocks/>
            </p:cNvSpPr>
            <p:nvPr/>
          </p:nvSpPr>
          <p:spPr>
            <a:xfrm>
              <a:off x="5049203" y="2181225"/>
              <a:ext cx="6731318" cy="6668"/>
            </a:xfrm>
            <a:prstGeom prst="rect">
              <a:avLst/>
            </a:prstGeom>
            <a:solidFill>
              <a:srgbClr val="EDF8F3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ight-layer-02-category">
              <a:extLst>
                <a:ext uri="{FF2B5EF4-FFF2-40B4-BE49-F238E27FC236}">
                  <a16:creationId xmlns:a16="http://schemas.microsoft.com/office/drawing/2014/main" id="{24D0896F-3306-4088-944C-FB456C4020CE}"/>
                </a:ext>
              </a:extLst>
            </p:cNvPr>
            <p:cNvSpPr>
              <a:spLocks/>
            </p:cNvSpPr>
            <p:nvPr/>
          </p:nvSpPr>
          <p:spPr>
            <a:xfrm>
              <a:off x="5131118" y="1973580"/>
              <a:ext cx="781050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765" b="1">
                  <a:solidFill>
                    <a:srgbClr val="19805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765" b="1">
                  <a:solidFill>
                    <a:srgbClr val="19805F"/>
                  </a:solidFill>
                  <a:latin typeface="Microsoft YaHei"/>
                  <a:ea typeface="Microsoft YaHei"/>
                  <a:cs typeface="Microsoft YaHei"/>
                </a:rPr>
                <a:t>02  流水线</a:t>
              </a:r>
            </a:p>
          </p:txBody>
        </p:sp>
        <p:sp>
          <p:nvSpPr>
            <p:cNvPr id="22" name="right-layer-02-conclusion">
              <a:extLst>
                <a:ext uri="{FF2B5EF4-FFF2-40B4-BE49-F238E27FC236}">
                  <a16:creationId xmlns:a16="http://schemas.microsoft.com/office/drawing/2014/main" id="{44901DEB-7D68-4D54-A750-EC4D1C2245F6}"/>
                </a:ext>
              </a:extLst>
            </p:cNvPr>
            <p:cNvSpPr>
              <a:spLocks/>
            </p:cNvSpPr>
            <p:nvPr/>
          </p:nvSpPr>
          <p:spPr>
            <a:xfrm>
              <a:off x="5912168" y="1962150"/>
              <a:ext cx="5759768" cy="1857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rPr>
                <a:t>固定 Job / DAG → 承载 Agent Session 与 Tool 调用的动态运行时</a:t>
              </a:r>
            </a:p>
          </p:txBody>
        </p:sp>
        <p:sp>
          <p:nvSpPr>
            <p:cNvPr id="23" name="right-layer-02-company-evidence">
              <a:extLst>
                <a:ext uri="{FF2B5EF4-FFF2-40B4-BE49-F238E27FC236}">
                  <a16:creationId xmlns:a16="http://schemas.microsoft.com/office/drawing/2014/main" id="{EE1B22F3-DD32-4C39-B1B8-2DDD2DC767AB}"/>
                </a:ext>
              </a:extLst>
            </p:cNvPr>
            <p:cNvSpPr>
              <a:spLocks/>
            </p:cNvSpPr>
            <p:nvPr/>
          </p:nvSpPr>
          <p:spPr>
            <a:xfrm>
              <a:off x="5131118" y="2225993"/>
              <a:ext cx="6540818" cy="66960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rmAutofit fontScale="92500"/>
            </a:bodyPr>
            <a:lstStyle/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00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GitHub：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Markdown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意图编译为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Actions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YAML，Agent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Job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仍运行在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Runner、权限与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Policy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——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自然语言没有替代流水线控制面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00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Buildkite：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把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Build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State、Log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Trigger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暴露为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Tool，再由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Agent Step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分析或触发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——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流水线开始原生承载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Tool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调用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00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Harness：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把隔离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Worker、凭据、网络和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Autofix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轮次纳入同一环境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——</a:t>
              </a:r>
              <a:r>
                <a:rPr sz="1000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模型调用被扩展为完整</a:t>
              </a:r>
              <a:r>
                <a:rPr sz="1000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Agent Runtime。</a:t>
              </a:r>
            </a:p>
          </p:txBody>
        </p:sp>
        <p:sp>
          <p:nvSpPr>
            <p:cNvPr id="24" name="right-layer-02-response-bg">
              <a:extLst>
                <a:ext uri="{FF2B5EF4-FFF2-40B4-BE49-F238E27FC236}">
                  <a16:creationId xmlns:a16="http://schemas.microsoft.com/office/drawing/2014/main" id="{B005CA38-EC7B-410B-BFA2-5DCBDDA26AD9}"/>
                </a:ext>
              </a:extLst>
            </p:cNvPr>
            <p:cNvSpPr>
              <a:spLocks/>
            </p:cNvSpPr>
            <p:nvPr/>
          </p:nvSpPr>
          <p:spPr>
            <a:xfrm>
              <a:off x="5131118" y="2933700"/>
              <a:ext cx="6578918" cy="161925"/>
            </a:xfrm>
            <a:prstGeom prst="roundRect">
              <a:avLst>
                <a:gd name="adj" fmla="val 23529"/>
              </a:avLst>
            </a:prstGeom>
            <a:solidFill>
              <a:srgbClr val="EDF8F3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ight-layer-02-response-accent">
              <a:extLst>
                <a:ext uri="{FF2B5EF4-FFF2-40B4-BE49-F238E27FC236}">
                  <a16:creationId xmlns:a16="http://schemas.microsoft.com/office/drawing/2014/main" id="{0A41D764-9D71-4C21-9AA6-5E8E35745D1C}"/>
                </a:ext>
              </a:extLst>
            </p:cNvPr>
            <p:cNvSpPr>
              <a:spLocks/>
            </p:cNvSpPr>
            <p:nvPr/>
          </p:nvSpPr>
          <p:spPr>
            <a:xfrm>
              <a:off x="5131118" y="2933700"/>
              <a:ext cx="23813" cy="161925"/>
            </a:xfrm>
            <a:prstGeom prst="roundRect">
              <a:avLst>
                <a:gd name="adj" fmla="val 50000"/>
              </a:avLst>
            </a:prstGeom>
            <a:solidFill>
              <a:srgbClr val="19805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ight-layer-02-response-text">
              <a:extLst>
                <a:ext uri="{FF2B5EF4-FFF2-40B4-BE49-F238E27FC236}">
                  <a16:creationId xmlns:a16="http://schemas.microsoft.com/office/drawing/2014/main" id="{F65A5DDF-45E8-4CC6-A83E-10677AD50691}"/>
                </a:ext>
              </a:extLst>
            </p:cNvPr>
            <p:cNvSpPr>
              <a:spLocks/>
            </p:cNvSpPr>
            <p:nvPr/>
          </p:nvSpPr>
          <p:spPr>
            <a:xfrm>
              <a:off x="5207318" y="2941320"/>
              <a:ext cx="6445568" cy="1466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19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基础设施响应：流水线需要承载</a:t>
              </a:r>
              <a:r>
                <a:rPr sz="619" b="1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619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Session、事件、Tool</a:t>
              </a:r>
              <a:r>
                <a:rPr sz="619" b="1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619" b="1" dirty="0" err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调用、结构化输出和运行成本</a:t>
              </a:r>
              <a:r>
                <a:rPr sz="619" b="1" dirty="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27" name="right-layer-03-outer">
            <a:extLst>
              <a:ext uri="{FF2B5EF4-FFF2-40B4-BE49-F238E27FC236}">
                <a16:creationId xmlns:a16="http://schemas.microsoft.com/office/drawing/2014/main" id="{2969855B-EFA5-416A-A974-75322CB4776B}"/>
              </a:ext>
            </a:extLst>
          </p:cNvPr>
          <p:cNvSpPr>
            <a:spLocks/>
          </p:cNvSpPr>
          <p:nvPr/>
        </p:nvSpPr>
        <p:spPr>
          <a:xfrm>
            <a:off x="5016818" y="3193733"/>
            <a:ext cx="6769418" cy="1212533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7144">
            <a:solidFill>
              <a:srgbClr val="E3E6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grpSp>
        <p:nvGrpSpPr>
          <p:cNvPr id="53" name="group-right-layer-03">
            <a:extLst>
              <a:ext uri="{FF2B5EF4-FFF2-40B4-BE49-F238E27FC236}">
                <a16:creationId xmlns:a16="http://schemas.microsoft.com/office/drawing/2014/main" id="{B9CBC3D9-5BD9-CDE8-2537-A20AE8C5C2FC}"/>
              </a:ext>
            </a:extLst>
          </p:cNvPr>
          <p:cNvGrpSpPr/>
          <p:nvPr/>
        </p:nvGrpSpPr>
        <p:grpSpPr>
          <a:xfrm>
            <a:off x="5016818" y="3193733"/>
            <a:ext cx="6763703" cy="1212533"/>
            <a:chOff x="5016818" y="3193733"/>
            <a:chExt cx="6763703" cy="1212533"/>
          </a:xfrm>
        </p:grpSpPr>
        <p:sp>
          <p:nvSpPr>
            <p:cNvPr id="28" name="right-layer-03-accent">
              <a:extLst>
                <a:ext uri="{FF2B5EF4-FFF2-40B4-BE49-F238E27FC236}">
                  <a16:creationId xmlns:a16="http://schemas.microsoft.com/office/drawing/2014/main" id="{08894D03-2133-4BDE-8376-529D3ABA365E}"/>
                </a:ext>
              </a:extLst>
            </p:cNvPr>
            <p:cNvSpPr>
              <a:spLocks/>
            </p:cNvSpPr>
            <p:nvPr/>
          </p:nvSpPr>
          <p:spPr>
            <a:xfrm>
              <a:off x="5016818" y="3193733"/>
              <a:ext cx="32385" cy="1212533"/>
            </a:xfrm>
            <a:prstGeom prst="rect">
              <a:avLst/>
            </a:prstGeom>
            <a:solidFill>
              <a:srgbClr val="B85B19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ight-layer-03-header-fill">
              <a:extLst>
                <a:ext uri="{FF2B5EF4-FFF2-40B4-BE49-F238E27FC236}">
                  <a16:creationId xmlns:a16="http://schemas.microsoft.com/office/drawing/2014/main" id="{612D5136-94DA-40F4-8B7A-19638EC04FAA}"/>
                </a:ext>
              </a:extLst>
            </p:cNvPr>
            <p:cNvSpPr>
              <a:spLocks/>
            </p:cNvSpPr>
            <p:nvPr/>
          </p:nvSpPr>
          <p:spPr>
            <a:xfrm>
              <a:off x="5049203" y="3199448"/>
              <a:ext cx="6731318" cy="251460"/>
            </a:xfrm>
            <a:prstGeom prst="rect">
              <a:avLst/>
            </a:prstGeom>
            <a:solidFill>
              <a:srgbClr val="FFF4EB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ight-layer-03-header-rule">
              <a:extLst>
                <a:ext uri="{FF2B5EF4-FFF2-40B4-BE49-F238E27FC236}">
                  <a16:creationId xmlns:a16="http://schemas.microsoft.com/office/drawing/2014/main" id="{3F349660-A41A-4379-A9ED-3348619E856D}"/>
                </a:ext>
              </a:extLst>
            </p:cNvPr>
            <p:cNvSpPr>
              <a:spLocks/>
            </p:cNvSpPr>
            <p:nvPr/>
          </p:nvSpPr>
          <p:spPr>
            <a:xfrm>
              <a:off x="5049203" y="3444240"/>
              <a:ext cx="6731318" cy="6668"/>
            </a:xfrm>
            <a:prstGeom prst="rect">
              <a:avLst/>
            </a:prstGeom>
            <a:solidFill>
              <a:srgbClr val="FFF4EB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ight-layer-03-category">
              <a:extLst>
                <a:ext uri="{FF2B5EF4-FFF2-40B4-BE49-F238E27FC236}">
                  <a16:creationId xmlns:a16="http://schemas.microsoft.com/office/drawing/2014/main" id="{83E64CA4-5DF6-4039-B417-0AB08FEED216}"/>
                </a:ext>
              </a:extLst>
            </p:cNvPr>
            <p:cNvSpPr>
              <a:spLocks/>
            </p:cNvSpPr>
            <p:nvPr/>
          </p:nvSpPr>
          <p:spPr>
            <a:xfrm>
              <a:off x="5131118" y="3236595"/>
              <a:ext cx="781050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765" b="1">
                  <a:solidFill>
                    <a:srgbClr val="B85B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765" b="1">
                  <a:solidFill>
                    <a:srgbClr val="B85B19"/>
                  </a:solidFill>
                  <a:latin typeface="Microsoft YaHei"/>
                  <a:ea typeface="Microsoft YaHei"/>
                  <a:cs typeface="Microsoft YaHei"/>
                </a:rPr>
                <a:t>03  构建与资源</a:t>
              </a:r>
            </a:p>
          </p:txBody>
        </p:sp>
        <p:sp>
          <p:nvSpPr>
            <p:cNvPr id="32" name="right-layer-03-conclusion">
              <a:extLst>
                <a:ext uri="{FF2B5EF4-FFF2-40B4-BE49-F238E27FC236}">
                  <a16:creationId xmlns:a16="http://schemas.microsoft.com/office/drawing/2014/main" id="{04458BB8-BFB7-4992-BCFC-85C1803946D2}"/>
                </a:ext>
              </a:extLst>
            </p:cNvPr>
            <p:cNvSpPr>
              <a:spLocks/>
            </p:cNvSpPr>
            <p:nvPr/>
          </p:nvSpPr>
          <p:spPr>
            <a:xfrm>
              <a:off x="5912168" y="3225165"/>
              <a:ext cx="5759768" cy="1857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rPr>
                <a:t>开发提速工具 → 高频验证与资源调度底座</a:t>
              </a:r>
            </a:p>
          </p:txBody>
        </p:sp>
        <p:sp>
          <p:nvSpPr>
            <p:cNvPr id="33" name="right-layer-03-company-evidence">
              <a:extLst>
                <a:ext uri="{FF2B5EF4-FFF2-40B4-BE49-F238E27FC236}">
                  <a16:creationId xmlns:a16="http://schemas.microsoft.com/office/drawing/2014/main" id="{EACE9FA3-AD9F-4781-ADE7-530D93FD2A7E}"/>
                </a:ext>
              </a:extLst>
            </p:cNvPr>
            <p:cNvSpPr>
              <a:spLocks/>
            </p:cNvSpPr>
            <p:nvPr/>
          </p:nvSpPr>
          <p:spPr>
            <a:xfrm>
              <a:off x="5131118" y="3489008"/>
              <a:ext cx="6540818" cy="66960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rmAutofit/>
            </a:bodyPr>
            <a:lstStyle/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CircleCI：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用预热 Snapshot 和 Microbuild 拆出快速验证内环，完整 CI 继续兜底——验证路径开始针对 Agent 多轮试错重构。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Nx：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用 Graph / Affected 选择任务，再连接 Cache、动态 Worker 与 Self-Healing 复验——任务图、算力和 Oracle 形成反馈系统。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Bazel：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Hermetic Graph、Remote Cache 与 RBE 不是 Agent 新发明，但为并行任务提供确定性复用和远程算力——既有底座因新任务模式升值。</a:t>
              </a:r>
            </a:p>
          </p:txBody>
        </p:sp>
        <p:sp>
          <p:nvSpPr>
            <p:cNvPr id="34" name="right-layer-03-response-bg">
              <a:extLst>
                <a:ext uri="{FF2B5EF4-FFF2-40B4-BE49-F238E27FC236}">
                  <a16:creationId xmlns:a16="http://schemas.microsoft.com/office/drawing/2014/main" id="{CBEBA4EC-B102-413E-B452-531DAAB28D40}"/>
                </a:ext>
              </a:extLst>
            </p:cNvPr>
            <p:cNvSpPr>
              <a:spLocks/>
            </p:cNvSpPr>
            <p:nvPr/>
          </p:nvSpPr>
          <p:spPr>
            <a:xfrm>
              <a:off x="5131118" y="4196715"/>
              <a:ext cx="6578918" cy="161925"/>
            </a:xfrm>
            <a:prstGeom prst="roundRect">
              <a:avLst>
                <a:gd name="adj" fmla="val 23529"/>
              </a:avLst>
            </a:prstGeom>
            <a:solidFill>
              <a:srgbClr val="FFF4EB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ight-layer-03-response-accent">
              <a:extLst>
                <a:ext uri="{FF2B5EF4-FFF2-40B4-BE49-F238E27FC236}">
                  <a16:creationId xmlns:a16="http://schemas.microsoft.com/office/drawing/2014/main" id="{66F209B8-6F0D-4286-B02A-19CD1F61A37D}"/>
                </a:ext>
              </a:extLst>
            </p:cNvPr>
            <p:cNvSpPr>
              <a:spLocks/>
            </p:cNvSpPr>
            <p:nvPr/>
          </p:nvSpPr>
          <p:spPr>
            <a:xfrm>
              <a:off x="5131118" y="4196715"/>
              <a:ext cx="23813" cy="161925"/>
            </a:xfrm>
            <a:prstGeom prst="roundRect">
              <a:avLst>
                <a:gd name="adj" fmla="val 50000"/>
              </a:avLst>
            </a:prstGeom>
            <a:solidFill>
              <a:srgbClr val="B85B19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ight-layer-03-response-text">
              <a:extLst>
                <a:ext uri="{FF2B5EF4-FFF2-40B4-BE49-F238E27FC236}">
                  <a16:creationId xmlns:a16="http://schemas.microsoft.com/office/drawing/2014/main" id="{FF1E5167-BB8B-4286-9C68-AB059F811EE1}"/>
                </a:ext>
              </a:extLst>
            </p:cNvPr>
            <p:cNvSpPr>
              <a:spLocks/>
            </p:cNvSpPr>
            <p:nvPr/>
          </p:nvSpPr>
          <p:spPr>
            <a:xfrm>
              <a:off x="5207318" y="4204335"/>
              <a:ext cx="6445568" cy="1466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基础设施响应：降低排队、冷启动和重复计算，并动态调度 Worker 与远程算力。</a:t>
              </a:r>
            </a:p>
          </p:txBody>
        </p:sp>
      </p:grpSp>
      <p:grpSp>
        <p:nvGrpSpPr>
          <p:cNvPr id="52" name="group-right-layer-04">
            <a:extLst>
              <a:ext uri="{FF2B5EF4-FFF2-40B4-BE49-F238E27FC236}">
                <a16:creationId xmlns:a16="http://schemas.microsoft.com/office/drawing/2014/main" id="{A29A3875-BC79-624A-A8BC-1699CAB13AF0}"/>
              </a:ext>
            </a:extLst>
          </p:cNvPr>
          <p:cNvGrpSpPr/>
          <p:nvPr/>
        </p:nvGrpSpPr>
        <p:grpSpPr>
          <a:xfrm>
            <a:off x="5016818" y="4456748"/>
            <a:ext cx="6769418" cy="1220153"/>
            <a:chOff x="5016818" y="4456748"/>
            <a:chExt cx="6769418" cy="1220153"/>
          </a:xfrm>
        </p:grpSpPr>
        <p:sp>
          <p:nvSpPr>
            <p:cNvPr id="37" name="right-layer-04-outer">
              <a:extLst>
                <a:ext uri="{FF2B5EF4-FFF2-40B4-BE49-F238E27FC236}">
                  <a16:creationId xmlns:a16="http://schemas.microsoft.com/office/drawing/2014/main" id="{5CB8FDD2-375E-4A9A-BE43-6FA6F0D7626B}"/>
                </a:ext>
              </a:extLst>
            </p:cNvPr>
            <p:cNvSpPr>
              <a:spLocks/>
            </p:cNvSpPr>
            <p:nvPr/>
          </p:nvSpPr>
          <p:spPr>
            <a:xfrm>
              <a:off x="5016818" y="4456748"/>
              <a:ext cx="6769418" cy="1220153"/>
            </a:xfrm>
            <a:prstGeom prst="roundRect">
              <a:avLst>
                <a:gd name="adj" fmla="val 6245"/>
              </a:avLst>
            </a:prstGeom>
            <a:solidFill>
              <a:srgbClr val="FFFFFF"/>
            </a:solidFill>
            <a:ln w="7144">
              <a:solidFill>
                <a:srgbClr val="E3E6EB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4">
              <a:scrgbClr r="0" g="0" b="0"/>
            </a:effectRef>
            <a:fontRef idx="maj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8" name="right-layer-04-accent">
              <a:extLst>
                <a:ext uri="{FF2B5EF4-FFF2-40B4-BE49-F238E27FC236}">
                  <a16:creationId xmlns:a16="http://schemas.microsoft.com/office/drawing/2014/main" id="{3FE49E78-30DF-40D0-946C-59F762302148}"/>
                </a:ext>
              </a:extLst>
            </p:cNvPr>
            <p:cNvSpPr>
              <a:spLocks/>
            </p:cNvSpPr>
            <p:nvPr/>
          </p:nvSpPr>
          <p:spPr>
            <a:xfrm>
              <a:off x="5016818" y="4456748"/>
              <a:ext cx="32385" cy="1220153"/>
            </a:xfrm>
            <a:prstGeom prst="rect">
              <a:avLst/>
            </a:prstGeom>
            <a:solidFill>
              <a:srgbClr val="7144AA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ight-layer-04-header-fill">
              <a:extLst>
                <a:ext uri="{FF2B5EF4-FFF2-40B4-BE49-F238E27FC236}">
                  <a16:creationId xmlns:a16="http://schemas.microsoft.com/office/drawing/2014/main" id="{00BC83C2-B7CA-46CC-ABB1-6985DE0E9B2A}"/>
                </a:ext>
              </a:extLst>
            </p:cNvPr>
            <p:cNvSpPr>
              <a:spLocks/>
            </p:cNvSpPr>
            <p:nvPr/>
          </p:nvSpPr>
          <p:spPr>
            <a:xfrm>
              <a:off x="5049203" y="4462463"/>
              <a:ext cx="6731318" cy="251460"/>
            </a:xfrm>
            <a:prstGeom prst="rect">
              <a:avLst/>
            </a:prstGeom>
            <a:solidFill>
              <a:srgbClr val="F6F0FC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ight-layer-04-header-rule">
              <a:extLst>
                <a:ext uri="{FF2B5EF4-FFF2-40B4-BE49-F238E27FC236}">
                  <a16:creationId xmlns:a16="http://schemas.microsoft.com/office/drawing/2014/main" id="{6EA5D626-06EF-4B28-B997-C5C0A01C49B0}"/>
                </a:ext>
              </a:extLst>
            </p:cNvPr>
            <p:cNvSpPr>
              <a:spLocks/>
            </p:cNvSpPr>
            <p:nvPr/>
          </p:nvSpPr>
          <p:spPr>
            <a:xfrm>
              <a:off x="5049203" y="4707255"/>
              <a:ext cx="6731318" cy="6668"/>
            </a:xfrm>
            <a:prstGeom prst="rect">
              <a:avLst/>
            </a:prstGeom>
            <a:solidFill>
              <a:srgbClr val="F6F0FC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ight-layer-04-category">
              <a:extLst>
                <a:ext uri="{FF2B5EF4-FFF2-40B4-BE49-F238E27FC236}">
                  <a16:creationId xmlns:a16="http://schemas.microsoft.com/office/drawing/2014/main" id="{6A03569D-01FB-4C32-A0B8-FB68F23E6FCA}"/>
                </a:ext>
              </a:extLst>
            </p:cNvPr>
            <p:cNvSpPr>
              <a:spLocks/>
            </p:cNvSpPr>
            <p:nvPr/>
          </p:nvSpPr>
          <p:spPr>
            <a:xfrm>
              <a:off x="5131118" y="4499610"/>
              <a:ext cx="781050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765" b="1">
                  <a:solidFill>
                    <a:srgbClr val="7144A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765" b="1">
                  <a:solidFill>
                    <a:srgbClr val="7144AA"/>
                  </a:solidFill>
                  <a:latin typeface="Microsoft YaHei"/>
                  <a:ea typeface="Microsoft YaHei"/>
                  <a:cs typeface="Microsoft YaHei"/>
                </a:rPr>
                <a:t>04  制品与供应链</a:t>
              </a:r>
            </a:p>
          </p:txBody>
        </p:sp>
        <p:sp>
          <p:nvSpPr>
            <p:cNvPr id="42" name="right-layer-04-conclusion">
              <a:extLst>
                <a:ext uri="{FF2B5EF4-FFF2-40B4-BE49-F238E27FC236}">
                  <a16:creationId xmlns:a16="http://schemas.microsoft.com/office/drawing/2014/main" id="{E9FEB2D1-977A-4228-99ED-A6A0141F4AE0}"/>
                </a:ext>
              </a:extLst>
            </p:cNvPr>
            <p:cNvSpPr>
              <a:spLocks/>
            </p:cNvSpPr>
            <p:nvPr/>
          </p:nvSpPr>
          <p:spPr>
            <a:xfrm>
              <a:off x="5912168" y="4488180"/>
              <a:ext cx="5759768" cy="1857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05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rPr>
                <a:t>文件存储 → 可查询事实、交付证据与行为资产面</a:t>
              </a:r>
            </a:p>
          </p:txBody>
        </p:sp>
        <p:sp>
          <p:nvSpPr>
            <p:cNvPr id="43" name="right-layer-04-company-evidence">
              <a:extLst>
                <a:ext uri="{FF2B5EF4-FFF2-40B4-BE49-F238E27FC236}">
                  <a16:creationId xmlns:a16="http://schemas.microsoft.com/office/drawing/2014/main" id="{BDBB026A-898E-493C-8E37-F9564DFCBD9B}"/>
                </a:ext>
              </a:extLst>
            </p:cNvPr>
            <p:cNvSpPr>
              <a:spLocks/>
            </p:cNvSpPr>
            <p:nvPr/>
          </p:nvSpPr>
          <p:spPr>
            <a:xfrm>
              <a:off x="5131118" y="4752023"/>
              <a:ext cx="6540818" cy="67722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rmAutofit/>
            </a:bodyPr>
            <a:lstStyle/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Sonatype：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把版本、漏洞、许可和推荐版本前移到 Agent 选择依赖的时点——依赖决策从模型记忆转向实时事实。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Cloudsmith：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把制品与漏洞能力暴露为 Tool，并只开放非破坏动作——平台从可查询扩展到受限可行动。</a:t>
              </a:r>
            </a:p>
            <a:p>
              <a:pPr marL="10" indent="-7" algn="l">
                <a:spcBef>
                  <a:spcPts val="0"/>
                </a:spcBef>
                <a:spcAft>
                  <a:spcPts val="0"/>
                </a:spcAft>
                <a:buChar char="•"/>
                <a:def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30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JFrog：</a:t>
              </a:r>
              <a:r>
                <a:rPr sz="630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把 Repo、Xray、SBOM、Evidence 与 Release Tool 化，并开始管理 Skill / Prompt / MCP——制品对象扩展到 Agent 行为资产。</a:t>
              </a:r>
            </a:p>
          </p:txBody>
        </p:sp>
        <p:sp>
          <p:nvSpPr>
            <p:cNvPr id="44" name="right-layer-04-response-bg">
              <a:extLst>
                <a:ext uri="{FF2B5EF4-FFF2-40B4-BE49-F238E27FC236}">
                  <a16:creationId xmlns:a16="http://schemas.microsoft.com/office/drawing/2014/main" id="{C5734660-8AF5-4C1B-8996-A25990716394}"/>
                </a:ext>
              </a:extLst>
            </p:cNvPr>
            <p:cNvSpPr>
              <a:spLocks/>
            </p:cNvSpPr>
            <p:nvPr/>
          </p:nvSpPr>
          <p:spPr>
            <a:xfrm>
              <a:off x="5131118" y="5467350"/>
              <a:ext cx="6578918" cy="161925"/>
            </a:xfrm>
            <a:prstGeom prst="roundRect">
              <a:avLst>
                <a:gd name="adj" fmla="val 23529"/>
              </a:avLst>
            </a:prstGeom>
            <a:solidFill>
              <a:srgbClr val="F6F0FC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ight-layer-04-response-accent">
              <a:extLst>
                <a:ext uri="{FF2B5EF4-FFF2-40B4-BE49-F238E27FC236}">
                  <a16:creationId xmlns:a16="http://schemas.microsoft.com/office/drawing/2014/main" id="{BD3786BF-195A-45F8-8A6B-94F4CDC0BCD4}"/>
                </a:ext>
              </a:extLst>
            </p:cNvPr>
            <p:cNvSpPr>
              <a:spLocks/>
            </p:cNvSpPr>
            <p:nvPr/>
          </p:nvSpPr>
          <p:spPr>
            <a:xfrm>
              <a:off x="5131118" y="5467350"/>
              <a:ext cx="23813" cy="161925"/>
            </a:xfrm>
            <a:prstGeom prst="roundRect">
              <a:avLst>
                <a:gd name="adj" fmla="val 50000"/>
              </a:avLst>
            </a:prstGeom>
            <a:solidFill>
              <a:srgbClr val="7144AA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ight-layer-04-response-text">
              <a:extLst>
                <a:ext uri="{FF2B5EF4-FFF2-40B4-BE49-F238E27FC236}">
                  <a16:creationId xmlns:a16="http://schemas.microsoft.com/office/drawing/2014/main" id="{FC03ECDC-42E1-417B-82DF-0C0820E0FC32}"/>
                </a:ext>
              </a:extLst>
            </p:cNvPr>
            <p:cNvSpPr>
              <a:spLocks/>
            </p:cNvSpPr>
            <p:nvPr/>
          </p:nvSpPr>
          <p:spPr>
            <a:xfrm>
              <a:off x="5207318" y="5474970"/>
              <a:ext cx="6445568" cy="1466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19" b="1">
                  <a:solidFill>
                    <a:srgbClr val="374154"/>
                  </a:solidFill>
                  <a:latin typeface="Microsoft YaHei"/>
                  <a:ea typeface="Microsoft YaHei"/>
                  <a:cs typeface="Microsoft YaHei"/>
                </a:rPr>
                <a:t>基础设施响应：版本、风险、来源、Digest 与行为资产需要能够被机器实时查询、绑定和追溯。</a:t>
              </a:r>
            </a:p>
          </p:txBody>
        </p:sp>
      </p:grpSp>
      <p:grpSp>
        <p:nvGrpSpPr>
          <p:cNvPr id="6" name="group-bottom-insight">
            <a:extLst>
              <a:ext uri="{FF2B5EF4-FFF2-40B4-BE49-F238E27FC236}">
                <a16:creationId xmlns:a16="http://schemas.microsoft.com/office/drawing/2014/main" id="{D18B75E2-2578-5AEE-F63B-A39BA541E3FF}"/>
              </a:ext>
            </a:extLst>
          </p:cNvPr>
          <p:cNvGrpSpPr/>
          <p:nvPr/>
        </p:nvGrpSpPr>
        <p:grpSpPr>
          <a:xfrm>
            <a:off x="533400" y="5859780"/>
            <a:ext cx="11105198" cy="648653"/>
            <a:chOff x="533400" y="5859780"/>
            <a:chExt cx="11105198" cy="648653"/>
          </a:xfrm>
        </p:grpSpPr>
        <p:sp>
          <p:nvSpPr>
            <p:cNvPr id="47" name="bottom-insight-label-bg">
              <a:extLst>
                <a:ext uri="{FF2B5EF4-FFF2-40B4-BE49-F238E27FC236}">
                  <a16:creationId xmlns:a16="http://schemas.microsoft.com/office/drawing/2014/main" id="{22652EFF-E427-4C2E-BB86-D3F3AE7EDBA8}"/>
                </a:ext>
              </a:extLst>
            </p:cNvPr>
            <p:cNvSpPr>
              <a:spLocks/>
            </p:cNvSpPr>
            <p:nvPr/>
          </p:nvSpPr>
          <p:spPr>
            <a:xfrm>
              <a:off x="533400" y="5909310"/>
              <a:ext cx="651510" cy="549593"/>
            </a:xfrm>
            <a:prstGeom prst="rect">
              <a:avLst/>
            </a:prstGeom>
            <a:solidFill>
              <a:srgbClr val="C00000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bottom-insight-label-text">
              <a:extLst>
                <a:ext uri="{FF2B5EF4-FFF2-40B4-BE49-F238E27FC236}">
                  <a16:creationId xmlns:a16="http://schemas.microsoft.com/office/drawing/2014/main" id="{6A3AC30B-5437-4115-8A9A-74C8F28241FC}"/>
                </a:ext>
              </a:extLst>
            </p:cNvPr>
            <p:cNvSpPr>
              <a:spLocks/>
            </p:cNvSpPr>
            <p:nvPr/>
          </p:nvSpPr>
          <p:spPr>
            <a:xfrm>
              <a:off x="578168" y="5859780"/>
              <a:ext cx="561975" cy="64865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ctr">
                <a:defRPr sz="1598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98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洞察</a:t>
              </a:r>
            </a:p>
            <a:p>
              <a:pPr algn="ctr">
                <a:defRPr sz="1598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98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总结</a:t>
              </a:r>
            </a:p>
          </p:txBody>
        </p:sp>
        <p:sp>
          <p:nvSpPr>
            <p:cNvPr id="49" name="bottom-insight-bar-bg">
              <a:extLst>
                <a:ext uri="{FF2B5EF4-FFF2-40B4-BE49-F238E27FC236}">
                  <a16:creationId xmlns:a16="http://schemas.microsoft.com/office/drawing/2014/main" id="{21701C27-D4EC-4EBA-AD13-0AE475A36A90}"/>
                </a:ext>
              </a:extLst>
            </p:cNvPr>
            <p:cNvSpPr>
              <a:spLocks/>
            </p:cNvSpPr>
            <p:nvPr/>
          </p:nvSpPr>
          <p:spPr>
            <a:xfrm>
              <a:off x="1271588" y="5909310"/>
              <a:ext cx="10367010" cy="549593"/>
            </a:xfrm>
            <a:prstGeom prst="rect">
              <a:avLst/>
            </a:prstGeom>
            <a:solidFill>
              <a:srgbClr val="C00000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bottom-insight-copy">
              <a:extLst>
                <a:ext uri="{FF2B5EF4-FFF2-40B4-BE49-F238E27FC236}">
                  <a16:creationId xmlns:a16="http://schemas.microsoft.com/office/drawing/2014/main" id="{B0721E28-DFD8-4EB3-A685-56CA7E756B6C}"/>
                </a:ext>
              </a:extLst>
            </p:cNvPr>
            <p:cNvSpPr>
              <a:spLocks/>
            </p:cNvSpPr>
            <p:nvPr/>
          </p:nvSpPr>
          <p:spPr>
            <a:xfrm>
              <a:off x="1381125" y="5928360"/>
              <a:ext cx="10134600" cy="5067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9525" rIns="0" bIns="9525" anchor="ctr">
              <a:norm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1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1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  </a:t>
              </a:r>
              <a:r>
                <a:rPr sz="1215" b="1" dirty="0" err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跨系统</a:t>
              </a:r>
              <a:r>
                <a:rPr sz="121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 Agent </a:t>
              </a:r>
              <a:r>
                <a:rPr sz="1215" b="1" dirty="0" err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的约束不只在模型能力，更在上下文能否复用；将规则、事件、任务图和制品事实转为可查询、可版本化接口</a:t>
              </a:r>
              <a:r>
                <a:rPr sz="121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defRPr sz="121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1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  Agent </a:t>
              </a:r>
              <a:r>
                <a:rPr sz="1215" b="1" dirty="0" err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将一次提交放大为多轮并行尝试；应以影响分析、缓存和可复用环境增强快速验证，并按资源利用率弹性调度算力</a:t>
              </a:r>
              <a:r>
                <a:rPr sz="121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0535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916</Words>
  <Application>Microsoft Macintosh PowerPoint</Application>
  <DocSecurity>0</DocSecurity>
  <PresentationFormat>宽屏</PresentationFormat>
  <Paragraphs>71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3</cp:revision>
  <dcterms:created xsi:type="dcterms:W3CDTF">2026-07-30T08:42:52Z</dcterms:created>
  <dcterms:modified xsi:type="dcterms:W3CDTF">2026-07-30T09:09:41Z</dcterms:modified>
</cp:coreProperties>
</file>