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C79DD8A-CB3F-460E-9D79-FEA9D05E1CB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Harness AutoFix: https://developer.harness.io/docs/code-repository/pull-requests/ai-agents/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Harness Code Quality Agents: https://developer.harness.io/3k-docs/platform/getting-started/agents/code-quality/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Harness Worker Agents: https://www.harness.io/products/platform/worker-agents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GitLab Fix CI/CD Pipeline Flow: https://docs.gitlab.com/user/duo_agent_platform/flows/foundational_flows/fix_pipeline/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CircleCI Chunk: https://circleci.com/docs/guides/toolkit/chunk-setup-and-overview/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CircleCI pipeline validation: https://circleci.com/changelog/chunk-now-validates-changes-by-running-your-ci-pipeline/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CircleCI protected-branch PRs: https://circleci.com/changelog/chunk-now-auto-creates-prs-on-protected-branches/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Nx Self-Healing CI: https://nx.dev/docs/features/ci-features/self-healing-ci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GitHub CI Doctor: https://github.github.com/gh-aw/blog/2026-01-13-meet-the-workflows-quality-hygiene/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GitHub CI triggering / Safe Outputs: https://github.github.com/gh-aw/reference/triggering-ci/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[Boundary]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The upper diagram contains only mechanisms documented by Harness.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The lower table compares first-party product mechanisms; scopes and maturity are not assumed equivalent.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Vendor descriptions are first-party claims and not independent effectiveness benchmarks.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533520" y="266760"/>
            <a:ext cx="11124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6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Harness </a:t>
            </a:r>
            <a:r>
              <a:rPr lang="zh-CN" sz="26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用 </a:t>
            </a:r>
            <a:r>
              <a:rPr lang="en-US" sz="26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Pipeline </a:t>
            </a:r>
            <a:r>
              <a:rPr lang="zh-CN" sz="26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闭环约束 </a:t>
            </a:r>
            <a:r>
              <a:rPr lang="en-US" sz="26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CI </a:t>
            </a:r>
            <a:r>
              <a:rPr lang="zh-CN" sz="26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自动修复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itle-rule"/>
          <p:cNvSpPr/>
          <p:nvPr/>
        </p:nvSpPr>
        <p:spPr>
          <a:xfrm>
            <a:off x="533160" y="838080"/>
            <a:ext cx="11125440" cy="360"/>
          </a:xfrm>
          <a:prstGeom prst="line">
            <a:avLst/>
          </a:prstGeom>
          <a:ln w="19050">
            <a:solidFill>
              <a:srgbClr val="2463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flow-label"/>
          <p:cNvSpPr/>
          <p:nvPr/>
        </p:nvSpPr>
        <p:spPr>
          <a:xfrm>
            <a:off x="533520" y="942840"/>
            <a:ext cx="34286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0F6F9A"/>
                </a:solidFill>
                <a:effectLst/>
                <a:uFillTx/>
                <a:latin typeface="Microsoft YaHei"/>
                <a:ea typeface="Microsoft YaHei"/>
              </a:rPr>
              <a:t>Harness AutoFix </a:t>
            </a:r>
            <a:r>
              <a:rPr lang="zh-CN" sz="1500" b="1" u="none" strike="noStrike">
                <a:solidFill>
                  <a:srgbClr val="0F6F9A"/>
                </a:solidFill>
                <a:effectLst/>
                <a:uFillTx/>
                <a:latin typeface="Microsoft YaHei"/>
                <a:ea typeface="Microsoft YaHei"/>
              </a:rPr>
              <a:t>官方流程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flow-evidence-label"/>
          <p:cNvSpPr/>
          <p:nvPr/>
        </p:nvSpPr>
        <p:spPr>
          <a:xfrm>
            <a:off x="7286760" y="971640"/>
            <a:ext cx="4371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3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AutoFix · Code Quality Agents · Worker Agents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harness-step-1"/>
          <p:cNvSpPr/>
          <p:nvPr/>
        </p:nvSpPr>
        <p:spPr>
          <a:xfrm>
            <a:off x="533520" y="1295280"/>
            <a:ext cx="1676160" cy="875880"/>
          </a:xfrm>
          <a:prstGeom prst="roundRect">
            <a:avLst>
              <a:gd name="adj" fmla="val 13043"/>
            </a:avLst>
          </a:prstGeom>
          <a:solidFill>
            <a:srgbClr val="EAF2F8"/>
          </a:solidFill>
          <a:ln w="12383">
            <a:solidFill>
              <a:srgbClr val="8CAA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harness-step-number-1"/>
          <p:cNvSpPr/>
          <p:nvPr/>
        </p:nvSpPr>
        <p:spPr>
          <a:xfrm>
            <a:off x="628560" y="138096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10" b="1" u="none" strike="noStrike">
                <a:solidFill>
                  <a:srgbClr val="0F6F9A"/>
                </a:solidFill>
                <a:effectLst/>
                <a:uFillTx/>
                <a:latin typeface="Microsoft YaHei"/>
                <a:ea typeface="Microsoft YaHei"/>
              </a:rPr>
              <a:t>01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harness-step-title-1"/>
          <p:cNvSpPr/>
          <p:nvPr/>
        </p:nvSpPr>
        <p:spPr>
          <a:xfrm>
            <a:off x="895320" y="1380960"/>
            <a:ext cx="1218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zh-CN" sz="12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失败触发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2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与上下文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harness-step-detail-1"/>
          <p:cNvSpPr/>
          <p:nvPr/>
        </p:nvSpPr>
        <p:spPr>
          <a:xfrm>
            <a:off x="628560" y="1790640"/>
            <a:ext cx="1485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93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Execution ID · Logs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3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Repo Changes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harness-step-2"/>
          <p:cNvSpPr/>
          <p:nvPr/>
        </p:nvSpPr>
        <p:spPr>
          <a:xfrm>
            <a:off x="2385000" y="1295280"/>
            <a:ext cx="1676160" cy="875880"/>
          </a:xfrm>
          <a:prstGeom prst="roundRect">
            <a:avLst>
              <a:gd name="adj" fmla="val 13043"/>
            </a:avLst>
          </a:prstGeom>
          <a:solidFill>
            <a:srgbClr val="E7F0FA"/>
          </a:solidFill>
          <a:ln w="12383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harness-step-number-2"/>
          <p:cNvSpPr/>
          <p:nvPr/>
        </p:nvSpPr>
        <p:spPr>
          <a:xfrm>
            <a:off x="2480400" y="138096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10" b="1" u="none" strike="noStrike">
                <a:solidFill>
                  <a:srgbClr val="0F6F9A"/>
                </a:solidFill>
                <a:effectLst/>
                <a:uFillTx/>
                <a:latin typeface="Microsoft YaHei"/>
                <a:ea typeface="Microsoft YaHei"/>
              </a:rPr>
              <a:t>02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harness-step-title-2"/>
          <p:cNvSpPr/>
          <p:nvPr/>
        </p:nvSpPr>
        <p:spPr>
          <a:xfrm>
            <a:off x="2747160" y="1380960"/>
            <a:ext cx="1218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zh-CN" sz="12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根因诊断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harness-step-detail-2"/>
          <p:cNvSpPr/>
          <p:nvPr/>
        </p:nvSpPr>
        <p:spPr>
          <a:xfrm>
            <a:off x="2480400" y="1790640"/>
            <a:ext cx="1485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93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Remediation Agent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harness-step-3"/>
          <p:cNvSpPr/>
          <p:nvPr/>
        </p:nvSpPr>
        <p:spPr>
          <a:xfrm>
            <a:off x="4236840" y="1295280"/>
            <a:ext cx="1676160" cy="875880"/>
          </a:xfrm>
          <a:prstGeom prst="roundRect">
            <a:avLst>
              <a:gd name="adj" fmla="val 13043"/>
            </a:avLst>
          </a:prstGeom>
          <a:solidFill>
            <a:srgbClr val="E7F0FA"/>
          </a:solidFill>
          <a:ln w="12383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harness-step-number-3"/>
          <p:cNvSpPr/>
          <p:nvPr/>
        </p:nvSpPr>
        <p:spPr>
          <a:xfrm>
            <a:off x="4331880" y="138096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10" b="1" u="none" strike="noStrike">
                <a:solidFill>
                  <a:srgbClr val="0F6F9A"/>
                </a:solidFill>
                <a:effectLst/>
                <a:uFillTx/>
                <a:latin typeface="Microsoft YaHei"/>
                <a:ea typeface="Microsoft YaHei"/>
              </a:rPr>
              <a:t>03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harness-step-title-3"/>
          <p:cNvSpPr/>
          <p:nvPr/>
        </p:nvSpPr>
        <p:spPr>
          <a:xfrm>
            <a:off x="4598640" y="1380960"/>
            <a:ext cx="1218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zh-CN" sz="12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候选修复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2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生成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harness-step-detail-3"/>
          <p:cNvSpPr/>
          <p:nvPr/>
        </p:nvSpPr>
        <p:spPr>
          <a:xfrm>
            <a:off x="4331880" y="1790640"/>
            <a:ext cx="1485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93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Coding Agent · ≤50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harness-step-4"/>
          <p:cNvSpPr/>
          <p:nvPr/>
        </p:nvSpPr>
        <p:spPr>
          <a:xfrm>
            <a:off x="6088320" y="1295280"/>
            <a:ext cx="1676160" cy="875880"/>
          </a:xfrm>
          <a:prstGeom prst="roundRect">
            <a:avLst>
              <a:gd name="adj" fmla="val 13043"/>
            </a:avLst>
          </a:prstGeom>
          <a:solidFill>
            <a:srgbClr val="E7F0FA"/>
          </a:solidFill>
          <a:ln w="12383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harness-step-number-4"/>
          <p:cNvSpPr/>
          <p:nvPr/>
        </p:nvSpPr>
        <p:spPr>
          <a:xfrm>
            <a:off x="6183720" y="138096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10" b="1" u="none" strike="noStrike">
                <a:solidFill>
                  <a:srgbClr val="0F6F9A"/>
                </a:solidFill>
                <a:effectLst/>
                <a:uFillTx/>
                <a:latin typeface="Microsoft YaHei"/>
                <a:ea typeface="Microsoft YaHei"/>
              </a:rPr>
              <a:t>04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harness-step-title-4"/>
          <p:cNvSpPr/>
          <p:nvPr/>
        </p:nvSpPr>
        <p:spPr>
          <a:xfrm>
            <a:off x="6450480" y="1380960"/>
            <a:ext cx="1218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2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Fix </a:t>
            </a:r>
            <a:r>
              <a:rPr lang="zh-CN" sz="12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验证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harness-step-detail-4"/>
          <p:cNvSpPr/>
          <p:nvPr/>
        </p:nvSpPr>
        <p:spPr>
          <a:xfrm>
            <a:off x="6183720" y="1790640"/>
            <a:ext cx="1485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93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Generate + Validate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harness-step-5"/>
          <p:cNvSpPr/>
          <p:nvPr/>
        </p:nvSpPr>
        <p:spPr>
          <a:xfrm>
            <a:off x="7940160" y="1295280"/>
            <a:ext cx="1676160" cy="875880"/>
          </a:xfrm>
          <a:prstGeom prst="roundRect">
            <a:avLst>
              <a:gd name="adj" fmla="val 13043"/>
            </a:avLst>
          </a:prstGeom>
          <a:solidFill>
            <a:srgbClr val="E7F0FA"/>
          </a:solidFill>
          <a:ln w="12383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harness-step-number-5"/>
          <p:cNvSpPr/>
          <p:nvPr/>
        </p:nvSpPr>
        <p:spPr>
          <a:xfrm>
            <a:off x="8035200" y="138096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10" b="1" u="none" strike="noStrike">
                <a:solidFill>
                  <a:srgbClr val="0F6F9A"/>
                </a:solidFill>
                <a:effectLst/>
                <a:uFillTx/>
                <a:latin typeface="Microsoft YaHei"/>
                <a:ea typeface="Microsoft YaHei"/>
              </a:rPr>
              <a:t>05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harness-step-title-5"/>
          <p:cNvSpPr/>
          <p:nvPr/>
        </p:nvSpPr>
        <p:spPr>
          <a:xfrm>
            <a:off x="8301960" y="1380960"/>
            <a:ext cx="1218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zh-CN" sz="12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写入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PR </a:t>
            </a:r>
            <a:r>
              <a:rPr lang="zh-CN" sz="12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分支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harness-step-detail-5"/>
          <p:cNvSpPr/>
          <p:nvPr/>
        </p:nvSpPr>
        <p:spPr>
          <a:xfrm>
            <a:off x="8035200" y="1790640"/>
            <a:ext cx="1485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93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ai-autofix Branch · PR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harness-step-6"/>
          <p:cNvSpPr/>
          <p:nvPr/>
        </p:nvSpPr>
        <p:spPr>
          <a:xfrm>
            <a:off x="9791640" y="1295280"/>
            <a:ext cx="1676160" cy="875880"/>
          </a:xfrm>
          <a:prstGeom prst="roundRect">
            <a:avLst>
              <a:gd name="adj" fmla="val 13043"/>
            </a:avLst>
          </a:prstGeom>
          <a:solidFill>
            <a:srgbClr val="E7F0FA"/>
          </a:solidFill>
          <a:ln w="12383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harness-step-number-6"/>
          <p:cNvSpPr/>
          <p:nvPr/>
        </p:nvSpPr>
        <p:spPr>
          <a:xfrm>
            <a:off x="9887040" y="138096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10" b="1" u="none" strike="noStrike">
                <a:solidFill>
                  <a:srgbClr val="0F6F9A"/>
                </a:solidFill>
                <a:effectLst/>
                <a:uFillTx/>
                <a:latin typeface="Microsoft YaHei"/>
                <a:ea typeface="Microsoft YaHei"/>
              </a:rPr>
              <a:t>06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harness-step-title-6"/>
          <p:cNvSpPr/>
          <p:nvPr/>
        </p:nvSpPr>
        <p:spPr>
          <a:xfrm>
            <a:off x="10153800" y="1380960"/>
            <a:ext cx="1218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2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Build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2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再触发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harness-step-detail-6"/>
          <p:cNvSpPr/>
          <p:nvPr/>
        </p:nvSpPr>
        <p:spPr>
          <a:xfrm>
            <a:off x="9887040" y="1790640"/>
            <a:ext cx="1485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93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Re-trigger Until Pass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" name=""/>
          <p:cNvCxnSpPr>
            <a:stCxn id="14" idx="3"/>
            <a:endCxn id="18" idx="1"/>
          </p:cNvCxnSpPr>
          <p:nvPr/>
        </p:nvCxnSpPr>
        <p:spPr>
          <a:xfrm>
            <a:off x="2209680" y="1733400"/>
            <a:ext cx="175680" cy="360"/>
          </a:xfrm>
          <a:prstGeom prst="straightConnector1">
            <a:avLst/>
          </a:prstGeom>
          <a:ln w="19050">
            <a:solidFill>
              <a:srgbClr val="2463D4"/>
            </a:solidFill>
            <a:round/>
            <a:tailEnd len="sm" type="triangle" w="sm"/>
          </a:ln>
        </p:spPr>
      </p:cxnSp>
      <p:cxnSp>
        <p:nvCxnSpPr>
          <p:cNvPr id="39" name=""/>
          <p:cNvCxnSpPr>
            <a:stCxn id="18" idx="3"/>
            <a:endCxn id="22" idx="1"/>
          </p:cNvCxnSpPr>
          <p:nvPr/>
        </p:nvCxnSpPr>
        <p:spPr>
          <a:xfrm>
            <a:off x="4061160" y="1733400"/>
            <a:ext cx="176040" cy="360"/>
          </a:xfrm>
          <a:prstGeom prst="straightConnector1">
            <a:avLst/>
          </a:prstGeom>
          <a:ln w="19050">
            <a:solidFill>
              <a:srgbClr val="2463D4"/>
            </a:solidFill>
            <a:round/>
            <a:tailEnd len="sm" type="triangle" w="sm"/>
          </a:ln>
        </p:spPr>
      </p:cxnSp>
      <p:cxnSp>
        <p:nvCxnSpPr>
          <p:cNvPr id="40" name=""/>
          <p:cNvCxnSpPr>
            <a:stCxn id="22" idx="3"/>
            <a:endCxn id="26" idx="1"/>
          </p:cNvCxnSpPr>
          <p:nvPr/>
        </p:nvCxnSpPr>
        <p:spPr>
          <a:xfrm>
            <a:off x="5913000" y="1733400"/>
            <a:ext cx="175680" cy="360"/>
          </a:xfrm>
          <a:prstGeom prst="straightConnector1">
            <a:avLst/>
          </a:prstGeom>
          <a:ln w="19050">
            <a:solidFill>
              <a:srgbClr val="2463D4"/>
            </a:solidFill>
            <a:round/>
            <a:tailEnd len="sm" type="triangle" w="sm"/>
          </a:ln>
        </p:spPr>
      </p:cxnSp>
      <p:cxnSp>
        <p:nvCxnSpPr>
          <p:cNvPr id="41" name=""/>
          <p:cNvCxnSpPr>
            <a:stCxn id="26" idx="3"/>
            <a:endCxn id="30" idx="1"/>
          </p:cNvCxnSpPr>
          <p:nvPr/>
        </p:nvCxnSpPr>
        <p:spPr>
          <a:xfrm>
            <a:off x="7764480" y="1733400"/>
            <a:ext cx="176040" cy="360"/>
          </a:xfrm>
          <a:prstGeom prst="straightConnector1">
            <a:avLst/>
          </a:prstGeom>
          <a:ln w="19050">
            <a:solidFill>
              <a:srgbClr val="2463D4"/>
            </a:solidFill>
            <a:round/>
            <a:tailEnd len="sm" type="triangle" w="sm"/>
          </a:ln>
        </p:spPr>
      </p:cxnSp>
      <p:cxnSp>
        <p:nvCxnSpPr>
          <p:cNvPr id="42" name=""/>
          <p:cNvCxnSpPr>
            <a:stCxn id="30" idx="3"/>
            <a:endCxn id="34" idx="1"/>
          </p:cNvCxnSpPr>
          <p:nvPr/>
        </p:nvCxnSpPr>
        <p:spPr>
          <a:xfrm>
            <a:off x="9616320" y="1733400"/>
            <a:ext cx="175680" cy="360"/>
          </a:xfrm>
          <a:prstGeom prst="straightConnector1">
            <a:avLst/>
          </a:prstGeom>
          <a:ln w="19050">
            <a:solidFill>
              <a:srgbClr val="2463D4"/>
            </a:solidFill>
            <a:round/>
            <a:tailEnd len="sm" type="triangle" w="sm"/>
          </a:ln>
        </p:spPr>
      </p:cxnSp>
      <p:sp>
        <p:nvSpPr>
          <p:cNvPr id="43" name="harness-control-rail"/>
          <p:cNvSpPr/>
          <p:nvPr/>
        </p:nvSpPr>
        <p:spPr>
          <a:xfrm>
            <a:off x="533520" y="2266920"/>
            <a:ext cx="11124720" cy="294840"/>
          </a:xfrm>
          <a:prstGeom prst="roundRect">
            <a:avLst>
              <a:gd name="adj" fmla="val 25806"/>
            </a:avLst>
          </a:prstGeom>
          <a:solidFill>
            <a:srgbClr val="EDF3FA"/>
          </a:solidFill>
          <a:ln w="9525">
            <a:solidFill>
              <a:srgbClr val="C7D8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control-rail-label"/>
          <p:cNvSpPr/>
          <p:nvPr/>
        </p:nvSpPr>
        <p:spPr>
          <a:xfrm>
            <a:off x="666720" y="2324160"/>
            <a:ext cx="1352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0F6F9A"/>
                </a:solidFill>
                <a:effectLst/>
                <a:uFillTx/>
                <a:latin typeface="Microsoft YaHei"/>
                <a:ea typeface="Microsoft YaHei"/>
              </a:rPr>
              <a:t>Harness </a:t>
            </a:r>
            <a:r>
              <a:rPr lang="zh-CN" sz="980" b="1" u="none" strike="noStrike">
                <a:solidFill>
                  <a:srgbClr val="0F6F9A"/>
                </a:solidFill>
                <a:effectLst/>
                <a:uFillTx/>
                <a:latin typeface="Microsoft YaHei"/>
                <a:ea typeface="Microsoft YaHei"/>
              </a:rPr>
              <a:t>治理控制面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control-rail-detail"/>
          <p:cNvSpPr/>
          <p:nvPr/>
        </p:nvSpPr>
        <p:spPr>
          <a:xfrm>
            <a:off x="2095560" y="2324160"/>
            <a:ext cx="9391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39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Sandbox · Ephemeral Scoped Credentials · RBAC · OPA Policy · Approval Gate · Audit Trail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able-label"/>
          <p:cNvSpPr/>
          <p:nvPr/>
        </p:nvSpPr>
        <p:spPr>
          <a:xfrm>
            <a:off x="533520" y="2657520"/>
            <a:ext cx="61909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阶段对照：</a:t>
            </a:r>
            <a:r>
              <a:rPr lang="en-US" sz="150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Harness </a:t>
            </a:r>
            <a:r>
              <a:rPr lang="zh-CN" sz="150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实际机制与业界公司实践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" name="stage-company-practice-table"/>
          <p:cNvGraphicFramePr/>
          <p:nvPr/>
        </p:nvGraphicFramePr>
        <p:xfrm>
          <a:off x="533520" y="2962440"/>
          <a:ext cx="11124720" cy="2725560"/>
        </p:xfrm>
        <a:graphic>
          <a:graphicData uri="http://schemas.openxmlformats.org/drawingml/2006/table">
            <a:tbl>
              <a:tblPr/>
              <a:tblGrid>
                <a:gridCol w="1476360"/>
                <a:gridCol w="3286080"/>
                <a:gridCol w="6362640"/>
              </a:tblGrid>
              <a:tr h="2854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07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阶段</a:t>
                      </a:r>
                      <a:endParaRPr lang="en-US" sz="107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7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Harness </a:t>
                      </a:r>
                      <a:r>
                        <a:rPr lang="zh-CN" sz="107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实际机制</a:t>
                      </a:r>
                      <a:endParaRPr lang="en-US" sz="107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6F9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07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业界公司实践</a:t>
                      </a:r>
                      <a:endParaRPr lang="en-US" sz="107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406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1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失败触发与上下文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失败时由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Run Step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调用；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Execution ID + Logs + Repo Changes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构建上下文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Logs + MR Diff + Repo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Failure Context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Nx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Graph + Task Metadata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6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2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根因诊断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Remediation Agent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从日志与错误信息识别根因，并生成修复任务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Syntax / Lint / Import / Permission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GitHub CI Doctor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｜日志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+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历史模式；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Error / Job / Workflow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级定位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6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3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候选修复生成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Coding Agent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执行目标修改，最多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50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次迭代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Inline Suggestion /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新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MR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Fix Error / Job / Workflow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Nx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Task Fix + Pattern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6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4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Fix </a:t>
                      </a:r>
                      <a:r>
                        <a:rPr lang="zh-CN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验证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生成并验证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Fix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，检查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Build / Test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是否恢复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Nx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｜原失败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Task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显式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Verified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｜推送候选修改并运行真实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Pipeline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6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5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 </a:t>
                      </a:r>
                      <a:r>
                        <a:rPr lang="zh-CN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分支写回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写入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ai-autofix Branch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并创建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，等待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Review / Merge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Nx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Pattern + Protected Branch + Verified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才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Auto-apply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GitHub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Safe Outputs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分权；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Suggestion /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新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MR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6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6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Build </a:t>
                      </a:r>
                      <a:r>
                        <a:rPr lang="zh-CN" sz="960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再触发</a:t>
                      </a:r>
                      <a:endParaRPr lang="en-US" sz="96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 Branch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重新触发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Build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，持续验证直至通过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｜验证后保留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/ 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关闭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Draft PR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Nx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Auto-retry Flaky Task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GitHub</a:t>
                      </a:r>
                      <a:r>
                        <a:rPr lang="zh-CN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｜受控触发后续 </a:t>
                      </a:r>
                      <a:r>
                        <a:rPr lang="en-US" sz="920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8" name="insight-band"/>
          <p:cNvSpPr/>
          <p:nvPr/>
        </p:nvSpPr>
        <p:spPr>
          <a:xfrm>
            <a:off x="533520" y="5810400"/>
            <a:ext cx="11124720" cy="685440"/>
          </a:xfrm>
          <a:prstGeom prst="roundRect">
            <a:avLst>
              <a:gd name="adj" fmla="val 13889"/>
            </a:avLst>
          </a:prstGeom>
          <a:solidFill>
            <a:srgbClr val="EAF1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insight-accent"/>
          <p:cNvSpPr/>
          <p:nvPr/>
        </p:nvSpPr>
        <p:spPr>
          <a:xfrm>
            <a:off x="666720" y="5914800"/>
            <a:ext cx="360" cy="476280"/>
          </a:xfrm>
          <a:prstGeom prst="line">
            <a:avLst/>
          </a:prstGeom>
          <a:ln w="28575">
            <a:solidFill>
              <a:srgbClr val="2463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insight-label"/>
          <p:cNvSpPr/>
          <p:nvPr/>
        </p:nvSpPr>
        <p:spPr>
          <a:xfrm>
            <a:off x="800280" y="5905440"/>
            <a:ext cx="11235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320" b="1" u="none" strike="noStrike">
                <a:solidFill>
                  <a:srgbClr val="2463D4"/>
                </a:solidFill>
                <a:effectLst/>
                <a:uFillTx/>
                <a:latin typeface="Microsoft YaHei"/>
                <a:ea typeface="Microsoft YaHei"/>
              </a:rPr>
              <a:t>三条启示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bottom-insights"/>
          <p:cNvSpPr/>
          <p:nvPr/>
        </p:nvSpPr>
        <p:spPr>
          <a:xfrm>
            <a:off x="2000160" y="5896080"/>
            <a:ext cx="93340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① CI </a:t>
            </a:r>
            <a:r>
              <a:rPr lang="zh-CN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自愈的分水岭，是独立复验后的有界写回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② 失败分类比修复 </a:t>
            </a:r>
            <a:r>
              <a:rPr lang="en-US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更决定自愈质量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③ CI </a:t>
            </a:r>
            <a:r>
              <a:rPr lang="zh-CN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自愈的竞争优势来自“上下文 </a:t>
            </a:r>
            <a:r>
              <a:rPr lang="en-US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× </a:t>
            </a:r>
            <a:r>
              <a:rPr lang="zh-CN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控制面”，而非单一模型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ource-footer"/>
          <p:cNvSpPr/>
          <p:nvPr/>
        </p:nvSpPr>
        <p:spPr>
          <a:xfrm>
            <a:off x="533520" y="6600960"/>
            <a:ext cx="111247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zh-CN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资料截至 </a:t>
            </a:r>
            <a:r>
              <a:rPr lang="en-US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2026-07-25 · </a:t>
            </a:r>
            <a:r>
              <a:rPr lang="zh-CN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上方仅含 </a:t>
            </a:r>
            <a:r>
              <a:rPr lang="en-US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Harness </a:t>
            </a:r>
            <a:r>
              <a:rPr lang="zh-CN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官方公开流程 </a:t>
            </a:r>
            <a:r>
              <a:rPr lang="en-US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下方为官方产品机制横向对照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2026-07-25T08:37:04Z</dcterms:created>
  <dc:creator>Walnut Exporter</dc:creator>
  <dc:description/>
  <dc:language>zh-CN</dc:language>
  <cp:lastModifiedBy>Walnut Exporter</cp:lastModifiedBy>
  <dcterms:modified xsi:type="dcterms:W3CDTF">2026-07-25T08:37:04Z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