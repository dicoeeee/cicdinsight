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aad82e96c4164" /><Relationship Type="http://schemas.openxmlformats.org/officeDocument/2006/relationships/extended-properties" Target="/docProps/app.xml" Id="R68fc4b6dad0d4a48" /><Relationship Type="http://schemas.openxmlformats.org/officeDocument/2006/relationships/officeDocument" Target="/ppt/presentation.xml" Id="R820c7b5ffabc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3fe9fa47f406f"/>
  </p:sldMasterIdLst>
  <p:notesMasterIdLst>
    <p:notesMasterId xmlns:r="http://schemas.openxmlformats.org/officeDocument/2006/relationships" r:id="Rd0851a1bd9da47d0"/>
  </p:notesMasterIdLst>
  <p:sldIdLst>
    <p:sldId xmlns:r="http://schemas.openxmlformats.org/officeDocument/2006/relationships" id="256" r:id="R8c072c1095e9432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ba23d787f4782" /><Relationship Type="http://schemas.openxmlformats.org/officeDocument/2006/relationships/slideMaster" Target="/ppt/slideMasters/slideMaster1.xml" Id="Rbd03fe9fa47f406f" /><Relationship Type="http://schemas.openxmlformats.org/officeDocument/2006/relationships/notesMaster" Target="/ppt/notesMasters/notesMaster1.xml" Id="Rd0851a1bd9da47d0" /><Relationship Type="http://schemas.openxmlformats.org/officeDocument/2006/relationships/presProps" Target="/ppt/presProps.xml" Id="R847c60fc344d458d" /><Relationship Type="http://schemas.openxmlformats.org/officeDocument/2006/relationships/viewProps" Target="/ppt/viewProps.xml" Id="R1d2a19ac74a14b60" /><Relationship Type="http://schemas.openxmlformats.org/officeDocument/2006/relationships/tableStyles" Target="/ppt/tableStyles.xml" Id="R703ae83df76d4239" /><Relationship Type="http://schemas.openxmlformats.org/officeDocument/2006/relationships/slide" Target="/ppt/slides/slide1.xml" Id="R8c072c1095e9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538634970f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59b3b9761472b" /><Relationship Type="http://schemas.openxmlformats.org/officeDocument/2006/relationships/notesMaster" Target="/ppt/notesMasters/notesMaster1.xml" Id="Rcf469fdb770e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Top workflow image and source map: outputs/cli-upper-half-c-final-light.png; outputs/cli-upper-half-c-refined-command-sources.md</a:t>
            </a:r>
          </a:p>
          <a:p xmlns:a="http://schemas.openxmlformats.org/drawingml/2006/main">
            <a:r>
              <a:t>- Representative table source map: outputs/cli-lower-left-representative-table-sources.md</a:t>
            </a:r>
          </a:p>
          <a:p xmlns:a="http://schemas.openxmlformats.org/drawingml/2006/main">
            <a:r>
              <a:t>- CLI/MCP evidence audit: 50_deepdives/cli-agent-interface/industry-mcp-evolution-and-progressive-discovery-2026-07-28.md</a:t>
            </a:r>
          </a:p>
          <a:p xmlns:a="http://schemas.openxmlformats.org/drawingml/2006/main">
            <a:r>
              <a:t>- Claude Code Tool Search: https://code.claude.com/docs/en/mcp#scale-with-mcp-tool-search</a:t>
            </a:r>
          </a:p>
          <a:p xmlns:a="http://schemas.openxmlformats.org/drawingml/2006/main">
            <a:r>
              <a:t>- MCP Client Best Practices: https://modelcontextprotocol.io/docs/develop/clients/client-best-practices</a:t>
            </a:r>
          </a:p>
          <a:p xmlns:a="http://schemas.openxmlformats.org/drawingml/2006/main">
            <a:r>
              <a:t>- Thoughtworks Technology Radar, MCP by default: https://www.thoughtworks.com/radar/techniques/mcp-by-default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boundary: progressive discovery and on-demand loading are host/client implementation patterns, not automatic MCP core-protocol guarantees. MCP standardizes discovery and invocation contracts; authorization and governance remain platform/server responsibilities.</a:t>
            </a:r>
          </a:p>
          <a:p xmlns:a="http://schemas.openxmlformats.org/drawingml/2006/main">
            <a:r>
              <a:t>as_of: 2026-07-28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acc1651c743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1a45439e149af" /><Relationship Type="http://schemas.openxmlformats.org/officeDocument/2006/relationships/slideLayout" Target="/ppt/slideLayouts/slideLayout1.xml" Id="R212076b9fa8c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2076b9fa8c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4a20b94c44891" /><Relationship Type="http://schemas.openxmlformats.org/officeDocument/2006/relationships/image" Target="/ppt/media/image.png" Id="Raf7e24961a1f4c5d" /><Relationship Type="http://schemas.openxmlformats.org/officeDocument/2006/relationships/hyperlink" Target="https://cli.github.com/manual/" TargetMode="External" Id="R1d7b16f5a81946b3" /><Relationship Type="http://schemas.openxmlformats.org/officeDocument/2006/relationships/hyperlink" Target="https://docs.snyk.io/developer-tools/snyk-cli" TargetMode="External" Id="Rcd3a17f862884831" /><Relationship Type="http://schemas.openxmlformats.org/officeDocument/2006/relationships/hyperlink" Target="https://circleci.com/docs/guides/toolkit/local-cli/" TargetMode="External" Id="R1dbf7bb57bf4427f" /><Relationship Type="http://schemas.openxmlformats.org/officeDocument/2006/relationships/hyperlink" Target="https://docs.jfrog.com/integrations/docs/jfrog-cli-command-reference" TargetMode="External" Id="Rd02b5d8386394448" /><Relationship Type="http://schemas.openxmlformats.org/officeDocument/2006/relationships/hyperlink" Target="https://developer.hashicorp.com/terraform/cli/commands" TargetMode="External" Id="R889bb2f326e14be0" /><Relationship Type="http://schemas.openxmlformats.org/officeDocument/2006/relationships/hyperlink" Target="https://github.com/getsentry/sentry-cli" TargetMode="External" Id="Rea5e14f6baed4260" /><Relationship Type="http://schemas.openxmlformats.org/officeDocument/2006/relationships/notesSlide" Target="/ppt/notesSlides/notesSlide1.xml" Id="R36119d5a5882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1752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软件交付的 Agent 接口走向互补：CLI 走向结构化输出与 Skill 复用，MCP 接入走向渐进发现与按需加载</a:t>
            </a:r>
          </a:p>
        </p:txBody>
      </p:sp>
      <p:sp>
        <p:nvSpPr>
          <p:cNvPr id="2" name="as-of">
            <a:extLst xmlns:a="http://schemas.openxmlformats.org/drawingml/2006/main"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52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e24961a1f4c5d"/>
          <a:stretch xmlns:a="http://schemas.openxmlformats.org/drawingml/2006/main"/>
        </p:blipFill>
        <p:spPr>
          <a:xfrm xmlns:a="http://schemas.openxmlformats.org/drawingml/2006/main">
            <a:off x="381000" y="885825"/>
            <a:ext cx="17526000" cy="4305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9" name="表格 28"/>
          <p:cNvGraphicFramePr/>
          <p:nvPr/>
        </p:nvGraphicFramePr>
        <p:xfrm>
          <a:off xmlns:a="http://schemas.openxmlformats.org/drawingml/2006/main" x="381000" y="5429250"/>
          <a:ext xmlns:a="http://schemas.openxmlformats.org/drawingml/2006/main" cx="8572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219200"/>
                <a:gridCol w="1066800"/>
                <a:gridCol w="3086100"/>
                <a:gridCol w="2057400"/>
              </a:tblGrid>
              <a:tr h="428625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编码与协同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1d7b16f5a81946b3"/>
                        </a:rPr>
                        <a:t>GitHub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cd3a17f862884831"/>
                        </a:rPr>
                        <a:t>Snyk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1dbf7bb57bf4427f"/>
                        </a:rPr>
                        <a:t>CircleCI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d02b5d8386394448"/>
                        </a:rPr>
                        <a:t>JFrog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 / 复制 / 发布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889bb2f326e14be0"/>
                        </a:rPr>
                        <a:t>HashiCorp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 / plan / apply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Server · v1.0.x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47625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ea5e14f6baed4260"/>
                        </a:rPr>
                        <a:t>Sentry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47625" tIns="28575" rIns="47625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 / stdio 开发中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表格 29"/>
          <p:cNvGraphicFramePr/>
          <p:nvPr/>
        </p:nvGraphicFramePr>
        <p:xfrm>
          <a:off xmlns:a="http://schemas.openxmlformats.org/drawingml/2006/main" x="9182100" y="5429250"/>
          <a:ext xmlns:a="http://schemas.openxmlformats.org/drawingml/2006/main" cx="87249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3800475"/>
                <a:gridCol w="3800475"/>
              </a:tblGrid>
              <a:tr h="419100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85725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85725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</a:tr>
              <a:tr h="390525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命令、文件与进程进入 Agent 工作循环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统一工具发现与调用契约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390525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 与运维经验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工具描述与参数契约标准化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适合远程授权与集中治理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390525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全量工具定义会占用上下文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390525"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成熟命令、本地工程动作、CI Runner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 wrap="square" lIns="57150" tIns="28575" rIns="57150" bIns="2857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运行时工具发现、统一参数、授权治理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7" name="cli-trend-surface">
            <a:extLst xmlns:a="http://schemas.openxmlformats.org/drawingml/2006/main"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562850"/>
            <a:ext cx="87249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5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li-trend-edge">
            <a:extLst xmlns:a="http://schemas.openxmlformats.org/drawingml/2006/main"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5628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E8"/>
          </a:solidFill>
          <a:ln xmlns:a="http://schemas.openxmlformats.org/drawingml/2006/main" w="0">
            <a:solidFill>
              <a:srgbClr val="496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cli-trend-label-bg">
            <a:extLst xmlns:a="http://schemas.openxmlformats.org/drawingml/2006/main"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620000"/>
            <a:ext cx="87630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0">
            <a:solidFill>
              <a:srgbClr val="EDF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li-trend-label">
            <a:extLst xmlns:a="http://schemas.openxmlformats.org/drawingml/2006/main"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620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 xmlns:a="http://schemas.openxmlformats.org/drawingml/2006/main"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591425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结构化输出与 Skill 封装增强 Agent 的稳定调用与可重放执行。</a:t>
            </a:r>
          </a:p>
        </p:txBody>
      </p:sp>
      <p:sp>
        <p:nvSpPr>
          <p:cNvPr id="12" name="cli-trend-evidence">
            <a:extLst xmlns:a="http://schemas.openxmlformats.org/drawingml/2006/main"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6104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 xmlns:a="http://schemas.openxmlformats.org/drawingml/2006/main"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972425"/>
            <a:ext cx="87249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5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mcp-trend-edge">
            <a:extLst xmlns:a="http://schemas.openxmlformats.org/drawingml/2006/main"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972425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043"/>
          </a:solidFill>
          <a:ln xmlns:a="http://schemas.openxmlformats.org/drawingml/2006/main" w="0">
            <a:solidFill>
              <a:srgbClr val="EF70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mcp-trend-label-bg">
            <a:extLst xmlns:a="http://schemas.openxmlformats.org/drawingml/2006/main"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8029575"/>
            <a:ext cx="87630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solidFill>
              <a:srgbClr val="FFF0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mcp-trend-label">
            <a:extLst xmlns:a="http://schemas.openxmlformats.org/drawingml/2006/main"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80295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 xmlns:a="http://schemas.openxmlformats.org/drawingml/2006/main"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Tool Search、渐进发现与按需加载避免一次性注入全部工具定义。</a:t>
            </a:r>
          </a:p>
        </p:txBody>
      </p:sp>
      <p:sp>
        <p:nvSpPr>
          <p:cNvPr id="18" name="mcp-trend-evidence">
            <a:extLst xmlns:a="http://schemas.openxmlformats.org/drawingml/2006/main"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020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 xmlns:a="http://schemas.openxmlformats.org/drawingml/2006/main"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382000"/>
            <a:ext cx="87249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5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overall-trend-edge">
            <a:extLst xmlns:a="http://schemas.openxmlformats.org/drawingml/2006/main"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3820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24C"/>
          </a:solidFill>
          <a:ln xmlns:a="http://schemas.openxmlformats.org/drawingml/2006/main" w="0">
            <a:solidFill>
              <a:srgbClr val="1932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overall-trend-label-bg">
            <a:extLst xmlns:a="http://schemas.openxmlformats.org/drawingml/2006/main"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8439150"/>
            <a:ext cx="87630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overall-trend-label">
            <a:extLst xmlns:a="http://schemas.openxmlformats.org/drawingml/2006/main"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84391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 xmlns:a="http://schemas.openxmlformats.org/drawingml/2006/main"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410575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主流终端 Agent 同时保留 CLI 与 MCP，并按任务边界组合使用。</a:t>
            </a:r>
          </a:p>
        </p:txBody>
      </p:sp>
      <p:sp>
        <p:nvSpPr>
          <p:cNvPr id="24" name="overall-trend-evidence">
            <a:extLst xmlns:a="http://schemas.openxmlformats.org/drawingml/2006/main"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4296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  <p:sp>
        <p:nvSpPr>
          <p:cNvPr id="29" name="stage-01-title-mask">
            <a:extLst xmlns:a="http://schemas.openxmlformats.org/drawingml/2006/main">
              <a:ext uri="{FF2B5EF4-FFF2-40B4-BE49-F238E27FC236}">
                <a16:creationId xmlns:a16="http://schemas.microsoft.com/office/drawing/2014/main" id="{DFE845DA-846C-4708-B316-5A973023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36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stage-01-title-coding-collaboration">
            <a:extLst xmlns:a="http://schemas.openxmlformats.org/drawingml/2006/main">
              <a:ext uri="{FF2B5EF4-FFF2-40B4-BE49-F238E27FC236}">
                <a16:creationId xmlns:a16="http://schemas.microsoft.com/office/drawing/2014/main" id="{43A9E564-925E-477E-A644-A046CC7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编码与协同</a:t>
            </a:r>
          </a:p>
        </p:txBody>
      </p:sp>
      <p:sp>
        <p:nvSpPr>
          <p:cNvPr id="31" name="insight-label-background">
            <a:extLst xmlns:a="http://schemas.openxmlformats.org/drawingml/2006/main">
              <a:ext uri="{FF2B5EF4-FFF2-40B4-BE49-F238E27FC236}">
                <a16:creationId xmlns:a16="http://schemas.microsoft.com/office/drawing/2014/main" id="{20C35E31-4B92-46CB-9D65-F1CC983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01125"/>
            <a:ext cx="1028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2" name="insight-label">
            <a:extLst xmlns:a="http://schemas.openxmlformats.org/drawingml/2006/main">
              <a:ext uri="{FF2B5EF4-FFF2-40B4-BE49-F238E27FC236}">
                <a16:creationId xmlns:a16="http://schemas.microsoft.com/office/drawing/2014/main" id="{004D1992-8C24-4B18-97D7-5F9B41C0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01125"/>
            <a:ext cx="1028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33" name="insight-body-background">
            <a:extLst xmlns:a="http://schemas.openxmlformats.org/drawingml/2006/main">
              <a:ext uri="{FF2B5EF4-FFF2-40B4-BE49-F238E27FC236}">
                <a16:creationId xmlns:a16="http://schemas.microsoft.com/office/drawing/2014/main" id="{A4755DF3-9D86-442A-9E53-A862026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001125"/>
            <a:ext cx="1638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4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F4EF1F8A-3A1B-4C3A-AB1F-B2E7FA2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029700"/>
            <a:ext cx="16230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已有成熟命令，任务依赖本地文件、进程、管道或完整执行语义时，优先使用 CLI；通过结构化输出与 Skill 封装提升 Agent 调用稳定性。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Agent 需要在运行时查找工具、获取调用参数，并由平台统一控制权限时，优先使用 MCP；通过渐进式发现与按需加载降低上下文开销。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2026-07-28T15:43:14.5760000Z</dcterms:created>
  <dcterms:modified xsi:type="dcterms:W3CDTF">2026-07-28T15:43:14.5760000Z</dcterms:modified>
</coreProperties>
</file>