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6596d88a2c4ac8" /><Relationship Type="http://schemas.openxmlformats.org/officeDocument/2006/relationships/extended-properties" Target="/docProps/app.xml" Id="Re65f06779cee4b72" /><Relationship Type="http://schemas.openxmlformats.org/officeDocument/2006/relationships/officeDocument" Target="/ppt/presentation.xml" Id="Rb90468dff449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a1bb262b144d64"/>
  </p:sldMasterIdLst>
  <p:notesMasterIdLst>
    <p:notesMasterId xmlns:r="http://schemas.openxmlformats.org/officeDocument/2006/relationships" r:id="R452e2a5a0b1c4113"/>
  </p:notesMasterIdLst>
  <p:sldIdLst>
    <p:sldId xmlns:r="http://schemas.openxmlformats.org/officeDocument/2006/relationships" id="256" r:id="R1e8358e5164243b1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850f40aa734d07" /><Relationship Type="http://schemas.openxmlformats.org/officeDocument/2006/relationships/slideMaster" Target="/ppt/slideMasters/slideMaster1.xml" Id="R27a1bb262b144d64" /><Relationship Type="http://schemas.openxmlformats.org/officeDocument/2006/relationships/notesMaster" Target="/ppt/notesMasters/notesMaster1.xml" Id="R452e2a5a0b1c4113" /><Relationship Type="http://schemas.openxmlformats.org/officeDocument/2006/relationships/presProps" Target="/ppt/presProps.xml" Id="R8463674b05024816" /><Relationship Type="http://schemas.openxmlformats.org/officeDocument/2006/relationships/tableStyles" Target="/ppt/tableStyles.xml" Id="R2aa798aabbc440ef" /><Relationship Type="http://schemas.openxmlformats.org/officeDocument/2006/relationships/slide" Target="/ppt/slides/slide1.xml" Id="R1e8358e5164243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569062cb8247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828b41d62418b" /><Relationship Type="http://schemas.openxmlformats.org/officeDocument/2006/relationships/notesMaster" Target="/ppt/notesMasters/notesMaster1.xml" Id="Rbb3bf821731c4f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https://docs.aws.amazon.com/bedrock-agentcore/latest/devguide/evaluations-types.html (AgentCore Evaluations types; accessed 2026-08-03)</a:t>
            </a:r>
          </a:p>
          <a:p xmlns:a="http://schemas.openxmlformats.org/drawingml/2006/main">
            <a:r>
              <a:t>- https://docs.aws.amazon.com/bedrock-agentcore/latest/devguide/ground-truth-evaluations.html (Ground Truth and expected tool trajectory; accessed 2026-08-03)</a:t>
            </a:r>
          </a:p>
          <a:p xmlns:a="http://schemas.openxmlformats.org/drawingml/2006/main">
            <a:r>
              <a:t>- https://docs.aws.amazon.com/bedrock-agentcore/latest/devguide/evaluators.html (LLM, trajectory, and Lambda evaluators; accessed 2026-08-03)</a:t>
            </a:r>
          </a:p>
          <a:p xmlns:a="http://schemas.openxmlformats.org/drawingml/2006/main">
            <a:r>
              <a:t>- https://docs.aws.amazon.com/bedrock-agentcore/latest/APIReference/API_Evaluate.html (evaluation API result boundary; accessed 2026-08-03)</a:t>
            </a:r>
          </a:p>
          <a:p xmlns:a="http://schemas.openxmlformats.org/drawingml/2006/main">
            <a:r>
              <a:t>- https://docs.aws.amazon.com/bedrock-agentcore/latest/devguide/memory-terminology.html (Event and Record terminology; accessed 2026-08-04)</a:t>
            </a:r>
          </a:p>
          <a:p xmlns:a="http://schemas.openxmlformats.org/drawingml/2006/main">
            <a:r>
              <a:t>- https://docs.aws.amazon.com/bedrock-agentcore/latest/devguide/memory-strategies.html (managed Memory strategies; accessed 2026-08-04)</a:t>
            </a:r>
          </a:p>
          <a:p xmlns:a="http://schemas.openxmlformats.org/drawingml/2006/main">
            <a:r>
              <a:t>- https://docs.aws.amazon.com/bedrock-agentcore/latest/APIReference/API_RetrieveMemoryRecords.html (namespace/query/topK retrieval; accessed 2026-08-04)</a:t>
            </a:r>
          </a:p>
          <a:p xmlns:a="http://schemas.openxmlformats.org/drawingml/2006/main">
            <a:r>
              <a:t>- https://docs.aws.amazon.com/bedrock-agentcore/latest/devguide/harness-memory.html (Harness Memory integration; accessed 2026-08-04)</a:t>
            </a:r>
          </a:p>
          <a:p xmlns:a="http://schemas.openxmlformats.org/drawingml/2006/main">
            <a:r>
              <a:t>- https://docs.aws.amazon.com/bedrock-agentcore/latest/devguide/short-term-delete-event.html (Event deletion; accessed 2026-08-04)</a:t>
            </a:r>
          </a:p>
          <a:p xmlns:a="http://schemas.openxmlformats.org/drawingml/2006/main">
            <a:r>
              <a:t>- https://docs.aws.amazon.com/bedrock-agentcore/latest/devguide/long-term-delete-memory-records.html (long-term Record deletion; accessed 2026-08-04)</a:t>
            </a:r>
          </a:p>
          <a:p xmlns:a="http://schemas.openxmlformats.org/drawingml/2006/main">
            <a:r>
              <a:t>- https://docs.aws.amazon.com/devopsagent/latest/userguide/about-aws-devops-agent-devops-agent-memories.html (DevOps Agent Memories; accessed 2026-08-04)</a:t>
            </a:r>
          </a:p>
          <a:p xmlns:a="http://schemas.openxmlformats.org/drawingml/2006/main">
            <a:r>
              <a:t>- https://aws.amazon.com/blogs/devops/leverage-agentic-ai-for-autonomous-incident-response-with-aws-devops-agent/ (DevOps Agent incident response and memories; accessed 2026-08-04)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ea351f62a45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b5a11bf5fc4bbd" /><Relationship Type="http://schemas.openxmlformats.org/officeDocument/2006/relationships/slideLayout" Target="/ppt/slideLayouts/slideLayout1.xml" Id="Rde555f6594ca49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555f6594ca49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db6d1fc894262" /><Relationship Type="http://schemas.openxmlformats.org/officeDocument/2006/relationships/notesSlide" Target="/ppt/notesSlides/notesSlide1.xml" Id="R99a5d1698ff241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9130D1D-0AE6-41AB-8F00-DB03EE8D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773BB-083F-47CF-9531-06387AA6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2247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AWS AgentCore：把执行轨迹转成质量证据，把历史交互转成可复用记忆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EE2B432-595B-4489-8DB6-C737B24B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2324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4" name="body-divider">
            <a:extLst xmlns:a="http://schemas.openxmlformats.org/drawingml/2006/main">
              <a:ext uri="{FF2B5EF4-FFF2-40B4-BE49-F238E27FC236}">
                <a16:creationId xmlns:a16="http://schemas.microsoft.com/office/drawing/2014/main" id="{AB812DA9-8A2D-49E9-823F-D926320F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1295400"/>
            <a:ext cx="0" cy="904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5" name="left-section-accent">
            <a:extLst xmlns:a="http://schemas.openxmlformats.org/drawingml/2006/main">
              <a:ext uri="{FF2B5EF4-FFF2-40B4-BE49-F238E27FC236}">
                <a16:creationId xmlns:a16="http://schemas.microsoft.com/office/drawing/2014/main" id="{D0CAF50D-27EB-408E-B1BD-0B1E2CE8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7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ft-section-title">
            <a:extLst xmlns:a="http://schemas.openxmlformats.org/drawingml/2006/main">
              <a:ext uri="{FF2B5EF4-FFF2-40B4-BE49-F238E27FC236}">
                <a16:creationId xmlns:a16="http://schemas.microsoft.com/office/drawing/2014/main" id="{7824CC75-D8EC-41CA-8DC7-C12B41E5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23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AgentCore Evaluations｜基于执行轨迹评估 Agent 的回答与执行过程</a:t>
            </a:r>
          </a:p>
        </p:txBody>
      </p:sp>
      <p:sp>
        <p:nvSpPr>
          <p:cNvPr id="7" name="evaluation-mechanism-frame">
            <a:extLst xmlns:a="http://schemas.openxmlformats.org/drawingml/2006/main">
              <a:ext uri="{FF2B5EF4-FFF2-40B4-BE49-F238E27FC236}">
                <a16:creationId xmlns:a16="http://schemas.microsoft.com/office/drawing/2014/main" id="{1239B390-A7CB-4B39-8AE7-96FDE593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85950"/>
            <a:ext cx="10944225" cy="5667375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1919"/>
            </a:solidFill>
            <a:prstDash val="solid"/>
          </a:ln>
        </p:spPr>
      </p:sp>
      <p:sp>
        <p:nvSpPr>
          <p:cNvPr id="8" name="evaluation-mechanism-pill">
            <a:extLst xmlns:a="http://schemas.openxmlformats.org/drawingml/2006/main">
              <a:ext uri="{FF2B5EF4-FFF2-40B4-BE49-F238E27FC236}">
                <a16:creationId xmlns:a16="http://schemas.microsoft.com/office/drawing/2014/main" id="{546DD837-95BA-4719-83AD-5611C8EC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57350"/>
            <a:ext cx="39814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evaluation-mechanism-pill-text">
            <a:extLst xmlns:a="http://schemas.openxmlformats.org/drawingml/2006/main">
              <a:ext uri="{FF2B5EF4-FFF2-40B4-BE49-F238E27FC236}">
                <a16:creationId xmlns:a16="http://schemas.microsoft.com/office/drawing/2014/main" id="{CFA266A5-4A4C-4AE2-86F7-D6D7966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668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AgentCore Evaluation 机制</a:t>
            </a:r>
          </a:p>
        </p:txBody>
      </p:sp>
      <p:sp>
        <p:nvSpPr>
          <p:cNvPr id="10" name="evaluation-flow-caption">
            <a:extLst xmlns:a="http://schemas.openxmlformats.org/drawingml/2006/main">
              <a:ext uri="{FF2B5EF4-FFF2-40B4-BE49-F238E27FC236}">
                <a16:creationId xmlns:a16="http://schemas.microsoft.com/office/drawing/2014/main" id="{7F37EADB-5A49-4315-9C54-674ADF01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运行合同 → 评估契约 → 证据输出</a:t>
            </a:r>
          </a:p>
        </p:txBody>
      </p:sp>
      <p:sp>
        <p:nvSpPr>
          <p:cNvPr id="11" name="evaluation-arrow-1">
            <a:extLst xmlns:a="http://schemas.openxmlformats.org/drawingml/2006/main">
              <a:ext uri="{FF2B5EF4-FFF2-40B4-BE49-F238E27FC236}">
                <a16:creationId xmlns:a16="http://schemas.microsoft.com/office/drawing/2014/main" id="{3D2FE2D4-B6CA-45A6-8215-F94BAF37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8147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2" name="evaluation-arrow-2">
            <a:extLst xmlns:a="http://schemas.openxmlformats.org/drawingml/2006/main">
              <a:ext uri="{FF2B5EF4-FFF2-40B4-BE49-F238E27FC236}">
                <a16:creationId xmlns:a16="http://schemas.microsoft.com/office/drawing/2014/main" id="{A219EA76-FC34-4A48-838A-950B9887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8147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3" name="evaluation-contracts">
            <a:extLst xmlns:a="http://schemas.openxmlformats.org/drawingml/2006/main">
              <a:ext uri="{FF2B5EF4-FFF2-40B4-BE49-F238E27FC236}">
                <a16:creationId xmlns:a16="http://schemas.microsoft.com/office/drawing/2014/main" id="{4EE43854-4012-4D86-8995-5E98FA64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2990850" cy="354330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4" name="evaluation-contracts-title">
            <a:extLst xmlns:a="http://schemas.openxmlformats.org/drawingml/2006/main">
              <a:ext uri="{FF2B5EF4-FFF2-40B4-BE49-F238E27FC236}">
                <a16:creationId xmlns:a16="http://schemas.microsoft.com/office/drawing/2014/main" id="{257F1509-197D-4C11-94FF-7999ECFD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955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① 三种运行合同</a:t>
            </a:r>
          </a:p>
        </p:txBody>
      </p:sp>
      <p:sp>
        <p:nvSpPr>
          <p:cNvPr id="15" name="evaluation-on-demand">
            <a:extLst xmlns:a="http://schemas.openxmlformats.org/drawingml/2006/main">
              <a:ext uri="{FF2B5EF4-FFF2-40B4-BE49-F238E27FC236}">
                <a16:creationId xmlns:a16="http://schemas.microsoft.com/office/drawing/2014/main" id="{1C658DF5-1E85-4384-BA8B-F198AD18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26384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3E37"/>
            </a:solidFill>
            <a:prstDash val="solid"/>
          </a:ln>
        </p:spPr>
      </p:sp>
      <p:sp>
        <p:nvSpPr>
          <p:cNvPr id="16" name="evaluation-on-demand-label">
            <a:extLst xmlns:a="http://schemas.openxmlformats.org/drawingml/2006/main">
              <a:ext uri="{FF2B5EF4-FFF2-40B4-BE49-F238E27FC236}">
                <a16:creationId xmlns:a16="http://schemas.microsoft.com/office/drawing/2014/main" id="{A3707D21-A8B8-41E0-92F9-24456CA1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290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按需</a:t>
            </a:r>
          </a:p>
        </p:txBody>
      </p:sp>
      <p:sp>
        <p:nvSpPr>
          <p:cNvPr id="17" name="evaluation-on-demand-main">
            <a:extLst xmlns:a="http://schemas.openxmlformats.org/drawingml/2006/main">
              <a:ext uri="{FF2B5EF4-FFF2-40B4-BE49-F238E27FC236}">
                <a16:creationId xmlns:a16="http://schemas.microsoft.com/office/drawing/2014/main" id="{1479A507-6938-4046-AAED-FEB56271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19475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OTel 会话轨迹</a:t>
            </a:r>
          </a:p>
        </p:txBody>
      </p:sp>
      <p:sp>
        <p:nvSpPr>
          <p:cNvPr id="18" name="evaluation-on-demand-sub">
            <a:extLst xmlns:a="http://schemas.openxmlformats.org/drawingml/2006/main">
              <a:ext uri="{FF2B5EF4-FFF2-40B4-BE49-F238E27FC236}">
                <a16:creationId xmlns:a16="http://schemas.microsoft.com/office/drawing/2014/main" id="{01E19110-BACC-4DD3-AC59-0E2351CF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24275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同步｜可带真值</a:t>
            </a:r>
          </a:p>
        </p:txBody>
      </p:sp>
      <p:sp>
        <p:nvSpPr>
          <p:cNvPr id="19" name="evaluation-batch">
            <a:extLst xmlns:a="http://schemas.openxmlformats.org/drawingml/2006/main">
              <a:ext uri="{FF2B5EF4-FFF2-40B4-BE49-F238E27FC236}">
                <a16:creationId xmlns:a16="http://schemas.microsoft.com/office/drawing/2014/main" id="{8598F49C-872C-4D45-A544-C8A8FC31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171950"/>
            <a:ext cx="26384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0" name="evaluation-batch-label">
            <a:extLst xmlns:a="http://schemas.openxmlformats.org/drawingml/2006/main">
              <a:ext uri="{FF2B5EF4-FFF2-40B4-BE49-F238E27FC236}">
                <a16:creationId xmlns:a16="http://schemas.microsoft.com/office/drawing/2014/main" id="{C847C430-4822-4AE0-B3C7-F66181A8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148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批量</a:t>
            </a:r>
          </a:p>
        </p:txBody>
      </p:sp>
      <p:sp>
        <p:nvSpPr>
          <p:cNvPr id="21" name="evaluation-batch-main">
            <a:extLst xmlns:a="http://schemas.openxmlformats.org/drawingml/2006/main">
              <a:ext uri="{FF2B5EF4-FFF2-40B4-BE49-F238E27FC236}">
                <a16:creationId xmlns:a16="http://schemas.microsoft.com/office/drawing/2014/main" id="{A68C9FE7-CF77-46D7-AE8A-E88CDD37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0530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CloudWatch 会话</a:t>
            </a:r>
          </a:p>
        </p:txBody>
      </p:sp>
      <p:sp>
        <p:nvSpPr>
          <p:cNvPr id="22" name="evaluation-batch-sub">
            <a:extLst xmlns:a="http://schemas.openxmlformats.org/drawingml/2006/main">
              <a:ext uri="{FF2B5EF4-FFF2-40B4-BE49-F238E27FC236}">
                <a16:creationId xmlns:a16="http://schemas.microsoft.com/office/drawing/2014/main" id="{D1511278-18A5-4E49-9C84-9CF72AD9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10100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异步｜可带真值</a:t>
            </a:r>
          </a:p>
        </p:txBody>
      </p:sp>
      <p:sp>
        <p:nvSpPr>
          <p:cNvPr id="23" name="evaluation-online">
            <a:extLst xmlns:a="http://schemas.openxmlformats.org/drawingml/2006/main">
              <a:ext uri="{FF2B5EF4-FFF2-40B4-BE49-F238E27FC236}">
                <a16:creationId xmlns:a16="http://schemas.microsoft.com/office/drawing/2014/main" id="{D41C2B49-F1DB-4B2B-8B2E-F920C831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48250"/>
            <a:ext cx="26384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4" name="evaluation-online-label">
            <a:extLst xmlns:a="http://schemas.openxmlformats.org/drawingml/2006/main">
              <a:ext uri="{FF2B5EF4-FFF2-40B4-BE49-F238E27FC236}">
                <a16:creationId xmlns:a16="http://schemas.microsoft.com/office/drawing/2014/main" id="{A10BAE8B-DCE8-4601-8BCE-7CBDDF5D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191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在线</a:t>
            </a:r>
          </a:p>
        </p:txBody>
      </p:sp>
      <p:sp>
        <p:nvSpPr>
          <p:cNvPr id="25" name="evaluation-online-main">
            <a:extLst xmlns:a="http://schemas.openxmlformats.org/drawingml/2006/main">
              <a:ext uri="{FF2B5EF4-FFF2-40B4-BE49-F238E27FC236}">
                <a16:creationId xmlns:a16="http://schemas.microsoft.com/office/drawing/2014/main" id="{AFC5E6C7-F7D4-413A-8CDB-A85163AC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8160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生产轨迹采样</a:t>
            </a:r>
          </a:p>
        </p:txBody>
      </p:sp>
      <p:sp>
        <p:nvSpPr>
          <p:cNvPr id="26" name="evaluation-online-sub">
            <a:extLst xmlns:a="http://schemas.openxmlformats.org/drawingml/2006/main">
              <a:ext uri="{FF2B5EF4-FFF2-40B4-BE49-F238E27FC236}">
                <a16:creationId xmlns:a16="http://schemas.microsoft.com/office/drawing/2014/main" id="{DD6999F3-6BEE-4906-BFE8-30BD57B1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86400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持续｜无真值</a:t>
            </a:r>
          </a:p>
        </p:txBody>
      </p:sp>
      <p:sp>
        <p:nvSpPr>
          <p:cNvPr id="27" name="evaluation-contract">
            <a:extLst xmlns:a="http://schemas.openxmlformats.org/drawingml/2006/main">
              <a:ext uri="{FF2B5EF4-FFF2-40B4-BE49-F238E27FC236}">
                <a16:creationId xmlns:a16="http://schemas.microsoft.com/office/drawing/2014/main" id="{A9F5271B-CEC9-49A3-81E2-7470986B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05075"/>
            <a:ext cx="2990850" cy="354330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19050">
            <a:solidFill>
              <a:srgbClr val="C73E37"/>
            </a:solidFill>
            <a:prstDash val="solid"/>
          </a:ln>
        </p:spPr>
      </p:sp>
      <p:sp>
        <p:nvSpPr>
          <p:cNvPr id="28" name="evaluation-contract-title">
            <a:extLst xmlns:a="http://schemas.openxmlformats.org/drawingml/2006/main">
              <a:ext uri="{FF2B5EF4-FFF2-40B4-BE49-F238E27FC236}">
                <a16:creationId xmlns:a16="http://schemas.microsoft.com/office/drawing/2014/main" id="{6C719D0F-9C69-433F-AAEB-322CE6B6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955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② 评估契约</a:t>
            </a:r>
          </a:p>
        </p:txBody>
      </p:sp>
      <p:sp>
        <p:nvSpPr>
          <p:cNvPr id="29" name="evaluation-level-label">
            <a:extLst xmlns:a="http://schemas.openxmlformats.org/drawingml/2006/main">
              <a:ext uri="{FF2B5EF4-FFF2-40B4-BE49-F238E27FC236}">
                <a16:creationId xmlns:a16="http://schemas.microsoft.com/office/drawing/2014/main" id="{DDAAA503-B11C-4CC2-AF34-FBA4796A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956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评估层级</a:t>
            </a:r>
          </a:p>
        </p:txBody>
      </p:sp>
      <p:sp>
        <p:nvSpPr>
          <p:cNvPr id="30" name="evaluation-level-session">
            <a:extLst xmlns:a="http://schemas.openxmlformats.org/drawingml/2006/main">
              <a:ext uri="{FF2B5EF4-FFF2-40B4-BE49-F238E27FC236}">
                <a16:creationId xmlns:a16="http://schemas.microsoft.com/office/drawing/2014/main" id="{95BCB4D6-A6AF-4DA4-8465-CA2DF6A1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09975"/>
            <a:ext cx="762000" cy="352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1" name="evaluation-level-session-text">
            <a:extLst xmlns:a="http://schemas.openxmlformats.org/drawingml/2006/main">
              <a:ext uri="{FF2B5EF4-FFF2-40B4-BE49-F238E27FC236}">
                <a16:creationId xmlns:a16="http://schemas.microsoft.com/office/drawing/2014/main" id="{C86B182F-96EC-4BBB-83F3-F288A48D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32" name="evaluation-level-trace">
            <a:extLst xmlns:a="http://schemas.openxmlformats.org/drawingml/2006/main">
              <a:ext uri="{FF2B5EF4-FFF2-40B4-BE49-F238E27FC236}">
                <a16:creationId xmlns:a16="http://schemas.microsoft.com/office/drawing/2014/main" id="{2E7C868B-11FC-43A4-AA45-28D49C64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9975"/>
            <a:ext cx="762000" cy="352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3" name="evaluation-level-trace-text">
            <a:extLst xmlns:a="http://schemas.openxmlformats.org/drawingml/2006/main">
              <a:ext uri="{FF2B5EF4-FFF2-40B4-BE49-F238E27FC236}">
                <a16:creationId xmlns:a16="http://schemas.microsoft.com/office/drawing/2014/main" id="{09398131-9B43-4838-88D9-F06F5B6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轨迹</a:t>
            </a:r>
          </a:p>
        </p:txBody>
      </p:sp>
      <p:sp>
        <p:nvSpPr>
          <p:cNvPr id="34" name="evaluation-level-tool">
            <a:extLst xmlns:a="http://schemas.openxmlformats.org/drawingml/2006/main">
              <a:ext uri="{FF2B5EF4-FFF2-40B4-BE49-F238E27FC236}">
                <a16:creationId xmlns:a16="http://schemas.microsoft.com/office/drawing/2014/main" id="{0BE3A9CD-2C4C-40C2-AECE-80B80237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9975"/>
            <a:ext cx="828675" cy="352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5" name="evaluation-level-tool-text">
            <a:extLst xmlns:a="http://schemas.openxmlformats.org/drawingml/2006/main">
              <a:ext uri="{FF2B5EF4-FFF2-40B4-BE49-F238E27FC236}">
                <a16:creationId xmlns:a16="http://schemas.microsoft.com/office/drawing/2014/main" id="{42B6F654-3F3B-4DED-B9EF-DA54D009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752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36" name="evaluation-contract-rule">
            <a:extLst xmlns:a="http://schemas.openxmlformats.org/drawingml/2006/main">
              <a:ext uri="{FF2B5EF4-FFF2-40B4-BE49-F238E27FC236}">
                <a16:creationId xmlns:a16="http://schemas.microsoft.com/office/drawing/2014/main" id="{2681DDA8-7A61-4F4E-86C5-B9A1DB7D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6242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7" name="evaluation-method-label">
            <a:extLst xmlns:a="http://schemas.openxmlformats.org/drawingml/2006/main">
              <a:ext uri="{FF2B5EF4-FFF2-40B4-BE49-F238E27FC236}">
                <a16:creationId xmlns:a16="http://schemas.microsoft.com/office/drawing/2014/main" id="{BD6F4C76-7ED5-4AE3-861C-D10389FE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434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评估方法</a:t>
            </a:r>
          </a:p>
        </p:txBody>
      </p:sp>
      <p:sp>
        <p:nvSpPr>
          <p:cNvPr id="38" name="evaluation-model">
            <a:extLst xmlns:a="http://schemas.openxmlformats.org/drawingml/2006/main">
              <a:ext uri="{FF2B5EF4-FFF2-40B4-BE49-F238E27FC236}">
                <a16:creationId xmlns:a16="http://schemas.microsoft.com/office/drawing/2014/main" id="{183B07FE-A4FA-49DF-A749-3C5A0D8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95825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模型评审</a:t>
            </a:r>
          </a:p>
        </p:txBody>
      </p:sp>
      <p:sp>
        <p:nvSpPr>
          <p:cNvPr id="39" name="evaluation-model-desc">
            <a:extLst xmlns:a="http://schemas.openxmlformats.org/drawingml/2006/main">
              <a:ext uri="{FF2B5EF4-FFF2-40B4-BE49-F238E27FC236}">
                <a16:creationId xmlns:a16="http://schemas.microsoft.com/office/drawing/2014/main" id="{A5372796-C8E4-488C-8BA2-0669D896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95825"/>
            <a:ext cx="145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语义／质量信号</a:t>
            </a:r>
          </a:p>
        </p:txBody>
      </p:sp>
      <p:sp>
        <p:nvSpPr>
          <p:cNvPr id="40" name="evaluation-trajectory">
            <a:extLst xmlns:a="http://schemas.openxmlformats.org/drawingml/2006/main">
              <a:ext uri="{FF2B5EF4-FFF2-40B4-BE49-F238E27FC236}">
                <a16:creationId xmlns:a16="http://schemas.microsoft.com/office/drawing/2014/main" id="{E4976957-9C61-450A-BC42-072C601D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14925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轨迹规则</a:t>
            </a:r>
          </a:p>
        </p:txBody>
      </p:sp>
      <p:sp>
        <p:nvSpPr>
          <p:cNvPr id="41" name="evaluation-trajectory-desc">
            <a:extLst xmlns:a="http://schemas.openxmlformats.org/drawingml/2006/main">
              <a:ext uri="{FF2B5EF4-FFF2-40B4-BE49-F238E27FC236}">
                <a16:creationId xmlns:a16="http://schemas.microsoft.com/office/drawing/2014/main" id="{5867A0FD-C0F9-47FE-97DD-8D48F885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14925"/>
            <a:ext cx="145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工具名称与顺序</a:t>
            </a:r>
          </a:p>
        </p:txBody>
      </p:sp>
      <p:sp>
        <p:nvSpPr>
          <p:cNvPr id="42" name="evaluation-lambda">
            <a:extLst xmlns:a="http://schemas.openxmlformats.org/drawingml/2006/main">
              <a:ext uri="{FF2B5EF4-FFF2-40B4-BE49-F238E27FC236}">
                <a16:creationId xmlns:a16="http://schemas.microsoft.com/office/drawing/2014/main" id="{A0F6679D-AEA5-4790-B7AD-E14454A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34025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Lambda</a:t>
            </a:r>
          </a:p>
        </p:txBody>
      </p:sp>
      <p:sp>
        <p:nvSpPr>
          <p:cNvPr id="43" name="evaluation-lambda-desc">
            <a:extLst xmlns:a="http://schemas.openxmlformats.org/drawingml/2006/main">
              <a:ext uri="{FF2B5EF4-FFF2-40B4-BE49-F238E27FC236}">
                <a16:creationId xmlns:a16="http://schemas.microsoft.com/office/drawing/2014/main" id="{453597A3-2B1A-4FA9-8AE3-93C61404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340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自定义规则／外部检查</a:t>
            </a:r>
          </a:p>
        </p:txBody>
      </p:sp>
      <p:sp>
        <p:nvSpPr>
          <p:cNvPr id="44" name="evaluation-outputs">
            <a:extLst xmlns:a="http://schemas.openxmlformats.org/drawingml/2006/main">
              <a:ext uri="{FF2B5EF4-FFF2-40B4-BE49-F238E27FC236}">
                <a16:creationId xmlns:a16="http://schemas.microsoft.com/office/drawing/2014/main" id="{382A296D-2581-4C4F-BC5D-2CB57512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05075"/>
            <a:ext cx="2990850" cy="354330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45" name="evaluation-outputs-title">
            <a:extLst xmlns:a="http://schemas.openxmlformats.org/drawingml/2006/main">
              <a:ext uri="{FF2B5EF4-FFF2-40B4-BE49-F238E27FC236}">
                <a16:creationId xmlns:a16="http://schemas.microsoft.com/office/drawing/2014/main" id="{5A464E9E-C69D-44AB-B3DE-9C29A52E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③ 对应证据输出</a:t>
            </a:r>
          </a:p>
        </p:txBody>
      </p:sp>
      <p:sp>
        <p:nvSpPr>
          <p:cNvPr id="46" name="evaluation-output-on-demand">
            <a:extLst xmlns:a="http://schemas.openxmlformats.org/drawingml/2006/main">
              <a:ext uri="{FF2B5EF4-FFF2-40B4-BE49-F238E27FC236}">
                <a16:creationId xmlns:a16="http://schemas.microsoft.com/office/drawing/2014/main" id="{71B7AA50-D30C-4F67-89C6-236FE39C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26384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47" name="evaluation-output-on-demand-label">
            <a:extLst xmlns:a="http://schemas.openxmlformats.org/drawingml/2006/main">
              <a:ext uri="{FF2B5EF4-FFF2-40B4-BE49-F238E27FC236}">
                <a16:creationId xmlns:a16="http://schemas.microsoft.com/office/drawing/2014/main" id="{2CECEC31-7E5C-49F3-B96C-817F7FBE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290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按需</a:t>
            </a:r>
          </a:p>
        </p:txBody>
      </p:sp>
      <p:sp>
        <p:nvSpPr>
          <p:cNvPr id="48" name="evaluation-output-on-demand-main">
            <a:extLst xmlns:a="http://schemas.openxmlformats.org/drawingml/2006/main">
              <a:ext uri="{FF2B5EF4-FFF2-40B4-BE49-F238E27FC236}">
                <a16:creationId xmlns:a16="http://schemas.microsoft.com/office/drawing/2014/main" id="{B1CF2FE5-447D-4301-B509-17006462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19475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分数／标签／解释</a:t>
            </a:r>
          </a:p>
        </p:txBody>
      </p:sp>
      <p:sp>
        <p:nvSpPr>
          <p:cNvPr id="49" name="evaluation-output-batch">
            <a:extLst xmlns:a="http://schemas.openxmlformats.org/drawingml/2006/main">
              <a:ext uri="{FF2B5EF4-FFF2-40B4-BE49-F238E27FC236}">
                <a16:creationId xmlns:a16="http://schemas.microsoft.com/office/drawing/2014/main" id="{25E1A9E6-3598-45C6-A612-45ED68D4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71950"/>
            <a:ext cx="26384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50" name="evaluation-output-batch-label">
            <a:extLst xmlns:a="http://schemas.openxmlformats.org/drawingml/2006/main">
              <a:ext uri="{FF2B5EF4-FFF2-40B4-BE49-F238E27FC236}">
                <a16:creationId xmlns:a16="http://schemas.microsoft.com/office/drawing/2014/main" id="{FCB897A3-99BF-49DC-AB27-2CE55BF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批量</a:t>
            </a:r>
          </a:p>
        </p:txBody>
      </p:sp>
      <p:sp>
        <p:nvSpPr>
          <p:cNvPr id="51" name="evaluation-output-batch-main">
            <a:extLst xmlns:a="http://schemas.openxmlformats.org/drawingml/2006/main">
              <a:ext uri="{FF2B5EF4-FFF2-40B4-BE49-F238E27FC236}">
                <a16:creationId xmlns:a16="http://schemas.microsoft.com/office/drawing/2014/main" id="{807AC893-56F4-4B40-BF9B-10558593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0530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聚合均值</a:t>
            </a:r>
          </a:p>
        </p:txBody>
      </p:sp>
      <p:sp>
        <p:nvSpPr>
          <p:cNvPr id="52" name="evaluation-output-batch-sub">
            <a:extLst xmlns:a="http://schemas.openxmlformats.org/drawingml/2006/main">
              <a:ext uri="{FF2B5EF4-FFF2-40B4-BE49-F238E27FC236}">
                <a16:creationId xmlns:a16="http://schemas.microsoft.com/office/drawing/2014/main" id="{BE4E8FC6-96B8-4FF2-87BE-88C7B807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0100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逐会话明细</a:t>
            </a:r>
          </a:p>
        </p:txBody>
      </p:sp>
      <p:sp>
        <p:nvSpPr>
          <p:cNvPr id="53" name="evaluation-output-online">
            <a:extLst xmlns:a="http://schemas.openxmlformats.org/drawingml/2006/main">
              <a:ext uri="{FF2B5EF4-FFF2-40B4-BE49-F238E27FC236}">
                <a16:creationId xmlns:a16="http://schemas.microsoft.com/office/drawing/2014/main" id="{6E87717D-576E-448B-BC55-D9408247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48250"/>
            <a:ext cx="26384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54" name="evaluation-output-online-label">
            <a:extLst xmlns:a="http://schemas.openxmlformats.org/drawingml/2006/main">
              <a:ext uri="{FF2B5EF4-FFF2-40B4-BE49-F238E27FC236}">
                <a16:creationId xmlns:a16="http://schemas.microsoft.com/office/drawing/2014/main" id="{5B9B84E0-81C0-4F60-9169-F194842E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191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在线</a:t>
            </a:r>
          </a:p>
        </p:txBody>
      </p:sp>
      <p:sp>
        <p:nvSpPr>
          <p:cNvPr id="55" name="evaluation-output-online-main">
            <a:extLst xmlns:a="http://schemas.openxmlformats.org/drawingml/2006/main">
              <a:ext uri="{FF2B5EF4-FFF2-40B4-BE49-F238E27FC236}">
                <a16:creationId xmlns:a16="http://schemas.microsoft.com/office/drawing/2014/main" id="{63ECF7F4-E967-4ED9-823B-4940906F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8160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3F3F"/>
                </a:solidFill>
                <a:latin typeface="Microsoft YaHei"/>
                <a:ea typeface="Microsoft YaHei"/>
                <a:cs typeface="Microsoft YaHei"/>
              </a:rPr>
              <a:t>指标／结果日志</a:t>
            </a:r>
          </a:p>
        </p:txBody>
      </p:sp>
      <p:sp>
        <p:nvSpPr>
          <p:cNvPr id="56" name="evaluation-output-online-sub">
            <a:extLst xmlns:a="http://schemas.openxmlformats.org/drawingml/2006/main">
              <a:ext uri="{FF2B5EF4-FFF2-40B4-BE49-F238E27FC236}">
                <a16:creationId xmlns:a16="http://schemas.microsoft.com/office/drawing/2014/main" id="{4EE5638B-53B5-4BD8-BC17-BA8C1CC7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486400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低分会话</a:t>
            </a:r>
          </a:p>
        </p:txBody>
      </p:sp>
      <p:sp>
        <p:nvSpPr>
          <p:cNvPr id="57" name="evaluation-before">
            <a:extLst xmlns:a="http://schemas.openxmlformats.org/drawingml/2006/main">
              <a:ext uri="{FF2B5EF4-FFF2-40B4-BE49-F238E27FC236}">
                <a16:creationId xmlns:a16="http://schemas.microsoft.com/office/drawing/2014/main" id="{AAC0A99D-03AB-469B-B7C8-8D017F56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96025"/>
            <a:ext cx="4324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58" name="evaluation-before-text">
            <a:extLst xmlns:a="http://schemas.openxmlformats.org/drawingml/2006/main">
              <a:ext uri="{FF2B5EF4-FFF2-40B4-BE49-F238E27FC236}">
                <a16:creationId xmlns:a16="http://schemas.microsoft.com/office/drawing/2014/main" id="{FCD3F49C-4EAC-4356-9C1A-6EA00124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05550"/>
            <a:ext cx="424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变更前：按需／批量 + 参考真值</a:t>
            </a:r>
          </a:p>
        </p:txBody>
      </p:sp>
      <p:sp>
        <p:nvSpPr>
          <p:cNvPr id="59" name="evaluation-lifecycle-arrow">
            <a:extLst xmlns:a="http://schemas.openxmlformats.org/drawingml/2006/main">
              <a:ext uri="{FF2B5EF4-FFF2-40B4-BE49-F238E27FC236}">
                <a16:creationId xmlns:a16="http://schemas.microsoft.com/office/drawing/2014/main" id="{0E7E20A2-7F2F-48CD-B017-F0F10DBC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6429375"/>
            <a:ext cx="6953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3E37"/>
          </a:solidFill>
          <a:ln xmlns:a="http://schemas.openxmlformats.org/drawingml/2006/main" w="0">
            <a:solidFill>
              <a:srgbClr val="C73E37"/>
            </a:solidFill>
            <a:prstDash val="solid"/>
          </a:ln>
        </p:spPr>
      </p:sp>
      <p:sp>
        <p:nvSpPr>
          <p:cNvPr id="60" name="evaluation-production">
            <a:extLst xmlns:a="http://schemas.openxmlformats.org/drawingml/2006/main">
              <a:ext uri="{FF2B5EF4-FFF2-40B4-BE49-F238E27FC236}">
                <a16:creationId xmlns:a16="http://schemas.microsoft.com/office/drawing/2014/main" id="{D525DFA8-25F8-4E9A-B5F1-CC4A31C7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296025"/>
            <a:ext cx="43053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0">
            <a:solidFill>
              <a:srgbClr val="FBEDEC"/>
            </a:solidFill>
            <a:prstDash val="solid"/>
          </a:ln>
        </p:spPr>
      </p:sp>
      <p:sp>
        <p:nvSpPr>
          <p:cNvPr id="61" name="evaluation-production-text">
            <a:extLst xmlns:a="http://schemas.openxmlformats.org/drawingml/2006/main">
              <a:ext uri="{FF2B5EF4-FFF2-40B4-BE49-F238E27FC236}">
                <a16:creationId xmlns:a16="http://schemas.microsoft.com/office/drawing/2014/main" id="{A3FBF691-5AF1-437A-B484-E58872FF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30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生产中：在线采样 + 低分轨迹</a:t>
            </a:r>
          </a:p>
        </p:txBody>
      </p:sp>
      <p:sp>
        <p:nvSpPr>
          <p:cNvPr id="62" name="evaluation-loop-boundary">
            <a:extLst xmlns:a="http://schemas.openxmlformats.org/drawingml/2006/main">
              <a:ext uri="{FF2B5EF4-FFF2-40B4-BE49-F238E27FC236}">
                <a16:creationId xmlns:a16="http://schemas.microsoft.com/office/drawing/2014/main" id="{D5FAC958-715F-4B94-9790-E96C577F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716280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失败轨迹回流为回归场景需企业侧编排</a:t>
            </a:r>
          </a:p>
        </p:txBody>
      </p:sp>
      <p:sp>
        <p:nvSpPr>
          <p:cNvPr id="63" name="evaluation-practice">
            <a:extLst xmlns:a="http://schemas.openxmlformats.org/drawingml/2006/main">
              <a:ext uri="{FF2B5EF4-FFF2-40B4-BE49-F238E27FC236}">
                <a16:creationId xmlns:a16="http://schemas.microsoft.com/office/drawing/2014/main" id="{BFFE8956-FB5D-44C6-8050-559648D8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810500"/>
            <a:ext cx="10944225" cy="243840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64" name="evaluation-practice-pill">
            <a:extLst xmlns:a="http://schemas.openxmlformats.org/drawingml/2006/main">
              <a:ext uri="{FF2B5EF4-FFF2-40B4-BE49-F238E27FC236}">
                <a16:creationId xmlns:a16="http://schemas.microsoft.com/office/drawing/2014/main" id="{54B71F73-2A97-4C2A-BCA8-78D59736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991475"/>
            <a:ext cx="1409700" cy="352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65" name="evaluation-practice-pill-text">
            <a:extLst xmlns:a="http://schemas.openxmlformats.org/drawingml/2006/main">
              <a:ext uri="{FF2B5EF4-FFF2-40B4-BE49-F238E27FC236}">
                <a16:creationId xmlns:a16="http://schemas.microsoft.com/office/drawing/2014/main" id="{556AA13E-E74C-4322-BABA-D032920B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01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评测落地</a:t>
            </a:r>
          </a:p>
        </p:txBody>
      </p:sp>
      <p:sp>
        <p:nvSpPr>
          <p:cNvPr id="66" name="evaluation-practice-caption">
            <a:extLst xmlns:a="http://schemas.openxmlformats.org/drawingml/2006/main">
              <a:ext uri="{FF2B5EF4-FFF2-40B4-BE49-F238E27FC236}">
                <a16:creationId xmlns:a16="http://schemas.microsoft.com/office/drawing/2014/main" id="{1D41C616-3DF4-4217-9030-3604B5BC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04862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数据来源｜检查方式｜结果使用</a:t>
            </a:r>
          </a:p>
        </p:txBody>
      </p:sp>
      <p:sp>
        <p:nvSpPr>
          <p:cNvPr id="67" name="practice-row-1">
            <a:extLst xmlns:a="http://schemas.openxmlformats.org/drawingml/2006/main">
              <a:ext uri="{FF2B5EF4-FFF2-40B4-BE49-F238E27FC236}">
                <a16:creationId xmlns:a16="http://schemas.microsoft.com/office/drawing/2014/main" id="{98BB3FC4-5DBB-4ABF-BA66-208F02F9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8429625"/>
            <a:ext cx="10487025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9E9E9"/>
            </a:solidFill>
            <a:prstDash val="solid"/>
          </a:ln>
        </p:spPr>
      </p:sp>
      <p:sp>
        <p:nvSpPr>
          <p:cNvPr id="68" name="practice-row-1-num">
            <a:extLst xmlns:a="http://schemas.openxmlformats.org/drawingml/2006/main">
              <a:ext uri="{FF2B5EF4-FFF2-40B4-BE49-F238E27FC236}">
                <a16:creationId xmlns:a16="http://schemas.microsoft.com/office/drawing/2014/main" id="{8311A9D4-1FDF-411C-BA97-3D98D2A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8505825"/>
            <a:ext cx="457200" cy="352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69" name="practice-row-1-num-text">
            <a:extLst xmlns:a="http://schemas.openxmlformats.org/drawingml/2006/main">
              <a:ext uri="{FF2B5EF4-FFF2-40B4-BE49-F238E27FC236}">
                <a16:creationId xmlns:a16="http://schemas.microsoft.com/office/drawing/2014/main" id="{688102E1-4DD3-4932-B6A9-DEE972D2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5153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0" name="practice-row-1-title">
            <a:extLst xmlns:a="http://schemas.openxmlformats.org/drawingml/2006/main">
              <a:ext uri="{FF2B5EF4-FFF2-40B4-BE49-F238E27FC236}">
                <a16:creationId xmlns:a16="http://schemas.microsoft.com/office/drawing/2014/main" id="{C943B18C-2942-4AC3-838F-EC035032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8505825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在不同阶段取不同的数据</a:t>
            </a:r>
          </a:p>
        </p:txBody>
      </p:sp>
      <p:sp>
        <p:nvSpPr>
          <p:cNvPr id="71" name="practice-row-1-divider">
            <a:extLst xmlns:a="http://schemas.openxmlformats.org/drawingml/2006/main">
              <a:ext uri="{FF2B5EF4-FFF2-40B4-BE49-F238E27FC236}">
                <a16:creationId xmlns:a16="http://schemas.microsoft.com/office/drawing/2014/main" id="{CCE83011-7980-427B-B2E5-452CFE25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5248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72" name="practice-row-1-desc">
            <a:extLst xmlns:a="http://schemas.openxmlformats.org/drawingml/2006/main">
              <a:ext uri="{FF2B5EF4-FFF2-40B4-BE49-F238E27FC236}">
                <a16:creationId xmlns:a16="http://schemas.microsoft.com/office/drawing/2014/main" id="{B4490BE3-E609-448A-A6B5-F7B298F0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8486775"/>
            <a:ext cx="6448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按需和批量用于发布前测试，检查 Agent 的实际执行是否符合预期；在线评测用于上线后监测真实请求。</a:t>
            </a:r>
          </a:p>
        </p:txBody>
      </p:sp>
      <p:sp>
        <p:nvSpPr>
          <p:cNvPr id="73" name="practice-row-2">
            <a:extLst xmlns:a="http://schemas.openxmlformats.org/drawingml/2006/main">
              <a:ext uri="{FF2B5EF4-FFF2-40B4-BE49-F238E27FC236}">
                <a16:creationId xmlns:a16="http://schemas.microsoft.com/office/drawing/2014/main" id="{22F34325-0FCB-46C7-8B5A-CA754573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9020175"/>
            <a:ext cx="10487025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C73E37"/>
            </a:solidFill>
            <a:prstDash val="solid"/>
          </a:ln>
        </p:spPr>
      </p:sp>
      <p:sp>
        <p:nvSpPr>
          <p:cNvPr id="74" name="practice-row-2-num">
            <a:extLst xmlns:a="http://schemas.openxmlformats.org/drawingml/2006/main">
              <a:ext uri="{FF2B5EF4-FFF2-40B4-BE49-F238E27FC236}">
                <a16:creationId xmlns:a16="http://schemas.microsoft.com/office/drawing/2014/main" id="{8E2A9581-B74C-4FEB-95D9-16D333B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9096375"/>
            <a:ext cx="457200" cy="352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7"/>
          </a:solidFill>
          <a:ln xmlns:a="http://schemas.openxmlformats.org/drawingml/2006/main" w="0">
            <a:solidFill>
              <a:srgbClr val="C73E37"/>
            </a:solidFill>
            <a:prstDash val="solid"/>
          </a:ln>
        </p:spPr>
      </p:sp>
      <p:sp>
        <p:nvSpPr>
          <p:cNvPr id="75" name="practice-row-2-num-text">
            <a:extLst xmlns:a="http://schemas.openxmlformats.org/drawingml/2006/main">
              <a:ext uri="{FF2B5EF4-FFF2-40B4-BE49-F238E27FC236}">
                <a16:creationId xmlns:a16="http://schemas.microsoft.com/office/drawing/2014/main" id="{12F8FA8D-9CD5-49D0-93D5-AA77D97A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1059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6" name="practice-row-2-title">
            <a:extLst xmlns:a="http://schemas.openxmlformats.org/drawingml/2006/main">
              <a:ext uri="{FF2B5EF4-FFF2-40B4-BE49-F238E27FC236}">
                <a16:creationId xmlns:a16="http://schemas.microsoft.com/office/drawing/2014/main" id="{ADAC8A97-5A0D-47D1-8C18-D1F8D7D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096375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先确定检查对象，再选择检查方式</a:t>
            </a:r>
          </a:p>
        </p:txBody>
      </p:sp>
      <p:sp>
        <p:nvSpPr>
          <p:cNvPr id="77" name="practice-row-2-divider">
            <a:extLst xmlns:a="http://schemas.openxmlformats.org/drawingml/2006/main">
              <a:ext uri="{FF2B5EF4-FFF2-40B4-BE49-F238E27FC236}">
                <a16:creationId xmlns:a16="http://schemas.microsoft.com/office/drawing/2014/main" id="{BC4E2CF6-0421-4F7C-BB9A-0E75F1E3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1154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3E37"/>
            </a:solidFill>
            <a:prstDash val="solid"/>
          </a:ln>
        </p:spPr>
      </p:sp>
      <p:sp>
        <p:nvSpPr>
          <p:cNvPr id="78" name="practice-row-2-desc">
            <a:extLst xmlns:a="http://schemas.openxmlformats.org/drawingml/2006/main">
              <a:ext uri="{FF2B5EF4-FFF2-40B4-BE49-F238E27FC236}">
                <a16:creationId xmlns:a16="http://schemas.microsoft.com/office/drawing/2014/main" id="{896C460F-41A2-4640-B487-6DBC0A9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9077325"/>
            <a:ext cx="6448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可以评整个会话、一段轨迹或一次工具调用，再选择模型评审、轨迹规则或自定义代码检查（Lambda）。</a:t>
            </a:r>
          </a:p>
        </p:txBody>
      </p:sp>
      <p:sp>
        <p:nvSpPr>
          <p:cNvPr id="79" name="practice-row-3">
            <a:extLst xmlns:a="http://schemas.openxmlformats.org/drawingml/2006/main">
              <a:ext uri="{FF2B5EF4-FFF2-40B4-BE49-F238E27FC236}">
                <a16:creationId xmlns:a16="http://schemas.microsoft.com/office/drawing/2014/main" id="{20DFA8B7-603A-48BA-8491-637B454F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9610725"/>
            <a:ext cx="10487025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9E9E9"/>
            </a:solidFill>
            <a:prstDash val="solid"/>
          </a:ln>
        </p:spPr>
      </p:sp>
      <p:sp>
        <p:nvSpPr>
          <p:cNvPr id="80" name="practice-row-3-num">
            <a:extLst xmlns:a="http://schemas.openxmlformats.org/drawingml/2006/main">
              <a:ext uri="{FF2B5EF4-FFF2-40B4-BE49-F238E27FC236}">
                <a16:creationId xmlns:a16="http://schemas.microsoft.com/office/drawing/2014/main" id="{56C42618-34FD-4513-BE22-E2F0A337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9686925"/>
            <a:ext cx="457200" cy="352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81" name="practice-row-3-num-text">
            <a:extLst xmlns:a="http://schemas.openxmlformats.org/drawingml/2006/main">
              <a:ext uri="{FF2B5EF4-FFF2-40B4-BE49-F238E27FC236}">
                <a16:creationId xmlns:a16="http://schemas.microsoft.com/office/drawing/2014/main" id="{FB99D006-F986-4BD7-84B9-5852B297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6964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2" name="practice-row-3-title">
            <a:extLst xmlns:a="http://schemas.openxmlformats.org/drawingml/2006/main">
              <a:ext uri="{FF2B5EF4-FFF2-40B4-BE49-F238E27FC236}">
                <a16:creationId xmlns:a16="http://schemas.microsoft.com/office/drawing/2014/main" id="{C8D239EA-3BB0-457B-A8EF-DA072F9D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686925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AgentCore 给结果，外部流程做决定</a:t>
            </a:r>
          </a:p>
        </p:txBody>
      </p:sp>
      <p:sp>
        <p:nvSpPr>
          <p:cNvPr id="83" name="practice-row-3-divider">
            <a:extLst xmlns:a="http://schemas.openxmlformats.org/drawingml/2006/main">
              <a:ext uri="{FF2B5EF4-FFF2-40B4-BE49-F238E27FC236}">
                <a16:creationId xmlns:a16="http://schemas.microsoft.com/office/drawing/2014/main" id="{73E37B2A-6E31-437E-A0F9-9A4CCC06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7059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84" name="practice-row-3-desc">
            <a:extLst xmlns:a="http://schemas.openxmlformats.org/drawingml/2006/main">
              <a:ext uri="{FF2B5EF4-FFF2-40B4-BE49-F238E27FC236}">
                <a16:creationId xmlns:a16="http://schemas.microsoft.com/office/drawing/2014/main" id="{7661D24A-74C8-4DDF-9293-F6FF099D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9667875"/>
            <a:ext cx="6448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AgentCore 输出分数、标签、解释、聚合结果与低分会话；CI/CD、测试和审批流程据此决定放行或回滚。</a:t>
            </a:r>
          </a:p>
        </p:txBody>
      </p:sp>
      <p:sp>
        <p:nvSpPr>
          <p:cNvPr id="85" name="right-section-accent">
            <a:extLst xmlns:a="http://schemas.openxmlformats.org/drawingml/2006/main">
              <a:ext uri="{FF2B5EF4-FFF2-40B4-BE49-F238E27FC236}">
                <a16:creationId xmlns:a16="http://schemas.microsoft.com/office/drawing/2014/main" id="{D0FF6983-A723-4081-9B6D-35773DD2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1419225"/>
            <a:ext cx="47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right-section-title">
            <a:extLst xmlns:a="http://schemas.openxmlformats.org/drawingml/2006/main">
              <a:ext uri="{FF2B5EF4-FFF2-40B4-BE49-F238E27FC236}">
                <a16:creationId xmlns:a16="http://schemas.microsoft.com/office/drawing/2014/main" id="{795C9445-4A99-438E-939D-5AA15034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1352550"/>
            <a:ext cx="1023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从通用记忆机制，到 DevOps 排障经验复用</a:t>
            </a:r>
          </a:p>
        </p:txBody>
      </p:sp>
      <p:sp>
        <p:nvSpPr>
          <p:cNvPr id="87" name="right-platform-pill">
            <a:extLst xmlns:a="http://schemas.openxmlformats.org/drawingml/2006/main">
              <a:ext uri="{FF2B5EF4-FFF2-40B4-BE49-F238E27FC236}">
                <a16:creationId xmlns:a16="http://schemas.microsoft.com/office/drawing/2014/main" id="{76B17293-A74B-4555-8B73-5FA4B5E9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885950"/>
            <a:ext cx="112395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88" name="right-platform-pill-text">
            <a:extLst xmlns:a="http://schemas.openxmlformats.org/drawingml/2006/main">
              <a:ext uri="{FF2B5EF4-FFF2-40B4-BE49-F238E27FC236}">
                <a16:creationId xmlns:a16="http://schemas.microsoft.com/office/drawing/2014/main" id="{FFB669D0-FF09-42BB-8BDE-0E7402B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18954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01｜平台机制</a:t>
            </a:r>
          </a:p>
        </p:txBody>
      </p:sp>
      <p:sp>
        <p:nvSpPr>
          <p:cNvPr id="89" name="right-platform-title">
            <a:extLst xmlns:a="http://schemas.openxmlformats.org/drawingml/2006/main">
              <a:ext uri="{FF2B5EF4-FFF2-40B4-BE49-F238E27FC236}">
                <a16:creationId xmlns:a16="http://schemas.microsoft.com/office/drawing/2014/main" id="{39F915E1-8074-4E41-B73D-BA7F5A9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8669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AgentCore Memory｜把交互记录提炼成可检索的长期记忆</a:t>
            </a:r>
          </a:p>
        </p:txBody>
      </p:sp>
      <p:sp>
        <p:nvSpPr>
          <p:cNvPr id="90" name="memory-service-frame">
            <a:extLst xmlns:a="http://schemas.openxmlformats.org/drawingml/2006/main">
              <a:ext uri="{FF2B5EF4-FFF2-40B4-BE49-F238E27FC236}">
                <a16:creationId xmlns:a16="http://schemas.microsoft.com/office/drawing/2014/main" id="{68D1F5D5-381D-4701-A5CC-CD7D233E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343150"/>
            <a:ext cx="9763125" cy="2390775"/>
          </a:xfrm>
          <a:prstGeom xmlns:a="http://schemas.openxmlformats.org/drawingml/2006/main" prst="roundRect">
            <a:avLst>
              <a:gd name="adj" fmla="val 717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9050">
            <a:solidFill>
              <a:srgbClr val="191919"/>
            </a:solidFill>
            <a:prstDash val="solid"/>
          </a:ln>
        </p:spPr>
      </p:sp>
      <p:sp>
        <p:nvSpPr>
          <p:cNvPr id="91" name="memory-service-pill">
            <a:extLst xmlns:a="http://schemas.openxmlformats.org/drawingml/2006/main">
              <a:ext uri="{FF2B5EF4-FFF2-40B4-BE49-F238E27FC236}">
                <a16:creationId xmlns:a16="http://schemas.microsoft.com/office/drawing/2014/main" id="{DD4563F0-7668-463B-9DDA-85D00772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200275"/>
            <a:ext cx="16192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2" name="memory-service-pill-text">
            <a:extLst xmlns:a="http://schemas.openxmlformats.org/drawingml/2006/main">
              <a:ext uri="{FF2B5EF4-FFF2-40B4-BE49-F238E27FC236}">
                <a16:creationId xmlns:a16="http://schemas.microsoft.com/office/drawing/2014/main" id="{866FF632-BAD8-4A82-A083-1906EFDA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209800"/>
            <a:ext cx="154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AgentCore Memory</a:t>
            </a:r>
          </a:p>
        </p:txBody>
      </p:sp>
      <p:sp>
        <p:nvSpPr>
          <p:cNvPr id="93" name="memory-flow-caption">
            <a:extLst xmlns:a="http://schemas.openxmlformats.org/drawingml/2006/main">
              <a:ext uri="{FF2B5EF4-FFF2-40B4-BE49-F238E27FC236}">
                <a16:creationId xmlns:a16="http://schemas.microsoft.com/office/drawing/2014/main" id="{597BDB0A-6721-4371-854C-1F3BC285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25" y="2381250"/>
            <a:ext cx="214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写入 → 提炼 → 保存 → 检索</a:t>
            </a:r>
          </a:p>
        </p:txBody>
      </p:sp>
      <p:sp>
        <p:nvSpPr>
          <p:cNvPr id="94" name="memory-arrow-1">
            <a:extLst xmlns:a="http://schemas.openxmlformats.org/drawingml/2006/main">
              <a:ext uri="{FF2B5EF4-FFF2-40B4-BE49-F238E27FC236}">
                <a16:creationId xmlns:a16="http://schemas.microsoft.com/office/drawing/2014/main" id="{608ED79B-BDA7-44B6-AEAF-4DF552EF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4004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6969"/>
          </a:solidFill>
          <a:ln xmlns:a="http://schemas.openxmlformats.org/drawingml/2006/main" w="0">
            <a:solidFill>
              <a:srgbClr val="696969"/>
            </a:solidFill>
            <a:prstDash val="solid"/>
          </a:ln>
        </p:spPr>
      </p:sp>
      <p:sp>
        <p:nvSpPr>
          <p:cNvPr id="95" name="memory-arrow-2">
            <a:extLst xmlns:a="http://schemas.openxmlformats.org/drawingml/2006/main">
              <a:ext uri="{FF2B5EF4-FFF2-40B4-BE49-F238E27FC236}">
                <a16:creationId xmlns:a16="http://schemas.microsoft.com/office/drawing/2014/main" id="{7454DF76-618B-4280-86DD-51CC7A65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0350" y="34004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6969"/>
          </a:solidFill>
          <a:ln xmlns:a="http://schemas.openxmlformats.org/drawingml/2006/main" w="0">
            <a:solidFill>
              <a:srgbClr val="696969"/>
            </a:solidFill>
            <a:prstDash val="solid"/>
          </a:ln>
        </p:spPr>
      </p:sp>
      <p:sp>
        <p:nvSpPr>
          <p:cNvPr id="96" name="memory-arrow-3">
            <a:extLst xmlns:a="http://schemas.openxmlformats.org/drawingml/2006/main">
              <a:ext uri="{FF2B5EF4-FFF2-40B4-BE49-F238E27FC236}">
                <a16:creationId xmlns:a16="http://schemas.microsoft.com/office/drawing/2014/main" id="{864AAD54-1D69-4059-9346-41A6818E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9225" y="34004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7" name="memory-event">
            <a:extLst xmlns:a="http://schemas.openxmlformats.org/drawingml/2006/main">
              <a:ext uri="{FF2B5EF4-FFF2-40B4-BE49-F238E27FC236}">
                <a16:creationId xmlns:a16="http://schemas.microsoft.com/office/drawing/2014/main" id="{837F6D6E-DA71-4610-ABF8-BB627C44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705100"/>
            <a:ext cx="2105025" cy="1619250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98" name="memory-event-num">
            <a:extLst xmlns:a="http://schemas.openxmlformats.org/drawingml/2006/main">
              <a:ext uri="{FF2B5EF4-FFF2-40B4-BE49-F238E27FC236}">
                <a16:creationId xmlns:a16="http://schemas.microsoft.com/office/drawing/2014/main" id="{4D0E26E7-88D6-49D6-AA96-98410997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282892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9" name="memory-event-num-text">
            <a:extLst xmlns:a="http://schemas.openxmlformats.org/drawingml/2006/main">
              <a:ext uri="{FF2B5EF4-FFF2-40B4-BE49-F238E27FC236}">
                <a16:creationId xmlns:a16="http://schemas.microsoft.com/office/drawing/2014/main" id="{90F20E97-504B-4B06-82B9-ADB112B3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283845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0" name="memory-event-title">
            <a:extLst xmlns:a="http://schemas.openxmlformats.org/drawingml/2006/main">
              <a:ext uri="{FF2B5EF4-FFF2-40B4-BE49-F238E27FC236}">
                <a16:creationId xmlns:a16="http://schemas.microsoft.com/office/drawing/2014/main" id="{1A61A21F-16D5-4987-AA21-A73D6D2E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8289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短期 Event</a:t>
            </a:r>
          </a:p>
        </p:txBody>
      </p:sp>
      <p:sp>
        <p:nvSpPr>
          <p:cNvPr id="101" name="memory-event-rule">
            <a:extLst xmlns:a="http://schemas.openxmlformats.org/drawingml/2006/main">
              <a:ext uri="{FF2B5EF4-FFF2-40B4-BE49-F238E27FC236}">
                <a16:creationId xmlns:a16="http://schemas.microsoft.com/office/drawing/2014/main" id="{5E336D50-46BE-4113-9436-F53E1B7D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3190875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9E9"/>
            </a:solidFill>
            <a:prstDash val="solid"/>
          </a:ln>
        </p:spPr>
      </p:sp>
      <p:sp>
        <p:nvSpPr>
          <p:cNvPr id="102" name="memory-event-main-0">
            <a:extLst xmlns:a="http://schemas.openxmlformats.org/drawingml/2006/main">
              <a:ext uri="{FF2B5EF4-FFF2-40B4-BE49-F238E27FC236}">
                <a16:creationId xmlns:a16="http://schemas.microsoft.com/office/drawing/2014/main" id="{E2488C4C-429D-4EE4-AA0D-C9A5CDA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35280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对话消息｜工具调用记录</a:t>
            </a:r>
          </a:p>
        </p:txBody>
      </p:sp>
      <p:sp>
        <p:nvSpPr>
          <p:cNvPr id="103" name="memory-event-sub-0">
            <a:extLst xmlns:a="http://schemas.openxmlformats.org/drawingml/2006/main">
              <a:ext uri="{FF2B5EF4-FFF2-40B4-BE49-F238E27FC236}">
                <a16:creationId xmlns:a16="http://schemas.microsoft.com/office/drawing/2014/main" id="{581734E4-02EE-4D79-B72F-539DCA73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5528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长期提炼仅处理对话消息</a:t>
            </a:r>
          </a:p>
        </p:txBody>
      </p:sp>
      <p:sp>
        <p:nvSpPr>
          <p:cNvPr id="104" name="memory-event-main-1">
            <a:extLst xmlns:a="http://schemas.openxmlformats.org/drawingml/2006/main">
              <a:ext uri="{FF2B5EF4-FFF2-40B4-BE49-F238E27FC236}">
                <a16:creationId xmlns:a16="http://schemas.microsoft.com/office/drawing/2014/main" id="{DD534897-318C-4DD3-AFB3-743B4885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81000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actorId +（可选）sessionId</a:t>
            </a:r>
          </a:p>
        </p:txBody>
      </p:sp>
      <p:sp>
        <p:nvSpPr>
          <p:cNvPr id="105" name="memory-event-sub-1">
            <a:extLst xmlns:a="http://schemas.openxmlformats.org/drawingml/2006/main">
              <a:ext uri="{FF2B5EF4-FFF2-40B4-BE49-F238E27FC236}">
                <a16:creationId xmlns:a16="http://schemas.microsoft.com/office/drawing/2014/main" id="{9BF90478-82A9-497F-BC9D-42AAED6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0100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事件带时间戳、不可变</a:t>
            </a:r>
          </a:p>
        </p:txBody>
      </p:sp>
      <p:sp>
        <p:nvSpPr>
          <p:cNvPr id="106" name="memory-strategy">
            <a:extLst xmlns:a="http://schemas.openxmlformats.org/drawingml/2006/main">
              <a:ext uri="{FF2B5EF4-FFF2-40B4-BE49-F238E27FC236}">
                <a16:creationId xmlns:a16="http://schemas.microsoft.com/office/drawing/2014/main" id="{268B7026-81FE-4E46-8D26-3D40E46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2705100"/>
            <a:ext cx="2105025" cy="1619250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14288">
            <a:solidFill>
              <a:srgbClr val="C73E37"/>
            </a:solidFill>
            <a:prstDash val="solid"/>
          </a:ln>
        </p:spPr>
      </p:sp>
      <p:sp>
        <p:nvSpPr>
          <p:cNvPr id="107" name="memory-strategy-num">
            <a:extLst xmlns:a="http://schemas.openxmlformats.org/drawingml/2006/main">
              <a:ext uri="{FF2B5EF4-FFF2-40B4-BE49-F238E27FC236}">
                <a16:creationId xmlns:a16="http://schemas.microsoft.com/office/drawing/2014/main" id="{3B06AFA6-A115-49C5-9F50-7165B75B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75" y="282892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7"/>
          </a:solidFill>
          <a:ln xmlns:a="http://schemas.openxmlformats.org/drawingml/2006/main" w="0">
            <a:solidFill>
              <a:srgbClr val="C73E37"/>
            </a:solidFill>
            <a:prstDash val="solid"/>
          </a:ln>
        </p:spPr>
      </p:sp>
      <p:sp>
        <p:nvSpPr>
          <p:cNvPr id="108" name="memory-strategy-num-text">
            <a:extLst xmlns:a="http://schemas.openxmlformats.org/drawingml/2006/main">
              <a:ext uri="{FF2B5EF4-FFF2-40B4-BE49-F238E27FC236}">
                <a16:creationId xmlns:a16="http://schemas.microsoft.com/office/drawing/2014/main" id="{5227C118-CCDF-4965-B4C0-8E13110A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283845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9" name="memory-strategy-title">
            <a:extLst xmlns:a="http://schemas.openxmlformats.org/drawingml/2006/main">
              <a:ext uri="{FF2B5EF4-FFF2-40B4-BE49-F238E27FC236}">
                <a16:creationId xmlns:a16="http://schemas.microsoft.com/office/drawing/2014/main" id="{8A82F719-0E8E-4ABA-A0B4-6A28236B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8289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托管 Strategy</a:t>
            </a:r>
          </a:p>
        </p:txBody>
      </p:sp>
      <p:sp>
        <p:nvSpPr>
          <p:cNvPr id="110" name="memory-strategy-rule">
            <a:extLst xmlns:a="http://schemas.openxmlformats.org/drawingml/2006/main">
              <a:ext uri="{FF2B5EF4-FFF2-40B4-BE49-F238E27FC236}">
                <a16:creationId xmlns:a16="http://schemas.microsoft.com/office/drawing/2014/main" id="{218A81E0-6FBE-4848-B41E-247A9FD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75" y="3190875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3E37"/>
            </a:solidFill>
            <a:prstDash val="solid"/>
          </a:ln>
        </p:spPr>
      </p:sp>
      <p:sp>
        <p:nvSpPr>
          <p:cNvPr id="111" name="memory-strategy-main-0">
            <a:extLst xmlns:a="http://schemas.openxmlformats.org/drawingml/2006/main">
              <a:ext uri="{FF2B5EF4-FFF2-40B4-BE49-F238E27FC236}">
                <a16:creationId xmlns:a16="http://schemas.microsoft.com/office/drawing/2014/main" id="{C5E92C24-2CE8-49A3-BBFD-9F8493C5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335280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异步提炼｜合并</a:t>
            </a:r>
          </a:p>
        </p:txBody>
      </p:sp>
      <p:sp>
        <p:nvSpPr>
          <p:cNvPr id="112" name="memory-strategy-sub-0">
            <a:extLst xmlns:a="http://schemas.openxmlformats.org/drawingml/2006/main">
              <a:ext uri="{FF2B5EF4-FFF2-40B4-BE49-F238E27FC236}">
                <a16:creationId xmlns:a16="http://schemas.microsoft.com/office/drawing/2014/main" id="{291A524C-CA86-4FC1-8857-C4F448A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35528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无 Strategy 或 SKIP 不生成 Record</a:t>
            </a:r>
          </a:p>
        </p:txBody>
      </p:sp>
      <p:sp>
        <p:nvSpPr>
          <p:cNvPr id="113" name="memory-strategy-main-1">
            <a:extLst xmlns:a="http://schemas.openxmlformats.org/drawingml/2006/main">
              <a:ext uri="{FF2B5EF4-FFF2-40B4-BE49-F238E27FC236}">
                <a16:creationId xmlns:a16="http://schemas.microsoft.com/office/drawing/2014/main" id="{2D3987BC-3DFC-45AE-8E49-8E92F12B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381000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语义｜摘要｜偏好｜经验</a:t>
            </a:r>
          </a:p>
        </p:txBody>
      </p:sp>
      <p:sp>
        <p:nvSpPr>
          <p:cNvPr id="114" name="memory-strategy-sub-1">
            <a:extLst xmlns:a="http://schemas.openxmlformats.org/drawingml/2006/main">
              <a:ext uri="{FF2B5EF4-FFF2-40B4-BE49-F238E27FC236}">
                <a16:creationId xmlns:a16="http://schemas.microsoft.com/office/drawing/2014/main" id="{6E8FAD4B-06FC-447D-902C-CCB91A86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40100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自管 Strategy：客户管道处理</a:t>
            </a:r>
          </a:p>
        </p:txBody>
      </p:sp>
      <p:sp>
        <p:nvSpPr>
          <p:cNvPr id="115" name="memory-record">
            <a:extLst xmlns:a="http://schemas.openxmlformats.org/drawingml/2006/main">
              <a:ext uri="{FF2B5EF4-FFF2-40B4-BE49-F238E27FC236}">
                <a16:creationId xmlns:a16="http://schemas.microsoft.com/office/drawing/2014/main" id="{0CE39B0E-7E57-41AD-9CCA-52773AFC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7525" y="2705100"/>
            <a:ext cx="2105025" cy="1619250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16" name="memory-record-num">
            <a:extLst xmlns:a="http://schemas.openxmlformats.org/drawingml/2006/main">
              <a:ext uri="{FF2B5EF4-FFF2-40B4-BE49-F238E27FC236}">
                <a16:creationId xmlns:a16="http://schemas.microsoft.com/office/drawing/2014/main" id="{BCF08D99-C168-4224-A73C-F8D8E9F1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1350" y="282892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17" name="memory-record-num-text">
            <a:extLst xmlns:a="http://schemas.openxmlformats.org/drawingml/2006/main">
              <a:ext uri="{FF2B5EF4-FFF2-40B4-BE49-F238E27FC236}">
                <a16:creationId xmlns:a16="http://schemas.microsoft.com/office/drawing/2014/main" id="{2B4BC321-875E-49E8-B958-105B10E3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9450" y="283845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8" name="memory-record-title">
            <a:extLst xmlns:a="http://schemas.openxmlformats.org/drawingml/2006/main">
              <a:ext uri="{FF2B5EF4-FFF2-40B4-BE49-F238E27FC236}">
                <a16:creationId xmlns:a16="http://schemas.microsoft.com/office/drawing/2014/main" id="{305A779C-C3AD-4BC0-9958-5FC37A7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28289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长期 Record</a:t>
            </a:r>
          </a:p>
        </p:txBody>
      </p:sp>
      <p:sp>
        <p:nvSpPr>
          <p:cNvPr id="119" name="memory-record-rule">
            <a:extLst xmlns:a="http://schemas.openxmlformats.org/drawingml/2006/main">
              <a:ext uri="{FF2B5EF4-FFF2-40B4-BE49-F238E27FC236}">
                <a16:creationId xmlns:a16="http://schemas.microsoft.com/office/drawing/2014/main" id="{568856F8-3214-49F5-B572-185D457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1350" y="3190875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9E9"/>
            </a:solidFill>
            <a:prstDash val="solid"/>
          </a:ln>
        </p:spPr>
      </p:sp>
      <p:sp>
        <p:nvSpPr>
          <p:cNvPr id="120" name="memory-record-main-0">
            <a:extLst xmlns:a="http://schemas.openxmlformats.org/drawingml/2006/main">
              <a:ext uri="{FF2B5EF4-FFF2-40B4-BE49-F238E27FC236}">
                <a16:creationId xmlns:a16="http://schemas.microsoft.com/office/drawing/2014/main" id="{E21F406A-0750-425E-9C0E-57D02997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925" y="335280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结构化长期 Record</a:t>
            </a:r>
          </a:p>
        </p:txBody>
      </p:sp>
      <p:sp>
        <p:nvSpPr>
          <p:cNvPr id="121" name="memory-record-sub-0">
            <a:extLst xmlns:a="http://schemas.openxmlformats.org/drawingml/2006/main">
              <a:ext uri="{FF2B5EF4-FFF2-40B4-BE49-F238E27FC236}">
                <a16:creationId xmlns:a16="http://schemas.microsoft.com/office/drawing/2014/main" id="{84AA0584-96E5-4494-A954-259D0E1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925" y="35528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由托管 Strategy 新增或更新</a:t>
            </a:r>
          </a:p>
        </p:txBody>
      </p:sp>
      <p:sp>
        <p:nvSpPr>
          <p:cNvPr id="122" name="memory-record-main-1">
            <a:extLst xmlns:a="http://schemas.openxmlformats.org/drawingml/2006/main">
              <a:ext uri="{FF2B5EF4-FFF2-40B4-BE49-F238E27FC236}">
                <a16:creationId xmlns:a16="http://schemas.microsoft.com/office/drawing/2014/main" id="{833283CA-D043-41DD-A856-426B51D8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925" y="381000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namespace：组织</a:t>
            </a:r>
          </a:p>
        </p:txBody>
      </p:sp>
      <p:sp>
        <p:nvSpPr>
          <p:cNvPr id="123" name="memory-record-sub-1">
            <a:extLst xmlns:a="http://schemas.openxmlformats.org/drawingml/2006/main">
              <a:ext uri="{FF2B5EF4-FFF2-40B4-BE49-F238E27FC236}">
                <a16:creationId xmlns:a16="http://schemas.microsoft.com/office/drawing/2014/main" id="{4FDB2997-2430-4303-AE6C-79742E5A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925" y="40100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检索过滤｜IAM 限定访问</a:t>
            </a:r>
          </a:p>
        </p:txBody>
      </p:sp>
      <p:sp>
        <p:nvSpPr>
          <p:cNvPr id="124" name="memory-retrieval">
            <a:extLst xmlns:a="http://schemas.openxmlformats.org/drawingml/2006/main">
              <a:ext uri="{FF2B5EF4-FFF2-40B4-BE49-F238E27FC236}">
                <a16:creationId xmlns:a16="http://schemas.microsoft.com/office/drawing/2014/main" id="{62AD4202-EB38-429F-ACD2-B2B4C383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400" y="2705100"/>
            <a:ext cx="2105025" cy="1619250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25" name="memory-retrieval-num">
            <a:extLst xmlns:a="http://schemas.openxmlformats.org/drawingml/2006/main">
              <a:ext uri="{FF2B5EF4-FFF2-40B4-BE49-F238E27FC236}">
                <a16:creationId xmlns:a16="http://schemas.microsoft.com/office/drawing/2014/main" id="{20B582FB-8DEE-4FB7-A889-B9871F03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225" y="2828925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26" name="memory-retrieval-num-text">
            <a:extLst xmlns:a="http://schemas.openxmlformats.org/drawingml/2006/main">
              <a:ext uri="{FF2B5EF4-FFF2-40B4-BE49-F238E27FC236}">
                <a16:creationId xmlns:a16="http://schemas.microsoft.com/office/drawing/2014/main" id="{CC0E7C39-5399-483F-BFE3-499C2FC4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8325" y="283845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7" name="memory-retrieval-title">
            <a:extLst xmlns:a="http://schemas.openxmlformats.org/drawingml/2006/main">
              <a:ext uri="{FF2B5EF4-FFF2-40B4-BE49-F238E27FC236}">
                <a16:creationId xmlns:a16="http://schemas.microsoft.com/office/drawing/2014/main" id="{3F6FC08A-4861-4FEA-9B18-D98F6DA6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0" y="28289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分域检索</a:t>
            </a:r>
          </a:p>
        </p:txBody>
      </p:sp>
      <p:sp>
        <p:nvSpPr>
          <p:cNvPr id="128" name="memory-retrieval-rule">
            <a:extLst xmlns:a="http://schemas.openxmlformats.org/drawingml/2006/main">
              <a:ext uri="{FF2B5EF4-FFF2-40B4-BE49-F238E27FC236}">
                <a16:creationId xmlns:a16="http://schemas.microsoft.com/office/drawing/2014/main" id="{9E82D4B5-4F4C-45F7-B257-C9313AB3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225" y="3190875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9E9"/>
            </a:solidFill>
            <a:prstDash val="solid"/>
          </a:ln>
        </p:spPr>
      </p:sp>
      <p:sp>
        <p:nvSpPr>
          <p:cNvPr id="129" name="memory-retrieval-main-0">
            <a:extLst xmlns:a="http://schemas.openxmlformats.org/drawingml/2006/main">
              <a:ext uri="{FF2B5EF4-FFF2-40B4-BE49-F238E27FC236}">
                <a16:creationId xmlns:a16="http://schemas.microsoft.com/office/drawing/2014/main" id="{A4879554-CAD0-48C1-9EB0-6BA2C421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800" y="335280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namespace + query</a:t>
            </a:r>
          </a:p>
        </p:txBody>
      </p:sp>
      <p:sp>
        <p:nvSpPr>
          <p:cNvPr id="130" name="memory-retrieval-sub-0">
            <a:extLst xmlns:a="http://schemas.openxmlformats.org/drawingml/2006/main">
              <a:ext uri="{FF2B5EF4-FFF2-40B4-BE49-F238E27FC236}">
                <a16:creationId xmlns:a16="http://schemas.microsoft.com/office/drawing/2014/main" id="{F53DF947-F574-401A-9C7F-C6558C7B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800" y="35528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限定范围并描述当前问题</a:t>
            </a:r>
          </a:p>
        </p:txBody>
      </p:sp>
      <p:sp>
        <p:nvSpPr>
          <p:cNvPr id="131" name="memory-retrieval-main-1">
            <a:extLst xmlns:a="http://schemas.openxmlformats.org/drawingml/2006/main">
              <a:ext uri="{FF2B5EF4-FFF2-40B4-BE49-F238E27FC236}">
                <a16:creationId xmlns:a16="http://schemas.microsoft.com/office/drawing/2014/main" id="{150ED901-A50B-4D64-A047-FD88AD24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800" y="381000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topK｜相关性排序</a:t>
            </a:r>
          </a:p>
        </p:txBody>
      </p:sp>
      <p:sp>
        <p:nvSpPr>
          <p:cNvPr id="132" name="memory-retrieval-sub-1">
            <a:extLst xmlns:a="http://schemas.openxmlformats.org/drawingml/2006/main">
              <a:ext uri="{FF2B5EF4-FFF2-40B4-BE49-F238E27FC236}">
                <a16:creationId xmlns:a16="http://schemas.microsoft.com/office/drawing/2014/main" id="{82BF28A1-DAAD-4BA5-B29C-BABC3F71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800" y="4010025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返回候选 Record</a:t>
            </a:r>
          </a:p>
        </p:txBody>
      </p:sp>
      <p:sp>
        <p:nvSpPr>
          <p:cNvPr id="133" name="memory-async-boundary">
            <a:extLst xmlns:a="http://schemas.openxmlformats.org/drawingml/2006/main">
              <a:ext uri="{FF2B5EF4-FFF2-40B4-BE49-F238E27FC236}">
                <a16:creationId xmlns:a16="http://schemas.microsoft.com/office/drawing/2014/main" id="{07C7D219-65B9-43B3-9865-E572D3FF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4495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虚线：异步提炼｜无 Strategy 或 SKIP 不生成 Record</a:t>
            </a:r>
          </a:p>
        </p:txBody>
      </p:sp>
      <p:sp>
        <p:nvSpPr>
          <p:cNvPr id="134" name="memory-orchestration-frame">
            <a:extLst xmlns:a="http://schemas.openxmlformats.org/drawingml/2006/main">
              <a:ext uri="{FF2B5EF4-FFF2-40B4-BE49-F238E27FC236}">
                <a16:creationId xmlns:a16="http://schemas.microsoft.com/office/drawing/2014/main" id="{7A0097B1-CB75-4C7C-A628-D0474F1F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010150"/>
            <a:ext cx="9763125" cy="1352550"/>
          </a:xfrm>
          <a:prstGeom xmlns:a="http://schemas.openxmlformats.org/drawingml/2006/main" prst="roundRect">
            <a:avLst>
              <a:gd name="adj" fmla="val 11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35" name="memory-orchestration-pill">
            <a:extLst xmlns:a="http://schemas.openxmlformats.org/drawingml/2006/main">
              <a:ext uri="{FF2B5EF4-FFF2-40B4-BE49-F238E27FC236}">
                <a16:creationId xmlns:a16="http://schemas.microsoft.com/office/drawing/2014/main" id="{9A644895-580C-40D9-8B7F-C404F981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867275"/>
            <a:ext cx="1504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1919"/>
            </a:solidFill>
            <a:prstDash val="solid"/>
          </a:ln>
        </p:spPr>
      </p:sp>
      <p:sp>
        <p:nvSpPr>
          <p:cNvPr id="136" name="memory-orchestration-pill-text">
            <a:extLst xmlns:a="http://schemas.openxmlformats.org/drawingml/2006/main">
              <a:ext uri="{FF2B5EF4-FFF2-40B4-BE49-F238E27FC236}">
                <a16:creationId xmlns:a16="http://schemas.microsoft.com/office/drawing/2014/main" id="{44FBE2A5-6961-42EF-A1F6-04225490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Agent 编排层</a:t>
            </a:r>
          </a:p>
        </p:txBody>
      </p:sp>
      <p:sp>
        <p:nvSpPr>
          <p:cNvPr id="137" name="memory-context">
            <a:extLst xmlns:a="http://schemas.openxmlformats.org/drawingml/2006/main">
              <a:ext uri="{FF2B5EF4-FFF2-40B4-BE49-F238E27FC236}">
                <a16:creationId xmlns:a16="http://schemas.microsoft.com/office/drawing/2014/main" id="{B47711E7-EF18-4D42-A599-92B9EBAF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5210175"/>
            <a:ext cx="32480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38" name="memory-context-num">
            <a:extLst xmlns:a="http://schemas.openxmlformats.org/drawingml/2006/main">
              <a:ext uri="{FF2B5EF4-FFF2-40B4-BE49-F238E27FC236}">
                <a16:creationId xmlns:a16="http://schemas.microsoft.com/office/drawing/2014/main" id="{5E79D725-C1A1-43A6-BADA-3345DC02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53340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39" name="memory-context-num-text">
            <a:extLst xmlns:a="http://schemas.openxmlformats.org/drawingml/2006/main">
              <a:ext uri="{FF2B5EF4-FFF2-40B4-BE49-F238E27FC236}">
                <a16:creationId xmlns:a16="http://schemas.microsoft.com/office/drawing/2014/main" id="{F53F4A44-21C4-404D-AC17-571B8791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534352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0" name="memory-context-title">
            <a:extLst xmlns:a="http://schemas.openxmlformats.org/drawingml/2006/main">
              <a:ext uri="{FF2B5EF4-FFF2-40B4-BE49-F238E27FC236}">
                <a16:creationId xmlns:a16="http://schemas.microsoft.com/office/drawing/2014/main" id="{46803C29-A051-4C51-8519-55760B58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5334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装配到推理上下文</a:t>
            </a:r>
          </a:p>
        </p:txBody>
      </p:sp>
      <p:sp>
        <p:nvSpPr>
          <p:cNvPr id="141" name="memory-context-desc">
            <a:extLst xmlns:a="http://schemas.openxmlformats.org/drawingml/2006/main">
              <a:ext uri="{FF2B5EF4-FFF2-40B4-BE49-F238E27FC236}">
                <a16:creationId xmlns:a16="http://schemas.microsoft.com/office/drawing/2014/main" id="{1F49A554-F273-4BEC-98FB-53743F9E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6769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Harness（启用 Memory）自动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Runtime / Framework 通过集成或 API 接入</a:t>
            </a:r>
          </a:p>
        </p:txBody>
      </p:sp>
      <p:sp>
        <p:nvSpPr>
          <p:cNvPr id="142" name="memory-agent-run">
            <a:extLst xmlns:a="http://schemas.openxmlformats.org/drawingml/2006/main">
              <a:ext uri="{FF2B5EF4-FFF2-40B4-BE49-F238E27FC236}">
                <a16:creationId xmlns:a16="http://schemas.microsoft.com/office/drawing/2014/main" id="{A3325781-B48D-46BD-860D-E4B8FA77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5325" y="5210175"/>
            <a:ext cx="2628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1919"/>
            </a:solidFill>
            <a:prstDash val="solid"/>
          </a:ln>
        </p:spPr>
      </p:sp>
      <p:sp>
        <p:nvSpPr>
          <p:cNvPr id="143" name="memory-agent-run-num">
            <a:extLst xmlns:a="http://schemas.openxmlformats.org/drawingml/2006/main">
              <a:ext uri="{FF2B5EF4-FFF2-40B4-BE49-F238E27FC236}">
                <a16:creationId xmlns:a16="http://schemas.microsoft.com/office/drawing/2014/main" id="{22A4BB2B-E631-4069-8DAE-F442A2C0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150" y="5334000"/>
            <a:ext cx="2952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44" name="memory-agent-run-num-text">
            <a:extLst xmlns:a="http://schemas.openxmlformats.org/drawingml/2006/main">
              <a:ext uri="{FF2B5EF4-FFF2-40B4-BE49-F238E27FC236}">
                <a16:creationId xmlns:a16="http://schemas.microsoft.com/office/drawing/2014/main" id="{AABC11ED-F1D7-45E9-9523-FE626D76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0" y="5343525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45" name="memory-agent-run-title">
            <a:extLst xmlns:a="http://schemas.openxmlformats.org/drawingml/2006/main">
              <a:ext uri="{FF2B5EF4-FFF2-40B4-BE49-F238E27FC236}">
                <a16:creationId xmlns:a16="http://schemas.microsoft.com/office/drawing/2014/main" id="{33D200D0-F90D-4B72-A088-C40FE49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675" y="5334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新一轮 Agent 执行</a:t>
            </a:r>
          </a:p>
        </p:txBody>
      </p:sp>
      <p:sp>
        <p:nvSpPr>
          <p:cNvPr id="146" name="memory-agent-run-desc">
            <a:extLst xmlns:a="http://schemas.openxmlformats.org/drawingml/2006/main">
              <a:ext uri="{FF2B5EF4-FFF2-40B4-BE49-F238E27FC236}">
                <a16:creationId xmlns:a16="http://schemas.microsoft.com/office/drawing/2014/main" id="{6A7E0340-8880-4D7B-90E6-508C833E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25" y="57816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推理｜工具调用｜产生新事件</a:t>
            </a:r>
          </a:p>
        </p:txBody>
      </p:sp>
      <p:sp>
        <p:nvSpPr>
          <p:cNvPr id="147" name="memory-retrieve-down">
            <a:extLst xmlns:a="http://schemas.openxmlformats.org/drawingml/2006/main">
              <a:ext uri="{FF2B5EF4-FFF2-40B4-BE49-F238E27FC236}">
                <a16:creationId xmlns:a16="http://schemas.microsoft.com/office/drawing/2014/main" id="{44BE8121-720A-4B27-9477-C8524BAB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3675" y="43243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1919"/>
            </a:solidFill>
            <a:prstDash val="solid"/>
          </a:ln>
        </p:spPr>
      </p:sp>
      <p:sp>
        <p:nvSpPr>
          <p:cNvPr id="148" name="memory-retrieve-left">
            <a:extLst xmlns:a="http://schemas.openxmlformats.org/drawingml/2006/main">
              <a:ext uri="{FF2B5EF4-FFF2-40B4-BE49-F238E27FC236}">
                <a16:creationId xmlns:a16="http://schemas.microsoft.com/office/drawing/2014/main" id="{1A8B04AF-05D2-4480-AECF-180024A8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375" y="4781550"/>
            <a:ext cx="430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1919"/>
            </a:solidFill>
            <a:prstDash val="solid"/>
          </a:ln>
        </p:spPr>
      </p:sp>
      <p:sp>
        <p:nvSpPr>
          <p:cNvPr id="149" name="memory-retrieve-arrow">
            <a:extLst xmlns:a="http://schemas.openxmlformats.org/drawingml/2006/main">
              <a:ext uri="{FF2B5EF4-FFF2-40B4-BE49-F238E27FC236}">
                <a16:creationId xmlns:a16="http://schemas.microsoft.com/office/drawing/2014/main" id="{4DC6FDB8-CCCF-4B83-9108-B669FF4C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175" y="4762500"/>
            <a:ext cx="1524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50" name="memory-retrieve-label">
            <a:extLst xmlns:a="http://schemas.openxmlformats.org/drawingml/2006/main">
              <a:ext uri="{FF2B5EF4-FFF2-40B4-BE49-F238E27FC236}">
                <a16:creationId xmlns:a16="http://schemas.microsoft.com/office/drawing/2014/main" id="{D56D878D-B521-44FC-8797-EB7EBA3C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5" y="4581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返回相关 Record</a:t>
            </a:r>
          </a:p>
        </p:txBody>
      </p:sp>
      <p:sp>
        <p:nvSpPr>
          <p:cNvPr id="151" name="memory-context-to-run">
            <a:extLst xmlns:a="http://schemas.openxmlformats.org/drawingml/2006/main">
              <a:ext uri="{FF2B5EF4-FFF2-40B4-BE49-F238E27FC236}">
                <a16:creationId xmlns:a16="http://schemas.microsoft.com/office/drawing/2014/main" id="{55271B6A-5F6D-4116-B03E-C816B93A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2875" y="560070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52" name="memory-feedback-down">
            <a:extLst xmlns:a="http://schemas.openxmlformats.org/drawingml/2006/main">
              <a:ext uri="{FF2B5EF4-FFF2-40B4-BE49-F238E27FC236}">
                <a16:creationId xmlns:a16="http://schemas.microsoft.com/office/drawing/2014/main" id="{A1784A67-6B8B-4194-AD3C-59A7CCAD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9775" y="61245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96969"/>
            </a:solidFill>
            <a:prstDash val="dash"/>
          </a:ln>
        </p:spPr>
      </p:sp>
      <p:sp>
        <p:nvSpPr>
          <p:cNvPr id="153" name="memory-feedback-left">
            <a:extLst xmlns:a="http://schemas.openxmlformats.org/drawingml/2006/main">
              <a:ext uri="{FF2B5EF4-FFF2-40B4-BE49-F238E27FC236}">
                <a16:creationId xmlns:a16="http://schemas.microsoft.com/office/drawing/2014/main" id="{6F7E2F5A-CF89-4496-B23E-01AA73A3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6457950"/>
            <a:ext cx="6562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96969"/>
            </a:solidFill>
            <a:prstDash val="dash"/>
          </a:ln>
        </p:spPr>
      </p:sp>
      <p:sp>
        <p:nvSpPr>
          <p:cNvPr id="154" name="memory-feedback-up">
            <a:extLst xmlns:a="http://schemas.openxmlformats.org/drawingml/2006/main">
              <a:ext uri="{FF2B5EF4-FFF2-40B4-BE49-F238E27FC236}">
                <a16:creationId xmlns:a16="http://schemas.microsoft.com/office/drawing/2014/main" id="{35218FDB-7914-444F-8DAD-E5643B29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4371975"/>
            <a:ext cx="0" cy="2085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96969"/>
            </a:solidFill>
            <a:prstDash val="dash"/>
          </a:ln>
        </p:spPr>
      </p:sp>
      <p:sp>
        <p:nvSpPr>
          <p:cNvPr id="155" name="memory-feedback-label">
            <a:extLst xmlns:a="http://schemas.openxmlformats.org/drawingml/2006/main">
              <a:ext uri="{FF2B5EF4-FFF2-40B4-BE49-F238E27FC236}">
                <a16:creationId xmlns:a16="http://schemas.microsoft.com/office/drawing/2014/main" id="{78286FC6-1D2B-476A-8B8D-BF1E97C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64293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96969"/>
                </a:solidFill>
                <a:latin typeface="Microsoft YaHei"/>
                <a:ea typeface="Microsoft YaHei"/>
                <a:cs typeface="Microsoft YaHei"/>
              </a:rPr>
              <a:t>Harness 自动持久化｜其他用法由集成或 CreateEvent 写入</a:t>
            </a:r>
          </a:p>
        </p:txBody>
      </p:sp>
      <p:sp>
        <p:nvSpPr>
          <p:cNvPr id="156" name="memory-summary">
            <a:extLst xmlns:a="http://schemas.openxmlformats.org/drawingml/2006/main">
              <a:ext uri="{FF2B5EF4-FFF2-40B4-BE49-F238E27FC236}">
                <a16:creationId xmlns:a16="http://schemas.microsoft.com/office/drawing/2014/main" id="{72A1D875-4D6D-41CE-92A5-4569C090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667500"/>
            <a:ext cx="10668000" cy="333375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C73E37"/>
            </a:solidFill>
            <a:prstDash val="solid"/>
          </a:ln>
        </p:spPr>
      </p:sp>
      <p:sp>
        <p:nvSpPr>
          <p:cNvPr id="157" name="memory-summary-text">
            <a:extLst xmlns:a="http://schemas.openxmlformats.org/drawingml/2006/main">
              <a:ext uri="{FF2B5EF4-FFF2-40B4-BE49-F238E27FC236}">
                <a16:creationId xmlns:a16="http://schemas.microsoft.com/office/drawing/2014/main" id="{E730FF8E-588A-48B9-86D7-DD9B886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677025"/>
            <a:ext cx="10363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短期 Event 经 Strategy 提炼，形成可检索的长期 Record</a:t>
            </a:r>
          </a:p>
        </p:txBody>
      </p:sp>
      <p:sp>
        <p:nvSpPr>
          <p:cNvPr id="158" name="memory-delete-boundary">
            <a:extLst xmlns:a="http://schemas.openxmlformats.org/drawingml/2006/main">
              <a:ext uri="{FF2B5EF4-FFF2-40B4-BE49-F238E27FC236}">
                <a16:creationId xmlns:a16="http://schemas.microsoft.com/office/drawing/2014/main" id="{03615AED-1EEF-46E9-AB28-F8F26DB1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058025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治理边界：删除 Event 不会同步删除已经形成的长期 Record</a:t>
            </a:r>
          </a:p>
        </p:txBody>
      </p:sp>
      <p:sp>
        <p:nvSpPr>
          <p:cNvPr id="159" name="platform-to-devops-arrow">
            <a:extLst xmlns:a="http://schemas.openxmlformats.org/drawingml/2006/main">
              <a:ext uri="{FF2B5EF4-FFF2-40B4-BE49-F238E27FC236}">
                <a16:creationId xmlns:a16="http://schemas.microsoft.com/office/drawing/2014/main" id="{0B5591C9-3011-4390-83DD-EDA6D1AB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7248525"/>
            <a:ext cx="1714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60" name="platform-to-devops-label">
            <a:extLst xmlns:a="http://schemas.openxmlformats.org/drawingml/2006/main">
              <a:ext uri="{FF2B5EF4-FFF2-40B4-BE49-F238E27FC236}">
                <a16:creationId xmlns:a16="http://schemas.microsoft.com/office/drawing/2014/main" id="{1B04C2FC-BA18-4FCB-8C02-D300D4C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73533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DevOps Agent 基于 AgentCore，把通用 Memory 能力用于排障经验复用</a:t>
            </a:r>
          </a:p>
        </p:txBody>
      </p:sp>
      <p:sp>
        <p:nvSpPr>
          <p:cNvPr id="161" name="right-application-pill">
            <a:extLst xmlns:a="http://schemas.openxmlformats.org/drawingml/2006/main">
              <a:ext uri="{FF2B5EF4-FFF2-40B4-BE49-F238E27FC236}">
                <a16:creationId xmlns:a16="http://schemas.microsoft.com/office/drawing/2014/main" id="{ED9CF236-8571-4E46-BE5F-59FA1D78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896225"/>
            <a:ext cx="112395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62" name="right-application-pill-text">
            <a:extLst xmlns:a="http://schemas.openxmlformats.org/drawingml/2006/main">
              <a:ext uri="{FF2B5EF4-FFF2-40B4-BE49-F238E27FC236}">
                <a16:creationId xmlns:a16="http://schemas.microsoft.com/office/drawing/2014/main" id="{698C3866-6887-4320-8AC6-32D8D10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7905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02｜场景应用</a:t>
            </a:r>
          </a:p>
        </p:txBody>
      </p:sp>
      <p:sp>
        <p:nvSpPr>
          <p:cNvPr id="163" name="right-application-title">
            <a:extLst xmlns:a="http://schemas.openxmlformats.org/drawingml/2006/main">
              <a:ext uri="{FF2B5EF4-FFF2-40B4-BE49-F238E27FC236}">
                <a16:creationId xmlns:a16="http://schemas.microsoft.com/office/drawing/2014/main" id="{93EF57E2-BD5D-42A1-BAA1-F6DDE305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7877175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DevOps Agent Memories｜保存调查经验和团队约定，供后续排障复用</a:t>
            </a:r>
          </a:p>
        </p:txBody>
      </p:sp>
      <p:sp>
        <p:nvSpPr>
          <p:cNvPr id="164" name="devops-memory-frame">
            <a:extLst xmlns:a="http://schemas.openxmlformats.org/drawingml/2006/main">
              <a:ext uri="{FF2B5EF4-FFF2-40B4-BE49-F238E27FC236}">
                <a16:creationId xmlns:a16="http://schemas.microsoft.com/office/drawing/2014/main" id="{6F74AF83-C44A-403C-850B-9DC931A4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8267700"/>
            <a:ext cx="10668000" cy="1190625"/>
          </a:xfrm>
          <a:prstGeom xmlns:a="http://schemas.openxmlformats.org/drawingml/2006/main" prst="roundRect">
            <a:avLst>
              <a:gd name="adj" fmla="val 136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191919"/>
            </a:solidFill>
            <a:prstDash val="solid"/>
          </a:ln>
        </p:spPr>
      </p:sp>
      <p:sp>
        <p:nvSpPr>
          <p:cNvPr id="165" name="devops-arrow-1">
            <a:extLst xmlns:a="http://schemas.openxmlformats.org/drawingml/2006/main">
              <a:ext uri="{FF2B5EF4-FFF2-40B4-BE49-F238E27FC236}">
                <a16:creationId xmlns:a16="http://schemas.microsoft.com/office/drawing/2014/main" id="{E077CE4B-DBB8-4B0B-810E-F599B86B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8753475"/>
            <a:ext cx="190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66" name="devops-arrow-2">
            <a:extLst xmlns:a="http://schemas.openxmlformats.org/drawingml/2006/main">
              <a:ext uri="{FF2B5EF4-FFF2-40B4-BE49-F238E27FC236}">
                <a16:creationId xmlns:a16="http://schemas.microsoft.com/office/drawing/2014/main" id="{9A66B95C-7274-4C93-BBE9-CE64C0C6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753475"/>
            <a:ext cx="190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67" name="devops-arrow-3">
            <a:extLst xmlns:a="http://schemas.openxmlformats.org/drawingml/2006/main">
              <a:ext uri="{FF2B5EF4-FFF2-40B4-BE49-F238E27FC236}">
                <a16:creationId xmlns:a16="http://schemas.microsoft.com/office/drawing/2014/main" id="{39255B7F-C873-45F5-AFEC-2101D8F6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2075" y="8753475"/>
            <a:ext cx="190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68" name="devops-inputs">
            <a:extLst xmlns:a="http://schemas.openxmlformats.org/drawingml/2006/main">
              <a:ext uri="{FF2B5EF4-FFF2-40B4-BE49-F238E27FC236}">
                <a16:creationId xmlns:a16="http://schemas.microsoft.com/office/drawing/2014/main" id="{97D918D4-9D71-4116-A0DB-21545120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382000"/>
            <a:ext cx="2095500" cy="962025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69" name="devops-inputs-num">
            <a:extLst xmlns:a="http://schemas.openxmlformats.org/drawingml/2006/main">
              <a:ext uri="{FF2B5EF4-FFF2-40B4-BE49-F238E27FC236}">
                <a16:creationId xmlns:a16="http://schemas.microsoft.com/office/drawing/2014/main" id="{614F1431-CC4E-419A-9A90-623DD86D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8477250"/>
            <a:ext cx="266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70" name="devops-inputs-num-text">
            <a:extLst xmlns:a="http://schemas.openxmlformats.org/drawingml/2006/main">
              <a:ext uri="{FF2B5EF4-FFF2-40B4-BE49-F238E27FC236}">
                <a16:creationId xmlns:a16="http://schemas.microsoft.com/office/drawing/2014/main" id="{04431F0B-5624-46D9-9223-272FEB18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84867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1" name="devops-inputs-title">
            <a:extLst xmlns:a="http://schemas.openxmlformats.org/drawingml/2006/main">
              <a:ext uri="{FF2B5EF4-FFF2-40B4-BE49-F238E27FC236}">
                <a16:creationId xmlns:a16="http://schemas.microsoft.com/office/drawing/2014/main" id="{39DA7664-D8CD-492B-87CA-8A912BC7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477250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两类输入</a:t>
            </a:r>
          </a:p>
        </p:txBody>
      </p:sp>
      <p:sp>
        <p:nvSpPr>
          <p:cNvPr id="172" name="devops-inputs-rule">
            <a:extLst xmlns:a="http://schemas.openxmlformats.org/drawingml/2006/main">
              <a:ext uri="{FF2B5EF4-FFF2-40B4-BE49-F238E27FC236}">
                <a16:creationId xmlns:a16="http://schemas.microsoft.com/office/drawing/2014/main" id="{48FE7C66-074E-490A-A944-0F0C029C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877252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9E9"/>
            </a:solidFill>
            <a:prstDash val="solid"/>
          </a:ln>
        </p:spPr>
      </p:sp>
      <p:sp>
        <p:nvSpPr>
          <p:cNvPr id="173" name="devops-inputs-main-0">
            <a:extLst xmlns:a="http://schemas.openxmlformats.org/drawingml/2006/main">
              <a:ext uri="{FF2B5EF4-FFF2-40B4-BE49-F238E27FC236}">
                <a16:creationId xmlns:a16="http://schemas.microsoft.com/office/drawing/2014/main" id="{63D67AC1-F7F5-4A0F-9E03-9C972DDF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883920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近期调查</a:t>
            </a:r>
          </a:p>
        </p:txBody>
      </p:sp>
      <p:sp>
        <p:nvSpPr>
          <p:cNvPr id="174" name="devops-inputs-sub-0">
            <a:extLst xmlns:a="http://schemas.openxmlformats.org/drawingml/2006/main">
              <a:ext uri="{FF2B5EF4-FFF2-40B4-BE49-F238E27FC236}">
                <a16:creationId xmlns:a16="http://schemas.microsoft.com/office/drawing/2014/main" id="{ECA4DC75-BDA7-4359-BC39-C790DA02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8963025"/>
            <a:ext cx="1866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过去两周内</a:t>
            </a:r>
          </a:p>
        </p:txBody>
      </p:sp>
      <p:sp>
        <p:nvSpPr>
          <p:cNvPr id="175" name="devops-inputs-main-1">
            <a:extLst xmlns:a="http://schemas.openxmlformats.org/drawingml/2006/main">
              <a:ext uri="{FF2B5EF4-FFF2-40B4-BE49-F238E27FC236}">
                <a16:creationId xmlns:a16="http://schemas.microsoft.com/office/drawing/2014/main" id="{268E80A3-FD71-46CD-9D85-9D0949D5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9096375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团队长期指令</a:t>
            </a:r>
          </a:p>
        </p:txBody>
      </p:sp>
      <p:sp>
        <p:nvSpPr>
          <p:cNvPr id="176" name="devops-inputs-sub-1">
            <a:extLst xmlns:a="http://schemas.openxmlformats.org/drawingml/2006/main">
              <a:ext uri="{FF2B5EF4-FFF2-40B4-BE49-F238E27FC236}">
                <a16:creationId xmlns:a16="http://schemas.microsoft.com/office/drawing/2014/main" id="{6ED1A4F7-833D-455D-AD2C-391930C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9220200"/>
            <a:ext cx="1866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服务与环境约定</a:t>
            </a:r>
          </a:p>
        </p:txBody>
      </p:sp>
      <p:sp>
        <p:nvSpPr>
          <p:cNvPr id="177" name="devops-write">
            <a:extLst xmlns:a="http://schemas.openxmlformats.org/drawingml/2006/main">
              <a:ext uri="{FF2B5EF4-FFF2-40B4-BE49-F238E27FC236}">
                <a16:creationId xmlns:a16="http://schemas.microsoft.com/office/drawing/2014/main" id="{DD8C6310-F695-4FA8-BE1F-4CB24A86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8382000"/>
            <a:ext cx="2095500" cy="962025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78" name="devops-write-num">
            <a:extLst xmlns:a="http://schemas.openxmlformats.org/drawingml/2006/main">
              <a:ext uri="{FF2B5EF4-FFF2-40B4-BE49-F238E27FC236}">
                <a16:creationId xmlns:a16="http://schemas.microsoft.com/office/drawing/2014/main" id="{5B64A48D-8B5F-4DF4-AAB3-1AA7D7DD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8477250"/>
            <a:ext cx="266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79" name="devops-write-num-text">
            <a:extLst xmlns:a="http://schemas.openxmlformats.org/drawingml/2006/main">
              <a:ext uri="{FF2B5EF4-FFF2-40B4-BE49-F238E27FC236}">
                <a16:creationId xmlns:a16="http://schemas.microsoft.com/office/drawing/2014/main" id="{6F6CA4AC-40C0-411D-B093-D6820AB2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4867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0" name="devops-write-title">
            <a:extLst xmlns:a="http://schemas.openxmlformats.org/drawingml/2006/main">
              <a:ext uri="{FF2B5EF4-FFF2-40B4-BE49-F238E27FC236}">
                <a16:creationId xmlns:a16="http://schemas.microsoft.com/office/drawing/2014/main" id="{CE34013E-C4BE-4553-AB9E-EA15D125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8477250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提炼 / 写入</a:t>
            </a:r>
          </a:p>
        </p:txBody>
      </p:sp>
      <p:sp>
        <p:nvSpPr>
          <p:cNvPr id="181" name="devops-write-rule">
            <a:extLst xmlns:a="http://schemas.openxmlformats.org/drawingml/2006/main">
              <a:ext uri="{FF2B5EF4-FFF2-40B4-BE49-F238E27FC236}">
                <a16:creationId xmlns:a16="http://schemas.microsoft.com/office/drawing/2014/main" id="{689C1AB0-4717-454C-A9CF-699BF69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877252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9E9"/>
            </a:solidFill>
            <a:prstDash val="solid"/>
          </a:ln>
        </p:spPr>
      </p:sp>
      <p:sp>
        <p:nvSpPr>
          <p:cNvPr id="182" name="devops-write-main-0">
            <a:extLst xmlns:a="http://schemas.openxmlformats.org/drawingml/2006/main">
              <a:ext uri="{FF2B5EF4-FFF2-40B4-BE49-F238E27FC236}">
                <a16:creationId xmlns:a16="http://schemas.microsoft.com/office/drawing/2014/main" id="{5DDC529C-048E-4345-B07E-3A67F0EF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883920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Learning agent</a:t>
            </a:r>
          </a:p>
        </p:txBody>
      </p:sp>
      <p:sp>
        <p:nvSpPr>
          <p:cNvPr id="183" name="devops-write-sub-0">
            <a:extLst xmlns:a="http://schemas.openxmlformats.org/drawingml/2006/main">
              <a:ext uri="{FF2B5EF4-FFF2-40B4-BE49-F238E27FC236}">
                <a16:creationId xmlns:a16="http://schemas.microsoft.com/office/drawing/2014/main" id="{6E509B2A-9882-45FC-B60F-99222158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8963025"/>
            <a:ext cx="1866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每日分析近期调查</a:t>
            </a:r>
          </a:p>
        </p:txBody>
      </p:sp>
      <p:sp>
        <p:nvSpPr>
          <p:cNvPr id="184" name="devops-write-main-1">
            <a:extLst xmlns:a="http://schemas.openxmlformats.org/drawingml/2006/main">
              <a:ext uri="{FF2B5EF4-FFF2-40B4-BE49-F238E27FC236}">
                <a16:creationId xmlns:a16="http://schemas.microsoft.com/office/drawing/2014/main" id="{82994AF4-22CE-4023-A1A6-156F51EE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096375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Chat</a:t>
            </a:r>
          </a:p>
        </p:txBody>
      </p:sp>
      <p:sp>
        <p:nvSpPr>
          <p:cNvPr id="185" name="devops-write-sub-1">
            <a:extLst xmlns:a="http://schemas.openxmlformats.org/drawingml/2006/main">
              <a:ext uri="{FF2B5EF4-FFF2-40B4-BE49-F238E27FC236}">
                <a16:creationId xmlns:a16="http://schemas.microsoft.com/office/drawing/2014/main" id="{8414766D-FE45-40BC-9746-31F04757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220200"/>
            <a:ext cx="1866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写入 directives</a:t>
            </a:r>
          </a:p>
        </p:txBody>
      </p:sp>
      <p:sp>
        <p:nvSpPr>
          <p:cNvPr id="186" name="devops-shared-memory">
            <a:extLst xmlns:a="http://schemas.openxmlformats.org/drawingml/2006/main">
              <a:ext uri="{FF2B5EF4-FFF2-40B4-BE49-F238E27FC236}">
                <a16:creationId xmlns:a16="http://schemas.microsoft.com/office/drawing/2014/main" id="{8D697A27-92B6-4E13-93AA-5A299F1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900" y="8382000"/>
            <a:ext cx="2476500" cy="962025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14288">
            <a:solidFill>
              <a:srgbClr val="C73E37"/>
            </a:solidFill>
            <a:prstDash val="solid"/>
          </a:ln>
        </p:spPr>
      </p:sp>
      <p:sp>
        <p:nvSpPr>
          <p:cNvPr id="187" name="devops-shared-memory-num">
            <a:extLst xmlns:a="http://schemas.openxmlformats.org/drawingml/2006/main">
              <a:ext uri="{FF2B5EF4-FFF2-40B4-BE49-F238E27FC236}">
                <a16:creationId xmlns:a16="http://schemas.microsoft.com/office/drawing/2014/main" id="{8FEE63C8-587C-4A3B-948E-0EB1846F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0" y="8477250"/>
            <a:ext cx="266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7"/>
          </a:solidFill>
          <a:ln xmlns:a="http://schemas.openxmlformats.org/drawingml/2006/main" w="0">
            <a:solidFill>
              <a:srgbClr val="C73E37"/>
            </a:solidFill>
            <a:prstDash val="solid"/>
          </a:ln>
        </p:spPr>
      </p:sp>
      <p:sp>
        <p:nvSpPr>
          <p:cNvPr id="188" name="devops-shared-memory-num-text">
            <a:extLst xmlns:a="http://schemas.openxmlformats.org/drawingml/2006/main">
              <a:ext uri="{FF2B5EF4-FFF2-40B4-BE49-F238E27FC236}">
                <a16:creationId xmlns:a16="http://schemas.microsoft.com/office/drawing/2014/main" id="{DB75814E-B998-40BA-B8BF-10BAE11D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84867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9" name="devops-shared-memory-title">
            <a:extLst xmlns:a="http://schemas.openxmlformats.org/drawingml/2006/main">
              <a:ext uri="{FF2B5EF4-FFF2-40B4-BE49-F238E27FC236}">
                <a16:creationId xmlns:a16="http://schemas.microsoft.com/office/drawing/2014/main" id="{4957744B-D134-410E-8BE2-0D13C549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0" y="84772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Agent Space 共享 Memory</a:t>
            </a:r>
          </a:p>
        </p:txBody>
      </p:sp>
      <p:sp>
        <p:nvSpPr>
          <p:cNvPr id="190" name="devops-shared-memory-rule">
            <a:extLst xmlns:a="http://schemas.openxmlformats.org/drawingml/2006/main">
              <a:ext uri="{FF2B5EF4-FFF2-40B4-BE49-F238E27FC236}">
                <a16:creationId xmlns:a16="http://schemas.microsoft.com/office/drawing/2014/main" id="{627918AA-1715-4CDE-9071-49007D5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4150" y="877252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3E37"/>
            </a:solidFill>
            <a:prstDash val="solid"/>
          </a:ln>
        </p:spPr>
      </p:sp>
      <p:sp>
        <p:nvSpPr>
          <p:cNvPr id="191" name="devops-shared-memory-main-0">
            <a:extLst xmlns:a="http://schemas.openxmlformats.org/drawingml/2006/main">
              <a:ext uri="{FF2B5EF4-FFF2-40B4-BE49-F238E27FC236}">
                <a16:creationId xmlns:a16="http://schemas.microsoft.com/office/drawing/2014/main" id="{85964497-1258-46CB-A03C-3CE69ED1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0" y="8839200"/>
            <a:ext cx="2247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monitors</a:t>
            </a:r>
          </a:p>
        </p:txBody>
      </p:sp>
      <p:sp>
        <p:nvSpPr>
          <p:cNvPr id="192" name="devops-shared-memory-sub-0">
            <a:extLst xmlns:a="http://schemas.openxmlformats.org/drawingml/2006/main">
              <a:ext uri="{FF2B5EF4-FFF2-40B4-BE49-F238E27FC236}">
                <a16:creationId xmlns:a16="http://schemas.microsoft.com/office/drawing/2014/main" id="{95769359-5312-4E5D-99BA-E9EBE794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0" y="8963025"/>
            <a:ext cx="2247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调查经验</a:t>
            </a:r>
          </a:p>
        </p:txBody>
      </p:sp>
      <p:sp>
        <p:nvSpPr>
          <p:cNvPr id="193" name="devops-shared-memory-main-1">
            <a:extLst xmlns:a="http://schemas.openxmlformats.org/drawingml/2006/main">
              <a:ext uri="{FF2B5EF4-FFF2-40B4-BE49-F238E27FC236}">
                <a16:creationId xmlns:a16="http://schemas.microsoft.com/office/drawing/2014/main" id="{B33FDABA-D372-44E9-8F6C-826EEE36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0" y="9096375"/>
            <a:ext cx="2247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directives</a:t>
            </a:r>
          </a:p>
        </p:txBody>
      </p:sp>
      <p:sp>
        <p:nvSpPr>
          <p:cNvPr id="194" name="devops-shared-memory-sub-1">
            <a:extLst xmlns:a="http://schemas.openxmlformats.org/drawingml/2006/main">
              <a:ext uri="{FF2B5EF4-FFF2-40B4-BE49-F238E27FC236}">
                <a16:creationId xmlns:a16="http://schemas.microsoft.com/office/drawing/2014/main" id="{A4DA4FE0-745D-4CBC-AFC2-E933E51E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0" y="9220200"/>
            <a:ext cx="2247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团队约定与版本</a:t>
            </a:r>
          </a:p>
        </p:txBody>
      </p:sp>
      <p:sp>
        <p:nvSpPr>
          <p:cNvPr id="195" name="devops-next-investigation">
            <a:extLst xmlns:a="http://schemas.openxmlformats.org/drawingml/2006/main">
              <a:ext uri="{FF2B5EF4-FFF2-40B4-BE49-F238E27FC236}">
                <a16:creationId xmlns:a16="http://schemas.microsoft.com/office/drawing/2014/main" id="{A0EC0FC2-BA36-46B8-9D92-0382405B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350" y="8382000"/>
            <a:ext cx="2533650" cy="962025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96" name="devops-next-investigation-num">
            <a:extLst xmlns:a="http://schemas.openxmlformats.org/drawingml/2006/main">
              <a:ext uri="{FF2B5EF4-FFF2-40B4-BE49-F238E27FC236}">
                <a16:creationId xmlns:a16="http://schemas.microsoft.com/office/drawing/2014/main" id="{745608E0-E642-4211-B5C3-E04AD024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0" y="8477250"/>
            <a:ext cx="266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97" name="devops-next-investigation-num-text">
            <a:extLst xmlns:a="http://schemas.openxmlformats.org/drawingml/2006/main">
              <a:ext uri="{FF2B5EF4-FFF2-40B4-BE49-F238E27FC236}">
                <a16:creationId xmlns:a16="http://schemas.microsoft.com/office/drawing/2014/main" id="{7617F87F-FE99-4EF6-A194-0DD2CABA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0700" y="84867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8" name="devops-next-investigation-title">
            <a:extLst xmlns:a="http://schemas.openxmlformats.org/drawingml/2006/main">
              <a:ext uri="{FF2B5EF4-FFF2-40B4-BE49-F238E27FC236}">
                <a16:creationId xmlns:a16="http://schemas.microsoft.com/office/drawing/2014/main" id="{FEAF15E0-FBBD-4301-9374-949E6C9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0" y="8477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后续调查</a:t>
            </a:r>
          </a:p>
        </p:txBody>
      </p:sp>
      <p:sp>
        <p:nvSpPr>
          <p:cNvPr id="199" name="devops-next-investigation-rule">
            <a:extLst xmlns:a="http://schemas.openxmlformats.org/drawingml/2006/main">
              <a:ext uri="{FF2B5EF4-FFF2-40B4-BE49-F238E27FC236}">
                <a16:creationId xmlns:a16="http://schemas.microsoft.com/office/drawing/2014/main" id="{052DA750-A003-4569-94D8-F0C56568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0" y="8772525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9E9"/>
            </a:solidFill>
            <a:prstDash val="solid"/>
          </a:ln>
        </p:spPr>
      </p:sp>
      <p:sp>
        <p:nvSpPr>
          <p:cNvPr id="200" name="devops-next-investigation-main-0">
            <a:extLst xmlns:a="http://schemas.openxmlformats.org/drawingml/2006/main">
              <a:ext uri="{FF2B5EF4-FFF2-40B4-BE49-F238E27FC236}">
                <a16:creationId xmlns:a16="http://schemas.microsoft.com/office/drawing/2014/main" id="{5738051D-4954-4D97-8D72-886F035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1650" y="8839200"/>
            <a:ext cx="2305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按需读取</a:t>
            </a:r>
          </a:p>
        </p:txBody>
      </p:sp>
      <p:sp>
        <p:nvSpPr>
          <p:cNvPr id="201" name="devops-next-investigation-sub-0">
            <a:extLst xmlns:a="http://schemas.openxmlformats.org/drawingml/2006/main">
              <a:ext uri="{FF2B5EF4-FFF2-40B4-BE49-F238E27FC236}">
                <a16:creationId xmlns:a16="http://schemas.microsoft.com/office/drawing/2014/main" id="{03618175-FA5E-4863-AD18-25E714E4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1650" y="8963025"/>
            <a:ext cx="2305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定位相关 Memory</a:t>
            </a:r>
          </a:p>
        </p:txBody>
      </p:sp>
      <p:sp>
        <p:nvSpPr>
          <p:cNvPr id="202" name="devops-next-investigation-main-1">
            <a:extLst xmlns:a="http://schemas.openxmlformats.org/drawingml/2006/main">
              <a:ext uri="{FF2B5EF4-FFF2-40B4-BE49-F238E27FC236}">
                <a16:creationId xmlns:a16="http://schemas.microsoft.com/office/drawing/2014/main" id="{13769931-9B2A-4EA2-B9DD-F8BD6D30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1650" y="9096375"/>
            <a:ext cx="2305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重新验证</a:t>
            </a:r>
          </a:p>
        </p:txBody>
      </p:sp>
      <p:sp>
        <p:nvSpPr>
          <p:cNvPr id="203" name="devops-next-investigation-sub-1">
            <a:extLst xmlns:a="http://schemas.openxmlformats.org/drawingml/2006/main">
              <a:ext uri="{FF2B5EF4-FFF2-40B4-BE49-F238E27FC236}">
                <a16:creationId xmlns:a16="http://schemas.microsoft.com/office/drawing/2014/main" id="{62491AB5-336A-4463-ACAE-046F2E0F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1650" y="9220200"/>
            <a:ext cx="2305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核对当前状态</a:t>
            </a:r>
          </a:p>
        </p:txBody>
      </p:sp>
      <p:sp>
        <p:nvSpPr>
          <p:cNvPr id="204" name="devops-summary">
            <a:extLst xmlns:a="http://schemas.openxmlformats.org/drawingml/2006/main">
              <a:ext uri="{FF2B5EF4-FFF2-40B4-BE49-F238E27FC236}">
                <a16:creationId xmlns:a16="http://schemas.microsoft.com/office/drawing/2014/main" id="{4BC1509A-7861-4B69-B7EA-27F1671A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9563100"/>
            <a:ext cx="10668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C73E37"/>
            </a:solidFill>
            <a:prstDash val="solid"/>
          </a:ln>
        </p:spPr>
      </p:sp>
      <p:sp>
        <p:nvSpPr>
          <p:cNvPr id="205" name="devops-summary-text">
            <a:extLst xmlns:a="http://schemas.openxmlformats.org/drawingml/2006/main">
              <a:ext uri="{FF2B5EF4-FFF2-40B4-BE49-F238E27FC236}">
                <a16:creationId xmlns:a16="http://schemas.microsoft.com/office/drawing/2014/main" id="{CC8B9C06-59F2-4CA5-9DF9-5828B82B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572625"/>
            <a:ext cx="1036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调查经验和团队约定沉淀为共享 Memory，供后续调查按需复用</a:t>
            </a:r>
          </a:p>
        </p:txBody>
      </p:sp>
      <p:sp>
        <p:nvSpPr>
          <p:cNvPr id="206" name="devops-evidence-boundary">
            <a:extLst xmlns:a="http://schemas.openxmlformats.org/drawingml/2006/main">
              <a:ext uri="{FF2B5EF4-FFF2-40B4-BE49-F238E27FC236}">
                <a16:creationId xmlns:a16="http://schemas.microsoft.com/office/drawing/2014/main" id="{4FF810F4-DB5C-4FE4-BE73-FB5BC497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039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证据边界：AWS 未公开两者 API 的逐项映射；当前状态仍需重新检查</a:t>
            </a:r>
          </a:p>
        </p:txBody>
      </p:sp>
      <p:sp>
        <p:nvSpPr>
          <p:cNvPr id="207" name="insight-frame">
            <a:extLst xmlns:a="http://schemas.openxmlformats.org/drawingml/2006/main">
              <a:ext uri="{FF2B5EF4-FFF2-40B4-BE49-F238E27FC236}">
                <a16:creationId xmlns:a16="http://schemas.microsoft.com/office/drawing/2014/main" id="{6A6DDB7F-95A8-41E7-86AB-2DAF6DA4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20375"/>
            <a:ext cx="23241000" cy="1838325"/>
          </a:xfrm>
          <a:prstGeom xmlns:a="http://schemas.openxmlformats.org/drawingml/2006/main" prst="roundRect">
            <a:avLst>
              <a:gd name="adj" fmla="val 113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08" name="insight-pill">
            <a:extLst xmlns:a="http://schemas.openxmlformats.org/drawingml/2006/main">
              <a:ext uri="{FF2B5EF4-FFF2-40B4-BE49-F238E27FC236}">
                <a16:creationId xmlns:a16="http://schemas.microsoft.com/office/drawing/2014/main" id="{1AFE71E1-94F0-4095-919B-F2AC65F3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925175"/>
            <a:ext cx="12573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209" name="insight-pill-text">
            <a:extLst xmlns:a="http://schemas.openxmlformats.org/drawingml/2006/main">
              <a:ext uri="{FF2B5EF4-FFF2-40B4-BE49-F238E27FC236}">
                <a16:creationId xmlns:a16="http://schemas.microsoft.com/office/drawing/2014/main" id="{36650B38-EFCE-41CF-95A1-B576E42D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9347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洞察启示</a:t>
            </a:r>
          </a:p>
        </p:txBody>
      </p:sp>
      <p:sp>
        <p:nvSpPr>
          <p:cNvPr id="210" name="insight-main">
            <a:extLst xmlns:a="http://schemas.openxmlformats.org/drawingml/2006/main">
              <a:ext uri="{FF2B5EF4-FFF2-40B4-BE49-F238E27FC236}">
                <a16:creationId xmlns:a16="http://schemas.microsoft.com/office/drawing/2014/main" id="{3F4C3B83-624C-429B-866D-7DD60976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839450"/>
            <a:ext cx="2009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Agent CI/CD 不只管理代码，还要管理“如何评估”与“如何记忆”</a:t>
            </a:r>
          </a:p>
        </p:txBody>
      </p:sp>
      <p:sp>
        <p:nvSpPr>
          <p:cNvPr id="211" name="insight-action">
            <a:extLst xmlns:a="http://schemas.openxmlformats.org/drawingml/2006/main">
              <a:ext uri="{FF2B5EF4-FFF2-40B4-BE49-F238E27FC236}">
                <a16:creationId xmlns:a16="http://schemas.microsoft.com/office/drawing/2014/main" id="{83C13326-E998-430B-8348-4D2BAE1E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382375"/>
            <a:ext cx="2085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3E37"/>
                </a:solidFill>
                <a:latin typeface="Microsoft YaHei"/>
                <a:ea typeface="Microsoft YaHei"/>
                <a:cs typeface="Microsoft YaHei"/>
              </a:rPr>
              <a:t>评估器与 Memory Strategy 随版本回归；长期 Record 独立管理权限、隔离和删除</a:t>
            </a:r>
          </a:p>
        </p:txBody>
      </p:sp>
      <p:sp>
        <p:nvSpPr>
          <p:cNvPr id="2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984FD96-588B-40CD-88D7-72D91361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0" y="130873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29292"/>
                </a:solidFill>
                <a:latin typeface="Microsoft YaHei"/>
                <a:ea typeface="Microsoft YaHei"/>
                <a:cs typeface="Microsoft YaHei"/>
              </a:rPr>
              <a:t>AWS 官方文档与博客｜as of 2026-08-04</a:t>
            </a:r>
          </a:p>
        </p:txBody>
      </p:sp>
    </p:spTree>
    <p:extLst>
      <p:ext uri="{BB962C8B-B14F-4D97-AF65-F5344CB8AC3E}">
        <p14:creationId xmlns:p14="http://schemas.microsoft.com/office/powerpoint/2010/main" val="1882205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2026-08-04T09:56:09.9660000Z</dcterms:created>
  <dcterms:modified xsi:type="dcterms:W3CDTF">2026-08-04T09:56:09.9660000Z</dcterms:modified>
</coreProperties>
</file>