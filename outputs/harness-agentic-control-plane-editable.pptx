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d6712c24d2476f" /><Relationship Type="http://schemas.openxmlformats.org/officeDocument/2006/relationships/extended-properties" Target="/docProps/app.xml" Id="Raa4aad43ad8d44ac" /><Relationship Type="http://schemas.openxmlformats.org/officeDocument/2006/relationships/officeDocument" Target="/ppt/presentation.xml" Id="Rd9f6d0eb01f345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4fc9fd8dcdf4c9e"/>
  </p:sldMasterIdLst>
  <p:notesMasterIdLst>
    <p:notesMasterId xmlns:r="http://schemas.openxmlformats.org/officeDocument/2006/relationships" r:id="Rf6ed38dc3d5b45fb"/>
  </p:notesMasterIdLst>
  <p:sldIdLst>
    <p:sldId xmlns:r="http://schemas.openxmlformats.org/officeDocument/2006/relationships" id="256" r:id="Rd68dbeb73d0d4a4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229c82a22f24f20" /><Relationship Type="http://schemas.openxmlformats.org/officeDocument/2006/relationships/slideMaster" Target="/ppt/slideMasters/slideMaster1.xml" Id="R74fc9fd8dcdf4c9e" /><Relationship Type="http://schemas.openxmlformats.org/officeDocument/2006/relationships/notesMaster" Target="/ppt/notesMasters/notesMaster1.xml" Id="Rf6ed38dc3d5b45fb" /><Relationship Type="http://schemas.openxmlformats.org/officeDocument/2006/relationships/presProps" Target="/ppt/presProps.xml" Id="R6126c99229854662" /><Relationship Type="http://schemas.openxmlformats.org/officeDocument/2006/relationships/tableStyles" Target="/ppt/tableStyles.xml" Id="Rbb535082b9d44b0b" /><Relationship Type="http://schemas.openxmlformats.org/officeDocument/2006/relationships/slide" Target="/ppt/slides/slide1.xml" Id="Rd68dbeb73d0d4a4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00d778b6c9b475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3aa17c76e041b4" /><Relationship Type="http://schemas.openxmlformats.org/officeDocument/2006/relationships/notesMaster" Target="/ppt/notesMasters/notesMaster1.xml" Id="R56db011c9bc747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0ccc15308041b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20771FAA-97B0-4F81-A5BB-ECB6D39F4B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CEB08E69-07F7-4E07-9BA1-D851AEE5722A}"/>
              </a:ext>
            </a:extLst>
          </p:cNvPr>
          <p:cNvSpPr>
            <a:spLocks xmlns:a="http://schemas.openxmlformats.org/drawingml/2006/main" noGrp="1"/>
          </p:cNvSpPr>
          <p:nvPr>
            <p:ph type="subTitle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50248c0ae846ad" /><Relationship Type="http://schemas.openxmlformats.org/officeDocument/2006/relationships/slideLayout" Target="/ppt/slideLayouts/slideLayout1.xml" Id="R4f4d58cf69ca4cc9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4d58cf69ca4cc9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e2ec994cd6427d" /><Relationship Type="http://schemas.openxmlformats.org/officeDocument/2006/relationships/notesSlide" Target="/ppt/notesSlides/notesSlide1.xml" Id="Re93055d0d81a40e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01-用户场景与反馈闭环-外框">
            <a:extLst xmlns:a="http://schemas.openxmlformats.org/drawingml/2006/main">
              <a:ext uri="{FF2B5EF4-FFF2-40B4-BE49-F238E27FC236}">
                <a16:creationId xmlns:a16="http://schemas.microsoft.com/office/drawing/2014/main" id="{0B2D22C5-B8DE-4A01-B360-6038EE0F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6191250" cy="552450"/>
          </a:xfrm>
          <a:prstGeom xmlns:a="http://schemas.openxmlformats.org/drawingml/2006/main" prst="roundRect">
            <a:avLst>
              <a:gd name="adj" fmla="val 2069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7D6B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1" name="01-层标题">
            <a:extLst xmlns:a="http://schemas.openxmlformats.org/drawingml/2006/main">
              <a:ext uri="{FF2B5EF4-FFF2-40B4-BE49-F238E27FC236}">
                <a16:creationId xmlns:a16="http://schemas.microsoft.com/office/drawing/2014/main" id="{BF9A8033-7A5A-4887-AAA3-444127129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14425"/>
            <a:ext cx="6000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825" b="1">
                <a:solidFill>
                  <a:srgbClr val="315E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 u="none">
                <a:solidFill>
                  <a:srgbClr val="315E3C"/>
                </a:solidFill>
                <a:latin typeface="Microsoft YaHei"/>
                <a:ea typeface="Microsoft YaHei"/>
                <a:cs typeface="Microsoft YaHei"/>
              </a:rPr>
              <a:t>01  用户场景与反馈闭环</a:t>
            </a:r>
          </a:p>
        </p:txBody>
      </p:sp>
      <p:sp>
        <p:nvSpPr>
          <p:cNvPr id="12" name="01-场景-1">
            <a:extLst xmlns:a="http://schemas.openxmlformats.org/drawingml/2006/main">
              <a:ext uri="{FF2B5EF4-FFF2-40B4-BE49-F238E27FC236}">
                <a16:creationId xmlns:a16="http://schemas.microsoft.com/office/drawing/2014/main" id="{9F3E4C00-BD14-45FF-8CC8-6AD2310E6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76350"/>
            <a:ext cx="5924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900" b="1">
                <a:solidFill>
                  <a:srgbClr val="214D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 u="none">
                <a:solidFill>
                  <a:srgbClr val="214D2E"/>
                </a:solidFill>
                <a:latin typeface="Microsoft YaHei"/>
                <a:ea typeface="Microsoft YaHei"/>
                <a:cs typeface="Microsoft YaHei"/>
              </a:rPr>
              <a:t>代码 / PR　·　构建 / 测试　·　安全　·　部署 / 发布　·　运行 / SRE</a:t>
            </a:r>
          </a:p>
        </p:txBody>
      </p:sp>
      <p:sp>
        <p:nvSpPr>
          <p:cNvPr id="13" name="01-分隔点-1">
            <a:extLst xmlns:a="http://schemas.openxmlformats.org/drawingml/2006/main">
              <a:ext uri="{FF2B5EF4-FFF2-40B4-BE49-F238E27FC236}">
                <a16:creationId xmlns:a16="http://schemas.microsoft.com/office/drawing/2014/main" id="{537320FD-F8D8-4FE4-B7F8-C7D7FA38A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914900"/>
            <a:ext cx="4724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3" b="1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流程定义：</a:t>
            </a:r>
            <a:r>
              <a: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DevOps Agent 生成 / 优化，Pipeline 保持用户可见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3" b="1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确定性治理：</a:t>
            </a:r>
            <a:r>
              <a: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DAG、Approval / OPA、Retry、Failure Strategy、Rollback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3" b="1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动态边界：</a:t>
            </a:r>
            <a:r>
              <a: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Dynamic Pipeline / Stage 是受控扩展，不等于总控 Agent</a:t>
            </a:r>
          </a:p>
        </p:txBody>
      </p:sp>
      <p:sp>
        <p:nvSpPr>
          <p:cNvPr id="14" name="01-场景-2">
            <a:extLst xmlns:a="http://schemas.openxmlformats.org/drawingml/2006/main">
              <a:ext uri="{FF2B5EF4-FFF2-40B4-BE49-F238E27FC236}">
                <a16:creationId xmlns:a16="http://schemas.microsoft.com/office/drawing/2014/main" id="{75FE6CA4-F17A-49AE-9755-7F74BF126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5924550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563">
                <a:solidFill>
                  <a:srgbClr val="6A82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63" b="1" u="none">
                <a:solidFill>
                  <a:srgbClr val="6A8270"/>
                </a:solidFill>
                <a:latin typeface="Microsoft YaHei"/>
                <a:ea typeface="Microsoft YaHei"/>
                <a:cs typeface="Microsoft YaHei"/>
              </a:rPr>
              <a:t>输入：Intent / Event　　反馈：Artifact / Evidence / State</a:t>
            </a:r>
          </a:p>
        </p:txBody>
      </p:sp>
      <p:sp>
        <p:nvSpPr>
          <p:cNvPr id="15" name="01-分隔点-2">
            <a:extLst xmlns:a="http://schemas.openxmlformats.org/drawingml/2006/main">
              <a:ext uri="{FF2B5EF4-FFF2-40B4-BE49-F238E27FC236}">
                <a16:creationId xmlns:a16="http://schemas.microsoft.com/office/drawing/2014/main" id="{D6955C88-AF64-4C2D-9482-A9C43CA51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626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 defTabSz="914400">
              <a:lnSpc>
                <a:spcPct val="100000"/>
              </a:lnSpc>
              <a:buNone/>
              <a:tabLst>
                <a:tab pos="0" algn="l"/>
              </a:tabLst>
              <a:defRPr sz="1200" b="1">
                <a:solidFill>
                  <a:srgbClr val="D46A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u="none">
                <a:solidFill>
                  <a:srgbClr val="D46A2E"/>
                </a:solidFill>
                <a:latin typeface="Microsoft YaHei"/>
                <a:ea typeface="Microsoft YaHei"/>
                <a:cs typeface="Microsoft YaHei"/>
              </a:rPr>
              <a:t>启示</a:t>
            </a:r>
          </a:p>
        </p:txBody>
      </p:sp>
      <p:sp>
        <p:nvSpPr>
          <p:cNvPr id="16" name="01-场景-3">
            <a:extLst xmlns:a="http://schemas.openxmlformats.org/drawingml/2006/main">
              <a:ext uri="{FF2B5EF4-FFF2-40B4-BE49-F238E27FC236}">
                <a16:creationId xmlns:a16="http://schemas.microsoft.com/office/drawing/2014/main" id="{0351A518-40D9-4799-B044-556ED716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104900"/>
            <a:ext cx="472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 defTabSz="914400">
              <a:lnSpc>
                <a:spcPct val="100000"/>
              </a:lnSpc>
              <a:buNone/>
              <a:tabLst>
                <a:tab pos="0" algn="l"/>
              </a:tabLst>
              <a:defRPr sz="1650" b="1">
                <a:solidFill>
                  <a:srgbClr val="1325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u="none">
                <a:solidFill>
                  <a:srgbClr val="13253D"/>
                </a:solidFill>
                <a:latin typeface="Microsoft YaHei"/>
                <a:ea typeface="Microsoft YaHei"/>
                <a:cs typeface="Microsoft YaHei"/>
              </a:rPr>
              <a:t>从交付上下文到受控行动</a:t>
            </a:r>
          </a:p>
        </p:txBody>
      </p:sp>
      <p:sp>
        <p:nvSpPr>
          <p:cNvPr id="17" name="01-分隔点-3">
            <a:extLst xmlns:a="http://schemas.openxmlformats.org/drawingml/2006/main">
              <a:ext uri="{FF2B5EF4-FFF2-40B4-BE49-F238E27FC236}">
                <a16:creationId xmlns:a16="http://schemas.microsoft.com/office/drawing/2014/main" id="{E1EDB801-4AE8-4ED5-AF3C-D6C55A67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19775"/>
            <a:ext cx="10668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 defTabSz="914400">
              <a:lnSpc>
                <a:spcPct val="105000"/>
              </a:lnSpc>
              <a:buNone/>
              <a:tabLst>
                <a:tab pos="0" algn="l"/>
              </a:tabLst>
              <a:defRPr sz="1365" b="1">
                <a:solidFill>
                  <a:srgbClr val="1325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65" b="1" u="none">
                <a:solidFill>
                  <a:srgbClr val="13253D"/>
                </a:solidFill>
                <a:latin typeface="Microsoft YaHei"/>
                <a:ea typeface="Microsoft YaHei"/>
                <a:cs typeface="Microsoft YaHei"/>
              </a:rPr>
              <a:t>Harness 的智能编排不是让 Agent 取代 Pipeline，而是让 Agent 生成、优化并参与流程，再由 Pipeline 将局部推理纳入跨模块、可审计、可恢复的交付控制。</a:t>
            </a:r>
          </a:p>
        </p:txBody>
      </p:sp>
      <p:sp>
        <p:nvSpPr>
          <p:cNvPr id="18" name="01-场景-4">
            <a:extLst xmlns:a="http://schemas.openxmlformats.org/drawingml/2006/main">
              <a:ext uri="{FF2B5EF4-FFF2-40B4-BE49-F238E27FC236}">
                <a16:creationId xmlns:a16="http://schemas.microsoft.com/office/drawing/2014/main" id="{CE6BA94F-275A-4E5D-A001-D009F90B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428750"/>
            <a:ext cx="472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 defTabSz="914400">
              <a:lnSpc>
                <a:spcPct val="112000"/>
              </a:lnSpc>
              <a:buNone/>
              <a:tabLst>
                <a:tab pos="0" algn="l"/>
              </a:tabLst>
              <a:defRPr sz="900">
                <a:solidFill>
                  <a:srgbClr val="5262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 u="none">
                <a:solidFill>
                  <a:srgbClr val="526276"/>
                </a:solidFill>
                <a:latin typeface="Microsoft YaHei"/>
                <a:ea typeface="Microsoft YaHei"/>
                <a:cs typeface="Microsoft YaHei"/>
              </a:rPr>
              <a:t>三类智能体读取上下文、调用工具，再由 Pipeline 与权限边界把概率判断纳入确定性执行。</a:t>
            </a:r>
          </a:p>
        </p:txBody>
      </p:sp>
      <p:sp>
        <p:nvSpPr>
          <p:cNvPr id="19" name="01-分隔点-4">
            <a:extLst xmlns:a="http://schemas.openxmlformats.org/drawingml/2006/main">
              <a:ext uri="{FF2B5EF4-FFF2-40B4-BE49-F238E27FC236}">
                <a16:creationId xmlns:a16="http://schemas.microsoft.com/office/drawing/2014/main" id="{5BF18D4B-BE08-4B59-B8E9-88A3AB358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81775"/>
            <a:ext cx="112776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 defTabSz="914400">
              <a:lnSpc>
                <a:spcPct val="100000"/>
              </a:lnSpc>
              <a:buNone/>
              <a:tabLst>
                <a:tab pos="0" algn="l"/>
              </a:tabLst>
              <a:defRPr sz="472">
                <a:solidFill>
                  <a:srgbClr val="91A0B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72" b="1" u="none">
                <a:solidFill>
                  <a:srgbClr val="91A0B1"/>
                </a:solidFill>
                <a:latin typeface="Microsoft YaHei"/>
                <a:ea typeface="Microsoft YaHei"/>
                <a:cs typeface="Microsoft YaHei"/>
              </a:rPr>
              <a:t>来源：Harness AI、DevOps / Worker Agents、Knowledge Graph / HQL、Dynamic Pipeline、Approval / OPA / Failure Strategy 官方文档；分析视图，as of 2026-07-24</a:t>
            </a:r>
          </a:p>
        </p:txBody>
      </p:sp>
      <p:sp>
        <p:nvSpPr>
          <p:cNvPr id="20" name="01-场景-5">
            <a:extLst xmlns:a="http://schemas.openxmlformats.org/drawingml/2006/main">
              <a:ext uri="{FF2B5EF4-FFF2-40B4-BE49-F238E27FC236}">
                <a16:creationId xmlns:a16="http://schemas.microsoft.com/office/drawing/2014/main" id="{B213AC88-678B-4BD6-B405-27BB5839C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676775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 defTabSz="914400">
              <a:lnSpc>
                <a:spcPct val="112000"/>
              </a:lnSpc>
              <a:buNone/>
              <a:tabLst>
                <a:tab pos="0" algn="l"/>
              </a:tabLst>
              <a:defRPr sz="1050" b="1">
                <a:solidFill>
                  <a:srgbClr val="1F4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u="none">
                <a:solidFill>
                  <a:srgbClr val="1F4F7A"/>
                </a:solidFill>
                <a:latin typeface="Microsoft YaHei"/>
                <a:ea typeface="Microsoft YaHei"/>
                <a:cs typeface="Microsoft YaHei"/>
              </a:rPr>
              <a:t>04  智能工作流编排｜让行动可控、可恢复</a:t>
            </a:r>
          </a:p>
        </p:txBody>
      </p:sp>
      <p:sp>
        <p:nvSpPr>
          <p:cNvPr id="21" name="01-反馈闭环说明">
            <a:extLst xmlns:a="http://schemas.openxmlformats.org/drawingml/2006/main">
              <a:ext uri="{FF2B5EF4-FFF2-40B4-BE49-F238E27FC236}">
                <a16:creationId xmlns:a16="http://schemas.microsoft.com/office/drawing/2014/main" id="{A5105B00-98C1-4C17-9138-CCC7FE22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"/>
            <a:ext cx="112776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82742"/>
          </a:bodyPr>
          <a:lstStyle xmlns:a="http://schemas.openxmlformats.org/drawingml/2006/main"/>
          <a:p xmlns:a="http://schemas.openxmlformats.org/drawingml/2006/main">
            <a:pPr algn="l" defTabSz="914400">
              <a:lnSpc>
                <a:spcPct val="90000"/>
              </a:lnSpc>
              <a:buNone/>
              <a:tabLst>
                <a:tab pos="0" algn="l"/>
              </a:tabLst>
              <a:defRPr sz="3525" b="1">
                <a:solidFill>
                  <a:srgbClr val="132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u="none">
                <a:solidFill>
                  <a:srgbClr val="13243A"/>
                </a:solidFill>
                <a:latin typeface="Microsoft YaHei"/>
                <a:ea typeface="Microsoft YaHei"/>
                <a:cs typeface="Microsoft YaHei"/>
              </a:rPr>
              <a:t>Harness CI：将会推理、能行动、可治理的 Agent</a:t>
            </a:r>
          </a:p>
          <a:p xmlns:a="http://schemas.openxmlformats.org/drawingml/2006/main">
            <a:pPr algn="l" defTabSz="914400">
              <a:lnSpc>
                <a:spcPct val="90000"/>
              </a:lnSpc>
              <a:buNone/>
              <a:tabLst>
                <a:tab pos="0" algn="l"/>
              </a:tabLst>
              <a:defRPr sz="3525" b="1">
                <a:solidFill>
                  <a:srgbClr val="132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u="none">
                <a:solidFill>
                  <a:srgbClr val="13243A"/>
                </a:solidFill>
                <a:latin typeface="Microsoft YaHei"/>
                <a:ea typeface="Microsoft YaHei"/>
                <a:cs typeface="Microsoft YaHei"/>
              </a:rPr>
              <a:t>嵌入交付 Pipeline</a:t>
            </a:r>
          </a:p>
        </p:txBody>
      </p:sp>
      <p:sp>
        <p:nvSpPr>
          <p:cNvPr id="22" name="02-开发者入口-外框">
            <a:extLst xmlns:a="http://schemas.openxmlformats.org/drawingml/2006/main">
              <a:ext uri="{FF2B5EF4-FFF2-40B4-BE49-F238E27FC236}">
                <a16:creationId xmlns:a16="http://schemas.microsoft.com/office/drawing/2014/main" id="{05A58A6F-D0FB-42D6-9755-50433D03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76400"/>
            <a:ext cx="6191250" cy="495300"/>
          </a:xfrm>
          <a:prstGeom xmlns:a="http://schemas.openxmlformats.org/drawingml/2006/main" prst="roundRect">
            <a:avLst>
              <a:gd name="adj" fmla="val 2307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DD0E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3" name="02-层标题">
            <a:extLst xmlns:a="http://schemas.openxmlformats.org/drawingml/2006/main">
              <a:ext uri="{FF2B5EF4-FFF2-40B4-BE49-F238E27FC236}">
                <a16:creationId xmlns:a16="http://schemas.microsoft.com/office/drawing/2014/main" id="{C2C2AF26-27C6-4EE4-BE56-11B3270FB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24025"/>
            <a:ext cx="6000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825" b="1">
                <a:solidFill>
                  <a:srgbClr val="244C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 u="none">
                <a:solidFill>
                  <a:srgbClr val="244C73"/>
                </a:solidFill>
                <a:latin typeface="Microsoft YaHei"/>
                <a:ea typeface="Microsoft YaHei"/>
                <a:cs typeface="Microsoft YaHei"/>
              </a:rPr>
              <a:t>02  开发者入口</a:t>
            </a:r>
          </a:p>
        </p:txBody>
      </p:sp>
      <p:sp>
        <p:nvSpPr>
          <p:cNvPr id="24" name="02-入口-1">
            <a:extLst xmlns:a="http://schemas.openxmlformats.org/drawingml/2006/main">
              <a:ext uri="{FF2B5EF4-FFF2-40B4-BE49-F238E27FC236}">
                <a16:creationId xmlns:a16="http://schemas.microsoft.com/office/drawing/2014/main" id="{B8DA05E5-9580-4F97-83F7-DFCD0F2B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85950"/>
            <a:ext cx="5924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863" b="1">
                <a:solidFill>
                  <a:srgbClr val="193F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 u="none">
                <a:solidFill>
                  <a:srgbClr val="193F69"/>
                </a:solidFill>
                <a:latin typeface="Microsoft YaHei"/>
                <a:ea typeface="Microsoft YaHei"/>
                <a:cs typeface="Microsoft YaHei"/>
              </a:rPr>
              <a:t>Harness UI　·　VS Code　·　MCP Client + Skills　·　CLI 3.0 Beta</a:t>
            </a:r>
          </a:p>
        </p:txBody>
      </p:sp>
      <p:sp>
        <p:nvSpPr>
          <p:cNvPr id="25" name="02-入口-2">
            <a:extLst xmlns:a="http://schemas.openxmlformats.org/drawingml/2006/main">
              <a:ext uri="{FF2B5EF4-FFF2-40B4-BE49-F238E27FC236}">
                <a16:creationId xmlns:a16="http://schemas.microsoft.com/office/drawing/2014/main" id="{8140CF59-C1B2-424E-AC4D-BC13B0E8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1240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3" b="1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平台操作智能体：</a:t>
            </a:r>
            <a:r>
              <a: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将用户意图转成 Harness 平台配置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3" b="1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Worker 智能体：</a:t>
            </a:r>
            <a:r>
              <a: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作为 Agent Step 推理并行动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3" b="1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领域专用智能体：</a:t>
            </a:r>
            <a:r>
              <a: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嵌入 Release / Test / SRE 等作业闭环</a:t>
            </a:r>
          </a:p>
        </p:txBody>
      </p:sp>
      <p:sp>
        <p:nvSpPr>
          <p:cNvPr id="26" name="02-入口-3">
            <a:extLst xmlns:a="http://schemas.openxmlformats.org/drawingml/2006/main">
              <a:ext uri="{FF2B5EF4-FFF2-40B4-BE49-F238E27FC236}">
                <a16:creationId xmlns:a16="http://schemas.microsoft.com/office/drawing/2014/main" id="{B3EE42E5-9DAA-4B63-8154-023EA2F4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67050"/>
            <a:ext cx="4724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3" b="1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知识图谱：</a:t>
            </a:r>
            <a:r>
              <a: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连接跨模块对象、关系、状态与历史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3" b="1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HQL：</a:t>
            </a:r>
            <a:r>
              <a: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查询已建模的交付知识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3" b="1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Pipeline Context：</a:t>
            </a:r>
            <a:r>
              <a: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注入输入、变量、Step 输出与运行状态</a:t>
            </a:r>
          </a:p>
        </p:txBody>
      </p:sp>
      <p:sp>
        <p:nvSpPr>
          <p:cNvPr id="27" name="02-入口-4">
            <a:extLst xmlns:a="http://schemas.openxmlformats.org/drawingml/2006/main">
              <a:ext uri="{FF2B5EF4-FFF2-40B4-BE49-F238E27FC236}">
                <a16:creationId xmlns:a16="http://schemas.microsoft.com/office/drawing/2014/main" id="{5BD2ACB7-1CEB-451D-8B17-A880E2E01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048125"/>
            <a:ext cx="4724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3" b="1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MCP / Connector / API：</a:t>
            </a:r>
            <a:r>
              <a: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执行查询、修改和修复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3" b="1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凭据、RBAC、Scoped Token：</a:t>
            </a:r>
            <a:r>
              <a: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限定可执行边界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3" b="1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治理原则：</a:t>
            </a:r>
            <a:r>
              <a:rPr sz="803">
                <a:solidFill>
                  <a:srgbClr val="354052"/>
                </a:solidFill>
                <a:latin typeface="Microsoft YaHei"/>
                <a:ea typeface="Microsoft YaHei"/>
                <a:cs typeface="Microsoft YaHei"/>
              </a:rPr>
              <a:t>工具可调用不等于获得授权</a:t>
            </a:r>
          </a:p>
        </p:txBody>
      </p:sp>
      <p:sp>
        <p:nvSpPr>
          <p:cNvPr id="28" name="02-访问边界">
            <a:extLst xmlns:a="http://schemas.openxmlformats.org/drawingml/2006/main">
              <a:ext uri="{FF2B5EF4-FFF2-40B4-BE49-F238E27FC236}">
                <a16:creationId xmlns:a16="http://schemas.microsoft.com/office/drawing/2014/main" id="{9917DAC4-1B79-413A-AF76-F5BE16ED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5924550" cy="85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525">
                <a:solidFill>
                  <a:srgbClr val="6D81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" b="0" u="none">
                <a:solidFill>
                  <a:srgbClr val="6D8196"/>
                </a:solidFill>
                <a:latin typeface="Microsoft YaHei"/>
                <a:ea typeface="Microsoft YaHei"/>
                <a:cs typeface="Microsoft YaHei"/>
              </a:rPr>
              <a:t>身份与访问：用户 / 服务账号 · OAuth / PAT · RBAC</a:t>
            </a:r>
          </a:p>
        </p:txBody>
      </p:sp>
      <p:sp>
        <p:nvSpPr>
          <p:cNvPr id="29" name="03-智能体组合-外框">
            <a:extLst xmlns:a="http://schemas.openxmlformats.org/drawingml/2006/main">
              <a:ext uri="{FF2B5EF4-FFF2-40B4-BE49-F238E27FC236}">
                <a16:creationId xmlns:a16="http://schemas.microsoft.com/office/drawing/2014/main" id="{C92DA1F9-E0B8-40EA-B15E-1D83397E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28850"/>
            <a:ext cx="6191250" cy="1123950"/>
          </a:xfrm>
          <a:prstGeom xmlns:a="http://schemas.openxmlformats.org/drawingml/2006/main" prst="roundRect">
            <a:avLst>
              <a:gd name="adj" fmla="val 1016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9B58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0" name="03-层标题">
            <a:extLst xmlns:a="http://schemas.openxmlformats.org/drawingml/2006/main">
              <a:ext uri="{FF2B5EF4-FFF2-40B4-BE49-F238E27FC236}">
                <a16:creationId xmlns:a16="http://schemas.microsoft.com/office/drawing/2014/main" id="{3D98B81F-0ACC-464D-96A1-B9F8CC51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76475"/>
            <a:ext cx="6000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825" b="1">
                <a:solidFill>
                  <a:srgbClr val="934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 u="none">
                <a:solidFill>
                  <a:srgbClr val="934A16"/>
                </a:solidFill>
                <a:latin typeface="Microsoft YaHei"/>
                <a:ea typeface="Microsoft YaHei"/>
                <a:cs typeface="Microsoft YaHei"/>
              </a:rPr>
              <a:t>03  智能体能力层</a:t>
            </a:r>
          </a:p>
        </p:txBody>
      </p:sp>
      <p:sp>
        <p:nvSpPr>
          <p:cNvPr id="31" name="03-层说明">
            <a:extLst xmlns:a="http://schemas.openxmlformats.org/drawingml/2006/main">
              <a:ext uri="{FF2B5EF4-FFF2-40B4-BE49-F238E27FC236}">
                <a16:creationId xmlns:a16="http://schemas.microsoft.com/office/drawing/2014/main" id="{F291B275-1F60-478A-A094-6D860C5D3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19350"/>
            <a:ext cx="6000750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563">
                <a:solidFill>
                  <a:srgbClr val="9A6A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63" b="0" u="none">
                <a:solidFill>
                  <a:srgbClr val="9A6A4F"/>
                </a:solidFill>
                <a:latin typeface="Microsoft YaHei"/>
                <a:ea typeface="Microsoft YaHei"/>
                <a:cs typeface="Microsoft YaHei"/>
              </a:rPr>
              <a:t>Worker 定义“如何运行”，领域专用定义“为哪类结果负责”；部分 Harness 托管 Agent 同时属于两者</a:t>
            </a:r>
          </a:p>
        </p:txBody>
      </p:sp>
      <p:sp>
        <p:nvSpPr>
          <p:cNvPr id="32" name="03-DevOps-底色">
            <a:extLst xmlns:a="http://schemas.openxmlformats.org/drawingml/2006/main">
              <a:ext uri="{FF2B5EF4-FFF2-40B4-BE49-F238E27FC236}">
                <a16:creationId xmlns:a16="http://schemas.microsoft.com/office/drawing/2014/main" id="{FB139F94-1D64-484C-AF28-B4B64243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0"/>
            <a:ext cx="1943100" cy="685800"/>
          </a:xfrm>
          <a:prstGeom xmlns:a="http://schemas.openxmlformats.org/drawingml/2006/main" prst="roundRect">
            <a:avLst>
              <a:gd name="adj" fmla="val 9722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3D4B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3" name="03-DevOps-类型">
            <a:extLst xmlns:a="http://schemas.openxmlformats.org/drawingml/2006/main">
              <a:ext uri="{FF2B5EF4-FFF2-40B4-BE49-F238E27FC236}">
                <a16:creationId xmlns:a16="http://schemas.microsoft.com/office/drawing/2014/main" id="{A237942F-68BE-466D-8042-95DFA294A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885950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 defTabSz="914400">
              <a:lnSpc>
                <a:spcPct val="100000"/>
              </a:lnSpc>
              <a:buNone/>
              <a:tabLst>
                <a:tab pos="0" algn="l"/>
              </a:tabLst>
              <a:defRPr sz="1050" b="1">
                <a:solidFill>
                  <a:srgbClr val="9A3E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u="none">
                <a:solidFill>
                  <a:srgbClr val="9A3E0A"/>
                </a:solidFill>
                <a:latin typeface="Microsoft YaHei"/>
                <a:ea typeface="Microsoft YaHei"/>
                <a:cs typeface="Microsoft YaHei"/>
              </a:rPr>
              <a:t>01  三类智能体｜平台、Pipeline 与领域闭环</a:t>
            </a:r>
          </a:p>
        </p:txBody>
      </p:sp>
      <p:sp>
        <p:nvSpPr>
          <p:cNvPr id="34" name="03-DevOps-名称">
            <a:extLst xmlns:a="http://schemas.openxmlformats.org/drawingml/2006/main">
              <a:ext uri="{FF2B5EF4-FFF2-40B4-BE49-F238E27FC236}">
                <a16:creationId xmlns:a16="http://schemas.microsoft.com/office/drawing/2014/main" id="{13ACC63D-1697-44D4-91B6-817E60A2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788" b="1">
                <a:solidFill>
                  <a:srgbClr val="A0441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 u="none">
                <a:solidFill>
                  <a:srgbClr val="A04414"/>
                </a:solidFill>
                <a:latin typeface="Microsoft YaHei"/>
                <a:ea typeface="Microsoft YaHei"/>
                <a:cs typeface="Microsoft YaHei"/>
              </a:rPr>
              <a:t>平台操作智能体</a:t>
            </a:r>
          </a:p>
        </p:txBody>
      </p:sp>
      <p:sp>
        <p:nvSpPr>
          <p:cNvPr id="35" name="03-DevOps-职责">
            <a:extLst xmlns:a="http://schemas.openxmlformats.org/drawingml/2006/main">
              <a:ext uri="{FF2B5EF4-FFF2-40B4-BE49-F238E27FC236}">
                <a16:creationId xmlns:a16="http://schemas.microsoft.com/office/drawing/2014/main" id="{283AEF33-1240-4CB0-B7CB-E72EBC03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00350"/>
            <a:ext cx="1790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8000"/>
              </a:lnSpc>
              <a:buNone/>
              <a:tabLst>
                <a:tab pos="0" algn="l"/>
              </a:tabLst>
              <a:defRPr sz="585">
                <a:solidFill>
                  <a:srgbClr val="4150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85" b="0" u="none">
                <a:solidFill>
                  <a:srgbClr val="415065"/>
                </a:solidFill>
                <a:latin typeface="Microsoft YaHei"/>
                <a:ea typeface="Microsoft YaHei"/>
                <a:cs typeface="Microsoft YaHei"/>
              </a:rPr>
              <a:t>DevOps Agent｜设计 / 修改平台对象</a:t>
            </a:r>
          </a:p>
          <a:p xmlns:a="http://schemas.openxmlformats.org/drawingml/2006/main">
            <a:pPr algn="ctr" defTabSz="914400">
              <a:lnSpc>
                <a:spcPct val="108000"/>
              </a:lnSpc>
              <a:buNone/>
              <a:tabLst>
                <a:tab pos="0" algn="l"/>
              </a:tabLst>
              <a:defRPr sz="585">
                <a:solidFill>
                  <a:srgbClr val="4150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85" b="0" u="none">
                <a:solidFill>
                  <a:srgbClr val="415065"/>
                </a:solidFill>
                <a:latin typeface="Microsoft YaHei"/>
                <a:ea typeface="Microsoft YaHei"/>
                <a:cs typeface="Microsoft YaHei"/>
              </a:rPr>
              <a:t>Pipeline · 服务 · 环境 · 策略</a:t>
            </a:r>
          </a:p>
        </p:txBody>
      </p:sp>
      <p:sp>
        <p:nvSpPr>
          <p:cNvPr id="36" name="03-DevOps-边界">
            <a:extLst xmlns:a="http://schemas.openxmlformats.org/drawingml/2006/main">
              <a:ext uri="{FF2B5EF4-FFF2-40B4-BE49-F238E27FC236}">
                <a16:creationId xmlns:a16="http://schemas.microsoft.com/office/drawing/2014/main" id="{102F9AD6-CF5B-4F23-BEAA-15246E57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95625"/>
            <a:ext cx="1790700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510">
                <a:solidFill>
                  <a:srgbClr val="8A756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" b="0" u="none">
                <a:solidFill>
                  <a:srgbClr val="8A7567"/>
                </a:solidFill>
                <a:latin typeface="Microsoft YaHei"/>
                <a:ea typeface="Microsoft YaHei"/>
                <a:cs typeface="Microsoft YaHei"/>
              </a:rPr>
              <a:t>用户身份 · RBAC · OPA</a:t>
            </a:r>
          </a:p>
        </p:txBody>
      </p:sp>
      <p:sp>
        <p:nvSpPr>
          <p:cNvPr id="37" name="03-Worker-底色">
            <a:extLst xmlns:a="http://schemas.openxmlformats.org/drawingml/2006/main">
              <a:ext uri="{FF2B5EF4-FFF2-40B4-BE49-F238E27FC236}">
                <a16:creationId xmlns:a16="http://schemas.microsoft.com/office/drawing/2014/main" id="{97CD9876-26EC-4E67-B34D-2BABD34B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571750"/>
            <a:ext cx="1943100" cy="685800"/>
          </a:xfrm>
          <a:prstGeom xmlns:a="http://schemas.openxmlformats.org/drawingml/2006/main" prst="roundRect">
            <a:avLst>
              <a:gd name="adj" fmla="val 9722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0C3A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8" name="03-Worker-类型">
            <a:extLst xmlns:a="http://schemas.openxmlformats.org/drawingml/2006/main">
              <a:ext uri="{FF2B5EF4-FFF2-40B4-BE49-F238E27FC236}">
                <a16:creationId xmlns:a16="http://schemas.microsoft.com/office/drawing/2014/main" id="{250A79AA-C4E3-427E-AF9A-6079ACAA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828925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 defTabSz="914400">
              <a:lnSpc>
                <a:spcPct val="100000"/>
              </a:lnSpc>
              <a:buNone/>
              <a:tabLst>
                <a:tab pos="0" algn="l"/>
              </a:tabLst>
              <a:defRPr sz="1050" b="1">
                <a:solidFill>
                  <a:srgbClr val="176B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u="none">
                <a:solidFill>
                  <a:srgbClr val="176B73"/>
                </a:solidFill>
                <a:latin typeface="Microsoft YaHei"/>
                <a:ea typeface="Microsoft YaHei"/>
                <a:cs typeface="Microsoft YaHei"/>
              </a:rPr>
              <a:t>02  两类上下文｜平台知识 + 本次执行</a:t>
            </a:r>
          </a:p>
        </p:txBody>
      </p:sp>
      <p:sp>
        <p:nvSpPr>
          <p:cNvPr id="39" name="03-Worker-名称">
            <a:extLst xmlns:a="http://schemas.openxmlformats.org/drawingml/2006/main">
              <a:ext uri="{FF2B5EF4-FFF2-40B4-BE49-F238E27FC236}">
                <a16:creationId xmlns:a16="http://schemas.microsoft.com/office/drawing/2014/main" id="{773DE2EE-496C-4256-9225-E75165C6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2628900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788" b="1">
                <a:solidFill>
                  <a:srgbClr val="A0441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 u="none">
                <a:solidFill>
                  <a:srgbClr val="A04414"/>
                </a:solidFill>
                <a:latin typeface="Microsoft YaHei"/>
                <a:ea typeface="Microsoft YaHei"/>
                <a:cs typeface="Microsoft YaHei"/>
              </a:rPr>
              <a:t>Worker 智能体</a:t>
            </a:r>
          </a:p>
        </p:txBody>
      </p:sp>
      <p:sp>
        <p:nvSpPr>
          <p:cNvPr id="40" name="03-Worker-职责">
            <a:extLst xmlns:a="http://schemas.openxmlformats.org/drawingml/2006/main">
              <a:ext uri="{FF2B5EF4-FFF2-40B4-BE49-F238E27FC236}">
                <a16:creationId xmlns:a16="http://schemas.microsoft.com/office/drawing/2014/main" id="{D9A3BBFC-E57C-4F3C-BCF5-8BCC6F175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2800350"/>
            <a:ext cx="1790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8000"/>
              </a:lnSpc>
              <a:buNone/>
              <a:tabLst>
                <a:tab pos="0" algn="l"/>
              </a:tabLst>
              <a:defRPr sz="585">
                <a:solidFill>
                  <a:srgbClr val="4150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85" b="0" u="none">
                <a:solidFill>
                  <a:srgbClr val="415065"/>
                </a:solidFill>
                <a:latin typeface="Microsoft YaHei"/>
                <a:ea typeface="Microsoft YaHei"/>
                <a:cs typeface="Microsoft YaHei"/>
              </a:rPr>
              <a:t>自定义 / 托管｜Agent Definition</a:t>
            </a:r>
          </a:p>
          <a:p xmlns:a="http://schemas.openxmlformats.org/drawingml/2006/main">
            <a:pPr algn="ctr" defTabSz="914400">
              <a:lnSpc>
                <a:spcPct val="108000"/>
              </a:lnSpc>
              <a:buNone/>
              <a:tabLst>
                <a:tab pos="0" algn="l"/>
              </a:tabLst>
              <a:defRPr sz="585">
                <a:solidFill>
                  <a:srgbClr val="4150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85" b="0" u="none">
                <a:solidFill>
                  <a:srgbClr val="415065"/>
                </a:solidFill>
                <a:latin typeface="Microsoft YaHei"/>
                <a:ea typeface="Microsoft YaHei"/>
                <a:cs typeface="Microsoft YaHei"/>
              </a:rPr>
              <a:t>作为 Agent Step 编排执行</a:t>
            </a:r>
          </a:p>
        </p:txBody>
      </p:sp>
      <p:sp>
        <p:nvSpPr>
          <p:cNvPr id="41" name="03-Worker-边界">
            <a:extLst xmlns:a="http://schemas.openxmlformats.org/drawingml/2006/main">
              <a:ext uri="{FF2B5EF4-FFF2-40B4-BE49-F238E27FC236}">
                <a16:creationId xmlns:a16="http://schemas.microsoft.com/office/drawing/2014/main" id="{4181AB3C-870F-48C4-9FC2-297A7E8A5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3095625"/>
            <a:ext cx="1790700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510">
                <a:solidFill>
                  <a:srgbClr val="8A756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" b="0" u="none">
                <a:solidFill>
                  <a:srgbClr val="8A7567"/>
                </a:solidFill>
                <a:latin typeface="Microsoft YaHei"/>
                <a:ea typeface="Microsoft YaHei"/>
                <a:cs typeface="Microsoft YaHei"/>
              </a:rPr>
              <a:t>Scoped Token · 模型 / MCP 凭据</a:t>
            </a:r>
          </a:p>
        </p:txBody>
      </p:sp>
      <p:sp>
        <p:nvSpPr>
          <p:cNvPr id="42" name="03-专项-底色">
            <a:extLst xmlns:a="http://schemas.openxmlformats.org/drawingml/2006/main">
              <a:ext uri="{FF2B5EF4-FFF2-40B4-BE49-F238E27FC236}">
                <a16:creationId xmlns:a16="http://schemas.microsoft.com/office/drawing/2014/main" id="{66EA6E33-D669-45F0-BBA7-6A7FAD8F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71750"/>
            <a:ext cx="1943100" cy="685800"/>
          </a:xfrm>
          <a:prstGeom xmlns:a="http://schemas.openxmlformats.org/drawingml/2006/main" prst="roundRect">
            <a:avLst>
              <a:gd name="adj" fmla="val 9722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3D4B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3" name="03-专项-类型">
            <a:extLst xmlns:a="http://schemas.openxmlformats.org/drawingml/2006/main">
              <a:ext uri="{FF2B5EF4-FFF2-40B4-BE49-F238E27FC236}">
                <a16:creationId xmlns:a16="http://schemas.microsoft.com/office/drawing/2014/main" id="{1DE50E89-B59B-4AB0-8A56-CBE72A3C0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10000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 defTabSz="914400">
              <a:lnSpc>
                <a:spcPct val="100000"/>
              </a:lnSpc>
              <a:buNone/>
              <a:tabLst>
                <a:tab pos="0" algn="l"/>
              </a:tabLst>
              <a:defRPr sz="1050" b="1">
                <a:solidFill>
                  <a:srgbClr val="245A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u="none">
                <a:solidFill>
                  <a:srgbClr val="245A7A"/>
                </a:solidFill>
                <a:latin typeface="Microsoft YaHei"/>
                <a:ea typeface="Microsoft YaHei"/>
                <a:cs typeface="Microsoft YaHei"/>
              </a:rPr>
              <a:t>03  工具行动｜把判断转成受控操作</a:t>
            </a:r>
          </a:p>
        </p:txBody>
      </p:sp>
      <p:sp>
        <p:nvSpPr>
          <p:cNvPr id="44" name="03-专项-名称">
            <a:extLst xmlns:a="http://schemas.openxmlformats.org/drawingml/2006/main">
              <a:ext uri="{FF2B5EF4-FFF2-40B4-BE49-F238E27FC236}">
                <a16:creationId xmlns:a16="http://schemas.microsoft.com/office/drawing/2014/main" id="{0DEAE18E-6C6B-4D79-8657-950B95F92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28900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788" b="1">
                <a:solidFill>
                  <a:srgbClr val="A0441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 u="none">
                <a:solidFill>
                  <a:srgbClr val="A04414"/>
                </a:solidFill>
                <a:latin typeface="Microsoft YaHei"/>
                <a:ea typeface="Microsoft YaHei"/>
                <a:cs typeface="Microsoft YaHei"/>
              </a:rPr>
              <a:t>领域专用智能体</a:t>
            </a:r>
          </a:p>
        </p:txBody>
      </p:sp>
      <p:sp>
        <p:nvSpPr>
          <p:cNvPr id="45" name="03-专项-职责">
            <a:extLst xmlns:a="http://schemas.openxmlformats.org/drawingml/2006/main">
              <a:ext uri="{FF2B5EF4-FFF2-40B4-BE49-F238E27FC236}">
                <a16:creationId xmlns:a16="http://schemas.microsoft.com/office/drawing/2014/main" id="{F3008F16-56DA-4CDC-8A13-EC334F16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00350"/>
            <a:ext cx="1790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8000"/>
              </a:lnSpc>
              <a:buNone/>
              <a:tabLst>
                <a:tab pos="0" algn="l"/>
              </a:tabLst>
              <a:defRPr sz="563">
                <a:solidFill>
                  <a:srgbClr val="4150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63" b="0" u="none">
                <a:solidFill>
                  <a:srgbClr val="415065"/>
                </a:solidFill>
                <a:latin typeface="Microsoft YaHei"/>
                <a:ea typeface="Microsoft YaHei"/>
                <a:cs typeface="Microsoft YaHei"/>
              </a:rPr>
              <a:t>Release · Test · SRE · AppSec · FinOps</a:t>
            </a:r>
          </a:p>
          <a:p xmlns:a="http://schemas.openxmlformats.org/drawingml/2006/main">
            <a:pPr algn="ctr" defTabSz="914400">
              <a:lnSpc>
                <a:spcPct val="108000"/>
              </a:lnSpc>
              <a:buNone/>
              <a:tabLst>
                <a:tab pos="0" algn="l"/>
              </a:tabLst>
              <a:defRPr sz="563">
                <a:solidFill>
                  <a:srgbClr val="4150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63" b="0" u="none">
                <a:solidFill>
                  <a:srgbClr val="415065"/>
                </a:solidFill>
                <a:latin typeface="Microsoft YaHei"/>
                <a:ea typeface="Microsoft YaHei"/>
                <a:cs typeface="Microsoft YaHei"/>
              </a:rPr>
              <a:t>领域数据 · 事件 · 结果闭环</a:t>
            </a:r>
          </a:p>
        </p:txBody>
      </p:sp>
      <p:sp>
        <p:nvSpPr>
          <p:cNvPr id="46" name="03-专项-边界">
            <a:extLst xmlns:a="http://schemas.openxmlformats.org/drawingml/2006/main">
              <a:ext uri="{FF2B5EF4-FFF2-40B4-BE49-F238E27FC236}">
                <a16:creationId xmlns:a16="http://schemas.microsoft.com/office/drawing/2014/main" id="{9382C09D-7421-4932-8CEC-2D4BC074A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95625"/>
            <a:ext cx="1790700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495">
                <a:solidFill>
                  <a:srgbClr val="8A756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95" b="0" u="none">
                <a:solidFill>
                  <a:srgbClr val="8A7567"/>
                </a:solidFill>
                <a:latin typeface="Microsoft YaHei"/>
                <a:ea typeface="Microsoft YaHei"/>
                <a:cs typeface="Microsoft YaHei"/>
              </a:rPr>
              <a:t>模块权限 · 专用凭据 · Runtime varies</a:t>
            </a:r>
          </a:p>
        </p:txBody>
      </p:sp>
      <p:sp>
        <p:nvSpPr>
          <p:cNvPr id="47" name="04-智能体能力支撑-外框">
            <a:extLst xmlns:a="http://schemas.openxmlformats.org/drawingml/2006/main">
              <a:ext uri="{FF2B5EF4-FFF2-40B4-BE49-F238E27FC236}">
                <a16:creationId xmlns:a16="http://schemas.microsoft.com/office/drawing/2014/main" id="{42AFFCD6-950D-42DC-99D0-AEFC6A26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09950"/>
            <a:ext cx="6191250" cy="933450"/>
          </a:xfrm>
          <a:prstGeom xmlns:a="http://schemas.openxmlformats.org/drawingml/2006/main" prst="roundRect">
            <a:avLst>
              <a:gd name="adj" fmla="val 1224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DD0E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8" name="04-层标题">
            <a:extLst xmlns:a="http://schemas.openxmlformats.org/drawingml/2006/main">
              <a:ext uri="{FF2B5EF4-FFF2-40B4-BE49-F238E27FC236}">
                <a16:creationId xmlns:a16="http://schemas.microsoft.com/office/drawing/2014/main" id="{2BB5CF91-2885-4440-97E9-9CD72FF7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57575"/>
            <a:ext cx="6000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825" b="1">
                <a:solidFill>
                  <a:srgbClr val="244C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 u="none">
                <a:solidFill>
                  <a:srgbClr val="244C73"/>
                </a:solidFill>
                <a:latin typeface="Microsoft YaHei"/>
                <a:ea typeface="Microsoft YaHei"/>
                <a:cs typeface="Microsoft YaHei"/>
              </a:rPr>
              <a:t>04  智能体能力支撑</a:t>
            </a:r>
          </a:p>
        </p:txBody>
      </p:sp>
      <p:sp>
        <p:nvSpPr>
          <p:cNvPr id="49" name="04-层说明">
            <a:extLst xmlns:a="http://schemas.openxmlformats.org/drawingml/2006/main">
              <a:ext uri="{FF2B5EF4-FFF2-40B4-BE49-F238E27FC236}">
                <a16:creationId xmlns:a16="http://schemas.microsoft.com/office/drawing/2014/main" id="{8666ECA1-EEB9-485E-9693-2D07BD04F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00450"/>
            <a:ext cx="6000750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563">
                <a:solidFill>
                  <a:srgbClr val="6B82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63" b="0" u="none">
                <a:solidFill>
                  <a:srgbClr val="6B8297"/>
                </a:solidFill>
                <a:latin typeface="Microsoft YaHei"/>
                <a:ea typeface="Microsoft YaHei"/>
                <a:cs typeface="Microsoft YaHei"/>
              </a:rPr>
              <a:t>知识回答“知道什么”，工具决定“能够做什么”</a:t>
            </a:r>
          </a:p>
        </p:txBody>
      </p:sp>
      <p:sp>
        <p:nvSpPr>
          <p:cNvPr id="50" name="04-上下文与知识-底色">
            <a:extLst xmlns:a="http://schemas.openxmlformats.org/drawingml/2006/main">
              <a:ext uri="{FF2B5EF4-FFF2-40B4-BE49-F238E27FC236}">
                <a16:creationId xmlns:a16="http://schemas.microsoft.com/office/drawing/2014/main" id="{3D78CB66-975A-4D6F-8C06-8AA8C5A2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52850"/>
            <a:ext cx="2924175" cy="514350"/>
          </a:xfrm>
          <a:prstGeom xmlns:a="http://schemas.openxmlformats.org/drawingml/2006/main" prst="roundRect">
            <a:avLst>
              <a:gd name="adj" fmla="val 12963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5C9E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1" name="04-上下文与知识-标题">
            <a:extLst xmlns:a="http://schemas.openxmlformats.org/drawingml/2006/main">
              <a:ext uri="{FF2B5EF4-FFF2-40B4-BE49-F238E27FC236}">
                <a16:creationId xmlns:a16="http://schemas.microsoft.com/office/drawing/2014/main" id="{6CF4B737-48A0-4593-A6AE-C588C04AC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00475"/>
            <a:ext cx="277177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675" b="1">
                <a:solidFill>
                  <a:srgbClr val="5C4F8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 b="1" u="none">
                <a:solidFill>
                  <a:srgbClr val="5C4F83"/>
                </a:solidFill>
                <a:latin typeface="Microsoft YaHei"/>
                <a:ea typeface="Microsoft YaHei"/>
                <a:cs typeface="Microsoft YaHei"/>
              </a:rPr>
              <a:t>上下文与知识</a:t>
            </a:r>
          </a:p>
        </p:txBody>
      </p:sp>
      <p:sp>
        <p:nvSpPr>
          <p:cNvPr id="52" name="04-上下文与知识-主信息">
            <a:extLst xmlns:a="http://schemas.openxmlformats.org/drawingml/2006/main">
              <a:ext uri="{FF2B5EF4-FFF2-40B4-BE49-F238E27FC236}">
                <a16:creationId xmlns:a16="http://schemas.microsoft.com/office/drawing/2014/main" id="{F006D615-FA4D-4DD2-A8FA-0751B16F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14775"/>
            <a:ext cx="27717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89286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840" b="1">
                <a:solidFill>
                  <a:srgbClr val="4439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 u="none">
                <a:solidFill>
                  <a:srgbClr val="443969"/>
                </a:solidFill>
                <a:latin typeface="Microsoft YaHei"/>
                <a:ea typeface="Microsoft YaHei"/>
                <a:cs typeface="Microsoft YaHei"/>
              </a:rPr>
              <a:t>软件交付知识图谱 · HQL</a:t>
            </a:r>
          </a:p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840" b="1">
                <a:solidFill>
                  <a:srgbClr val="4439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 u="none">
                <a:solidFill>
                  <a:srgbClr val="443969"/>
                </a:solidFill>
                <a:latin typeface="Microsoft YaHei"/>
                <a:ea typeface="Microsoft YaHei"/>
                <a:cs typeface="Microsoft YaHei"/>
              </a:rPr>
              <a:t>Pipeline Context</a:t>
            </a:r>
          </a:p>
        </p:txBody>
      </p:sp>
      <p:sp>
        <p:nvSpPr>
          <p:cNvPr id="53" name="04-上下文与知识-说明">
            <a:extLst xmlns:a="http://schemas.openxmlformats.org/drawingml/2006/main">
              <a:ext uri="{FF2B5EF4-FFF2-40B4-BE49-F238E27FC236}">
                <a16:creationId xmlns:a16="http://schemas.microsoft.com/office/drawing/2014/main" id="{6ED46062-7558-4CAF-8601-6F658ACF3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52900"/>
            <a:ext cx="2771775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488">
                <a:solidFill>
                  <a:srgbClr val="81739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8" b="0" u="none">
                <a:solidFill>
                  <a:srgbClr val="81739E"/>
                </a:solidFill>
                <a:latin typeface="Microsoft YaHei"/>
                <a:ea typeface="Microsoft YaHei"/>
                <a:cs typeface="Microsoft YaHei"/>
              </a:rPr>
              <a:t>组织记忆 · 确定性检索 · 运行现场</a:t>
            </a:r>
          </a:p>
        </p:txBody>
      </p:sp>
      <p:sp>
        <p:nvSpPr>
          <p:cNvPr id="54" name="04-工具与动作-底色">
            <a:extLst xmlns:a="http://schemas.openxmlformats.org/drawingml/2006/main">
              <a:ext uri="{FF2B5EF4-FFF2-40B4-BE49-F238E27FC236}">
                <a16:creationId xmlns:a16="http://schemas.microsoft.com/office/drawing/2014/main" id="{B1B38686-7484-43FB-8759-06D5C129B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752850"/>
            <a:ext cx="2924175" cy="514350"/>
          </a:xfrm>
          <a:prstGeom xmlns:a="http://schemas.openxmlformats.org/drawingml/2006/main" prst="roundRect">
            <a:avLst>
              <a:gd name="adj" fmla="val 12963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EDD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5" name="04-工具与动作-标题">
            <a:extLst xmlns:a="http://schemas.openxmlformats.org/drawingml/2006/main">
              <a:ext uri="{FF2B5EF4-FFF2-40B4-BE49-F238E27FC236}">
                <a16:creationId xmlns:a16="http://schemas.microsoft.com/office/drawing/2014/main" id="{0D48A81A-083F-46FD-BE39-0EB49DF3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800475"/>
            <a:ext cx="277177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675" b="1">
                <a:solidFill>
                  <a:srgbClr val="245C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 b="1" u="none">
                <a:solidFill>
                  <a:srgbClr val="245C65"/>
                </a:solidFill>
                <a:latin typeface="Microsoft YaHei"/>
                <a:ea typeface="Microsoft YaHei"/>
                <a:cs typeface="Microsoft YaHei"/>
              </a:rPr>
              <a:t>工具与动作</a:t>
            </a:r>
          </a:p>
        </p:txBody>
      </p:sp>
      <p:sp>
        <p:nvSpPr>
          <p:cNvPr id="56" name="04-工具与动作-主信息">
            <a:extLst xmlns:a="http://schemas.openxmlformats.org/drawingml/2006/main">
              <a:ext uri="{FF2B5EF4-FFF2-40B4-BE49-F238E27FC236}">
                <a16:creationId xmlns:a16="http://schemas.microsoft.com/office/drawing/2014/main" id="{444510BF-A546-4C9A-A4F7-DA488F51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914775"/>
            <a:ext cx="27717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89286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840" b="1">
                <a:solidFill>
                  <a:srgbClr val="1E5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 u="none">
                <a:solidFill>
                  <a:srgbClr val="1E5660"/>
                </a:solidFill>
                <a:latin typeface="Microsoft YaHei"/>
                <a:ea typeface="Microsoft YaHei"/>
                <a:cs typeface="Microsoft YaHei"/>
              </a:rPr>
              <a:t>Harness / 第三方 MCP</a:t>
            </a:r>
          </a:p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840" b="1">
                <a:solidFill>
                  <a:srgbClr val="1E5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 u="none">
                <a:solidFill>
                  <a:srgbClr val="1E5660"/>
                </a:solidFill>
                <a:latin typeface="Microsoft YaHei"/>
                <a:ea typeface="Microsoft YaHei"/>
                <a:cs typeface="Microsoft YaHei"/>
              </a:rPr>
              <a:t>Connector · API</a:t>
            </a:r>
          </a:p>
        </p:txBody>
      </p:sp>
      <p:sp>
        <p:nvSpPr>
          <p:cNvPr id="57" name="04-工具与动作-说明">
            <a:extLst xmlns:a="http://schemas.openxmlformats.org/drawingml/2006/main">
              <a:ext uri="{FF2B5EF4-FFF2-40B4-BE49-F238E27FC236}">
                <a16:creationId xmlns:a16="http://schemas.microsoft.com/office/drawing/2014/main" id="{B2915213-515E-4C39-AFDB-B766A3A2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4152900"/>
            <a:ext cx="2771775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488">
                <a:solidFill>
                  <a:srgbClr val="688A8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8" b="0" u="none">
                <a:solidFill>
                  <a:srgbClr val="688A8F"/>
                </a:solidFill>
                <a:latin typeface="Microsoft YaHei"/>
                <a:ea typeface="Microsoft YaHei"/>
                <a:cs typeface="Microsoft YaHei"/>
              </a:rPr>
              <a:t>凭据授权 · 外部系统 · 资源变更留痕</a:t>
            </a:r>
          </a:p>
        </p:txBody>
      </p:sp>
      <p:sp>
        <p:nvSpPr>
          <p:cNvPr id="58" name="05-交付流程编排-外框">
            <a:extLst xmlns:a="http://schemas.openxmlformats.org/drawingml/2006/main">
              <a:ext uri="{FF2B5EF4-FFF2-40B4-BE49-F238E27FC236}">
                <a16:creationId xmlns:a16="http://schemas.microsoft.com/office/drawing/2014/main" id="{45ECC061-5BC0-4F23-B813-F447C45B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00550"/>
            <a:ext cx="6191250" cy="609600"/>
          </a:xfrm>
          <a:prstGeom xmlns:a="http://schemas.openxmlformats.org/drawingml/2006/main" prst="roundRect">
            <a:avLst>
              <a:gd name="adj" fmla="val 1875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93F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9" name="05-层标题">
            <a:extLst xmlns:a="http://schemas.openxmlformats.org/drawingml/2006/main">
              <a:ext uri="{FF2B5EF4-FFF2-40B4-BE49-F238E27FC236}">
                <a16:creationId xmlns:a16="http://schemas.microsoft.com/office/drawing/2014/main" id="{D90DD47E-D67B-4C56-91D3-528B98A7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48175"/>
            <a:ext cx="600075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788" b="1">
                <a:solidFill>
                  <a:srgbClr val="234B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 u="none">
                <a:solidFill>
                  <a:srgbClr val="234B73"/>
                </a:solidFill>
                <a:latin typeface="Microsoft YaHei"/>
                <a:ea typeface="Microsoft YaHei"/>
                <a:cs typeface="Microsoft YaHei"/>
              </a:rPr>
              <a:t>05  跨模块智能工作流编排</a:t>
            </a:r>
          </a:p>
        </p:txBody>
      </p:sp>
      <p:sp>
        <p:nvSpPr>
          <p:cNvPr id="60" name="05-Pipeline-能力">
            <a:extLst xmlns:a="http://schemas.openxmlformats.org/drawingml/2006/main">
              <a:ext uri="{FF2B5EF4-FFF2-40B4-BE49-F238E27FC236}">
                <a16:creationId xmlns:a16="http://schemas.microsoft.com/office/drawing/2014/main" id="{5A9D13A9-006D-4E9E-9CCA-0F93BF92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00575"/>
            <a:ext cx="59245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765" b="1">
                <a:solidFill>
                  <a:srgbClr val="173F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5" b="1" u="none">
                <a:solidFill>
                  <a:srgbClr val="173F6D"/>
                </a:solidFill>
                <a:latin typeface="Microsoft YaHei"/>
                <a:ea typeface="Microsoft YaHei"/>
                <a:cs typeface="Microsoft YaHei"/>
              </a:rPr>
              <a:t>Agent 生成 / 优化流程　｜　Pipeline 编排 Agent Step + 确定性 Step</a:t>
            </a:r>
          </a:p>
        </p:txBody>
      </p:sp>
      <p:sp>
        <p:nvSpPr>
          <p:cNvPr id="61" name="05-Pipeline-说明">
            <a:extLst xmlns:a="http://schemas.openxmlformats.org/drawingml/2006/main">
              <a:ext uri="{FF2B5EF4-FFF2-40B4-BE49-F238E27FC236}">
                <a16:creationId xmlns:a16="http://schemas.microsoft.com/office/drawing/2014/main" id="{A6778514-0BBE-4854-9E33-1ACDF2BB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59245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540">
                <a:solidFill>
                  <a:srgbClr val="7081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0" b="0" u="none">
                <a:solidFill>
                  <a:srgbClr val="708198"/>
                </a:solidFill>
                <a:latin typeface="Microsoft YaHei"/>
                <a:ea typeface="Microsoft YaHei"/>
                <a:cs typeface="Microsoft YaHei"/>
              </a:rPr>
              <a:t>跨模块 Stage · DAG / 条件 / 并行 · Approval / OPA · Retry / Failure Strategy / Rollback</a:t>
            </a:r>
          </a:p>
        </p:txBody>
      </p:sp>
      <p:sp>
        <p:nvSpPr>
          <p:cNvPr id="62" name="06-运行基础设施-外框">
            <a:extLst xmlns:a="http://schemas.openxmlformats.org/drawingml/2006/main">
              <a:ext uri="{FF2B5EF4-FFF2-40B4-BE49-F238E27FC236}">
                <a16:creationId xmlns:a16="http://schemas.microsoft.com/office/drawing/2014/main" id="{94416A23-49B1-41AF-A1F2-47AEC103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7300"/>
            <a:ext cx="6191250" cy="609600"/>
          </a:xfrm>
          <a:prstGeom xmlns:a="http://schemas.openxmlformats.org/drawingml/2006/main" prst="roundRect">
            <a:avLst>
              <a:gd name="adj" fmla="val 1875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5D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3" name="06-层标题">
            <a:extLst xmlns:a="http://schemas.openxmlformats.org/drawingml/2006/main">
              <a:ext uri="{FF2B5EF4-FFF2-40B4-BE49-F238E27FC236}">
                <a16:creationId xmlns:a16="http://schemas.microsoft.com/office/drawing/2014/main" id="{EFA1F12F-4E52-4A3E-A2E0-0A1C008A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14925"/>
            <a:ext cx="600075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750" b="1">
                <a:solidFill>
                  <a:srgbClr val="6275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 u="none">
                <a:solidFill>
                  <a:srgbClr val="62758A"/>
                </a:solidFill>
                <a:latin typeface="Microsoft YaHei"/>
                <a:ea typeface="Microsoft YaHei"/>
                <a:cs typeface="Microsoft YaHei"/>
              </a:rPr>
              <a:t>06  运行基础设施</a:t>
            </a:r>
          </a:p>
        </p:txBody>
      </p:sp>
      <p:sp>
        <p:nvSpPr>
          <p:cNvPr id="64" name="06-运行位置-1">
            <a:extLst xmlns:a="http://schemas.openxmlformats.org/drawingml/2006/main">
              <a:ext uri="{FF2B5EF4-FFF2-40B4-BE49-F238E27FC236}">
                <a16:creationId xmlns:a16="http://schemas.microsoft.com/office/drawing/2014/main" id="{FFE40561-9A58-4FE4-BC05-485448B3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924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900" b="1">
                <a:solidFill>
                  <a:srgbClr val="344D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 u="none">
                <a:solidFill>
                  <a:srgbClr val="344D66"/>
                </a:solidFill>
                <a:latin typeface="Microsoft YaHei"/>
                <a:ea typeface="Microsoft YaHei"/>
                <a:cs typeface="Microsoft YaHei"/>
              </a:rPr>
              <a:t>Harness Cloud　·　Delegate　·　客户 Kubernetes</a:t>
            </a:r>
          </a:p>
        </p:txBody>
      </p:sp>
      <p:sp>
        <p:nvSpPr>
          <p:cNvPr id="67" name="06-运行治理与遥测">
            <a:extLst xmlns:a="http://schemas.openxmlformats.org/drawingml/2006/main">
              <a:ext uri="{FF2B5EF4-FFF2-40B4-BE49-F238E27FC236}">
                <a16:creationId xmlns:a16="http://schemas.microsoft.com/office/drawing/2014/main" id="{2EE07A95-9582-4C1F-87A8-FAE4A36C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86400"/>
            <a:ext cx="59245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510">
                <a:solidFill>
                  <a:srgbClr val="7C8D9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" b="0" u="none">
                <a:solidFill>
                  <a:srgbClr val="7C8D9E"/>
                </a:solidFill>
                <a:latin typeface="Microsoft YaHei"/>
                <a:ea typeface="Microsoft YaHei"/>
                <a:cs typeface="Microsoft YaHei"/>
              </a:rPr>
              <a:t>Secret Resolution · Container / Delegate Log · 网络与基础设施遥测</a:t>
            </a:r>
          </a:p>
        </p:txBody>
      </p:sp>
    </p:spTree>
    <p:extLst>
      <p:ext uri="{BB962C8B-B14F-4D97-AF65-F5344CB8AC3E}">
        <p14:creationId xmlns:p14="http://schemas.microsoft.com/office/powerpoint/2010/main" val="18289457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2026-07-24T07:18:43.5740000Z</dcterms:created>
  <dcterms:modified xsi:type="dcterms:W3CDTF">2026-07-24T07:18:43.5740000Z</dcterms:modified>
</coreProperties>
</file>