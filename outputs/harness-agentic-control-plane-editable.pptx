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A57C973-F7CE-4583-82FF-9BA00D56B57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533160"/>
            <a:ext cx="10972080" cy="625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609480" y="3364920"/>
            <a:ext cx="109720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708480"/>
            <a:ext cx="1097208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01-用户场景与反馈闭环-外框"/>
          <p:cNvSpPr/>
          <p:nvPr/>
        </p:nvSpPr>
        <p:spPr>
          <a:xfrm>
            <a:off x="457200" y="1066680"/>
            <a:ext cx="6190920" cy="552240"/>
          </a:xfrm>
          <a:prstGeom prst="roundRect">
            <a:avLst>
              <a:gd name="adj" fmla="val 20690"/>
            </a:avLst>
          </a:prstGeom>
          <a:noFill/>
          <a:ln w="9525">
            <a:solidFill>
              <a:srgbClr val="B7D6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2" name="01-层标题"/>
          <p:cNvSpPr/>
          <p:nvPr/>
        </p:nvSpPr>
        <p:spPr>
          <a:xfrm>
            <a:off x="552600" y="1114560"/>
            <a:ext cx="600048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315E3C"/>
                </a:solidFill>
                <a:effectLst/>
                <a:uFillTx/>
                <a:latin typeface="Microsoft YaHei"/>
                <a:ea typeface="Microsoft YaHei"/>
              </a:rPr>
              <a:t>01  </a:t>
            </a:r>
            <a:r>
              <a:rPr lang="zh-CN" sz="820" b="1" u="none" strike="noStrike">
                <a:solidFill>
                  <a:srgbClr val="315E3C"/>
                </a:solidFill>
                <a:effectLst/>
                <a:uFillTx/>
                <a:latin typeface="Microsoft YaHei"/>
                <a:ea typeface="Microsoft YaHei"/>
              </a:rPr>
              <a:t>用户场景与反馈闭环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01-场景-1"/>
          <p:cNvSpPr/>
          <p:nvPr/>
        </p:nvSpPr>
        <p:spPr>
          <a:xfrm>
            <a:off x="590400" y="1276200"/>
            <a:ext cx="59241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900" b="1" u="none" strike="noStrike">
                <a:solidFill>
                  <a:srgbClr val="214D2E"/>
                </a:solidFill>
                <a:effectLst/>
                <a:uFillTx/>
                <a:latin typeface="Microsoft YaHei"/>
                <a:ea typeface="Microsoft YaHei"/>
              </a:rPr>
              <a:t>代码 </a:t>
            </a:r>
            <a:r>
              <a:rPr lang="en-US" sz="900" b="1" u="none" strike="noStrike">
                <a:solidFill>
                  <a:srgbClr val="214D2E"/>
                </a:solidFill>
                <a:effectLst/>
                <a:uFillTx/>
                <a:latin typeface="Microsoft YaHei"/>
                <a:ea typeface="Microsoft YaHei"/>
              </a:rPr>
              <a:t>/ PR</a:t>
            </a:r>
            <a:r>
              <a:rPr lang="zh-CN" sz="900" b="1" u="none" strike="noStrike">
                <a:solidFill>
                  <a:srgbClr val="214D2E"/>
                </a:solidFill>
                <a:effectLst/>
                <a:uFillTx/>
                <a:latin typeface="Microsoft YaHei"/>
                <a:ea typeface="Microsoft YaHei"/>
              </a:rPr>
              <a:t>　</a:t>
            </a:r>
            <a:r>
              <a:rPr lang="en-US" sz="900" b="1" u="none" strike="noStrike">
                <a:solidFill>
                  <a:srgbClr val="214D2E"/>
                </a:solidFill>
                <a:effectLst/>
                <a:uFillTx/>
                <a:latin typeface="Microsoft YaHei"/>
                <a:ea typeface="Microsoft YaHei"/>
              </a:rPr>
              <a:t>·</a:t>
            </a:r>
            <a:r>
              <a:rPr lang="zh-CN" sz="900" b="1" u="none" strike="noStrike">
                <a:solidFill>
                  <a:srgbClr val="214D2E"/>
                </a:solidFill>
                <a:effectLst/>
                <a:uFillTx/>
                <a:latin typeface="Microsoft YaHei"/>
                <a:ea typeface="Microsoft YaHei"/>
              </a:rPr>
              <a:t>　构建 </a:t>
            </a:r>
            <a:r>
              <a:rPr lang="en-US" sz="900" b="1" u="none" strike="noStrike">
                <a:solidFill>
                  <a:srgbClr val="214D2E"/>
                </a:solidFill>
                <a:effectLst/>
                <a:uFillTx/>
                <a:latin typeface="Microsoft YaHei"/>
                <a:ea typeface="Microsoft YaHei"/>
              </a:rPr>
              <a:t>/ </a:t>
            </a:r>
            <a:r>
              <a:rPr lang="zh-CN" sz="900" b="1" u="none" strike="noStrike">
                <a:solidFill>
                  <a:srgbClr val="214D2E"/>
                </a:solidFill>
                <a:effectLst/>
                <a:uFillTx/>
                <a:latin typeface="Microsoft YaHei"/>
                <a:ea typeface="Microsoft YaHei"/>
              </a:rPr>
              <a:t>测试　</a:t>
            </a:r>
            <a:r>
              <a:rPr lang="en-US" sz="900" b="1" u="none" strike="noStrike">
                <a:solidFill>
                  <a:srgbClr val="214D2E"/>
                </a:solidFill>
                <a:effectLst/>
                <a:uFillTx/>
                <a:latin typeface="Microsoft YaHei"/>
                <a:ea typeface="Microsoft YaHei"/>
              </a:rPr>
              <a:t>·</a:t>
            </a:r>
            <a:r>
              <a:rPr lang="zh-CN" sz="900" b="1" u="none" strike="noStrike">
                <a:solidFill>
                  <a:srgbClr val="214D2E"/>
                </a:solidFill>
                <a:effectLst/>
                <a:uFillTx/>
                <a:latin typeface="Microsoft YaHei"/>
                <a:ea typeface="Microsoft YaHei"/>
              </a:rPr>
              <a:t>　安全　</a:t>
            </a:r>
            <a:r>
              <a:rPr lang="en-US" sz="900" b="1" u="none" strike="noStrike">
                <a:solidFill>
                  <a:srgbClr val="214D2E"/>
                </a:solidFill>
                <a:effectLst/>
                <a:uFillTx/>
                <a:latin typeface="Microsoft YaHei"/>
                <a:ea typeface="Microsoft YaHei"/>
              </a:rPr>
              <a:t>·</a:t>
            </a:r>
            <a:r>
              <a:rPr lang="zh-CN" sz="900" b="1" u="none" strike="noStrike">
                <a:solidFill>
                  <a:srgbClr val="214D2E"/>
                </a:solidFill>
                <a:effectLst/>
                <a:uFillTx/>
                <a:latin typeface="Microsoft YaHei"/>
                <a:ea typeface="Microsoft YaHei"/>
              </a:rPr>
              <a:t>　部署 </a:t>
            </a:r>
            <a:r>
              <a:rPr lang="en-US" sz="900" b="1" u="none" strike="noStrike">
                <a:solidFill>
                  <a:srgbClr val="214D2E"/>
                </a:solidFill>
                <a:effectLst/>
                <a:uFillTx/>
                <a:latin typeface="Microsoft YaHei"/>
                <a:ea typeface="Microsoft YaHei"/>
              </a:rPr>
              <a:t>/ </a:t>
            </a:r>
            <a:r>
              <a:rPr lang="zh-CN" sz="900" b="1" u="none" strike="noStrike">
                <a:solidFill>
                  <a:srgbClr val="214D2E"/>
                </a:solidFill>
                <a:effectLst/>
                <a:uFillTx/>
                <a:latin typeface="Microsoft YaHei"/>
                <a:ea typeface="Microsoft YaHei"/>
              </a:rPr>
              <a:t>发布　</a:t>
            </a:r>
            <a:r>
              <a:rPr lang="en-US" sz="900" b="1" u="none" strike="noStrike">
                <a:solidFill>
                  <a:srgbClr val="214D2E"/>
                </a:solidFill>
                <a:effectLst/>
                <a:uFillTx/>
                <a:latin typeface="Microsoft YaHei"/>
                <a:ea typeface="Microsoft YaHei"/>
              </a:rPr>
              <a:t>·</a:t>
            </a:r>
            <a:r>
              <a:rPr lang="zh-CN" sz="900" b="1" u="none" strike="noStrike">
                <a:solidFill>
                  <a:srgbClr val="214D2E"/>
                </a:solidFill>
                <a:effectLst/>
                <a:uFillTx/>
                <a:latin typeface="Microsoft YaHei"/>
                <a:ea typeface="Microsoft YaHei"/>
              </a:rPr>
              <a:t>　运行 </a:t>
            </a:r>
            <a:r>
              <a:rPr lang="en-US" sz="900" b="1" u="none" strike="noStrike">
                <a:solidFill>
                  <a:srgbClr val="214D2E"/>
                </a:solidFill>
                <a:effectLst/>
                <a:uFillTx/>
                <a:latin typeface="Microsoft YaHei"/>
                <a:ea typeface="Microsoft YaHei"/>
              </a:rPr>
              <a:t>/ SRE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01-分隔点-1"/>
          <p:cNvSpPr/>
          <p:nvPr/>
        </p:nvSpPr>
        <p:spPr>
          <a:xfrm>
            <a:off x="7010280" y="4915080"/>
            <a:ext cx="4723920" cy="62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810" b="1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流程定义：</a:t>
            </a:r>
            <a:r>
              <a:rPr lang="en-US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DevOps Agent </a:t>
            </a:r>
            <a:r>
              <a:rPr lang="zh-CN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生成 </a:t>
            </a:r>
            <a:r>
              <a:rPr lang="en-US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/ </a:t>
            </a:r>
            <a:r>
              <a:rPr lang="zh-CN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优化，</a:t>
            </a:r>
            <a:r>
              <a:rPr lang="en-US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Pipeline </a:t>
            </a:r>
            <a:r>
              <a:rPr lang="zh-CN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保持用户可见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8000"/>
              </a:lnSpc>
            </a:pPr>
            <a:r>
              <a:rPr lang="zh-CN" sz="810" b="1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确定性治理：</a:t>
            </a:r>
            <a:r>
              <a:rPr lang="en-US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DAG</a:t>
            </a:r>
            <a:r>
              <a:rPr lang="zh-CN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、</a:t>
            </a:r>
            <a:r>
              <a:rPr lang="en-US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Approval / OPA</a:t>
            </a:r>
            <a:r>
              <a:rPr lang="zh-CN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、</a:t>
            </a:r>
            <a:r>
              <a:rPr lang="en-US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Retry</a:t>
            </a:r>
            <a:r>
              <a:rPr lang="zh-CN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、</a:t>
            </a:r>
            <a:r>
              <a:rPr lang="en-US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Failure Strategy</a:t>
            </a:r>
            <a:r>
              <a:rPr lang="zh-CN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、</a:t>
            </a:r>
            <a:r>
              <a:rPr lang="en-US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Rollback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8000"/>
              </a:lnSpc>
            </a:pPr>
            <a:r>
              <a:rPr lang="zh-CN" sz="810" b="1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动态边界：</a:t>
            </a:r>
            <a:r>
              <a:rPr lang="en-US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Dynamic Pipeline / Stage </a:t>
            </a:r>
            <a:r>
              <a:rPr lang="zh-CN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是受控扩展，不等于总控 </a:t>
            </a:r>
            <a:r>
              <a:rPr lang="en-US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Agent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01-场景-2"/>
          <p:cNvSpPr/>
          <p:nvPr/>
        </p:nvSpPr>
        <p:spPr>
          <a:xfrm>
            <a:off x="590400" y="1467000"/>
            <a:ext cx="5924160" cy="1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560" b="1" u="none" strike="noStrike">
                <a:solidFill>
                  <a:srgbClr val="6A8270"/>
                </a:solidFill>
                <a:effectLst/>
                <a:uFillTx/>
                <a:latin typeface="Microsoft YaHei"/>
                <a:ea typeface="Microsoft YaHei"/>
              </a:rPr>
              <a:t>输入：</a:t>
            </a:r>
            <a:r>
              <a:rPr lang="en-US" sz="560" b="1" u="none" strike="noStrike">
                <a:solidFill>
                  <a:srgbClr val="6A8270"/>
                </a:solidFill>
                <a:effectLst/>
                <a:uFillTx/>
                <a:latin typeface="Microsoft YaHei"/>
                <a:ea typeface="Microsoft YaHei"/>
              </a:rPr>
              <a:t>Intent / Event</a:t>
            </a:r>
            <a:r>
              <a:rPr lang="zh-CN" sz="560" b="1" u="none" strike="noStrike">
                <a:solidFill>
                  <a:srgbClr val="6A8270"/>
                </a:solidFill>
                <a:effectLst/>
                <a:uFillTx/>
                <a:latin typeface="Microsoft YaHei"/>
                <a:ea typeface="Microsoft YaHei"/>
              </a:rPr>
              <a:t>　　反馈：</a:t>
            </a:r>
            <a:r>
              <a:rPr lang="en-US" sz="560" b="1" u="none" strike="noStrike">
                <a:solidFill>
                  <a:srgbClr val="6A8270"/>
                </a:solidFill>
                <a:effectLst/>
                <a:uFillTx/>
                <a:latin typeface="Microsoft YaHei"/>
                <a:ea typeface="Microsoft YaHei"/>
              </a:rPr>
              <a:t>Artifact / Evidence / State</a:t>
            </a:r>
            <a:endParaRPr lang="en-US" sz="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01-分隔点-2"/>
          <p:cNvSpPr/>
          <p:nvPr/>
        </p:nvSpPr>
        <p:spPr>
          <a:xfrm>
            <a:off x="457200" y="5962680"/>
            <a:ext cx="5522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200" b="1" u="none" strike="noStrike">
                <a:solidFill>
                  <a:srgbClr val="D46A2E"/>
                </a:solidFill>
                <a:effectLst/>
                <a:uFillTx/>
                <a:latin typeface="Microsoft YaHei"/>
                <a:ea typeface="Microsoft YaHei"/>
              </a:rPr>
              <a:t>启示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01-场景-3"/>
          <p:cNvSpPr/>
          <p:nvPr/>
        </p:nvSpPr>
        <p:spPr>
          <a:xfrm>
            <a:off x="7010280" y="1104840"/>
            <a:ext cx="472392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1650" b="1" u="none" strike="noStrike">
                <a:solidFill>
                  <a:srgbClr val="13253D"/>
                </a:solidFill>
                <a:effectLst/>
                <a:uFillTx/>
                <a:latin typeface="Microsoft YaHei"/>
                <a:ea typeface="Microsoft YaHei"/>
              </a:rPr>
              <a:t>从交付上下文到受控行动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01-分隔点-3"/>
          <p:cNvSpPr/>
          <p:nvPr/>
        </p:nvSpPr>
        <p:spPr>
          <a:xfrm>
            <a:off x="1066680" y="5819760"/>
            <a:ext cx="1066752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70" b="1" u="none" strike="noStrike">
                <a:solidFill>
                  <a:srgbClr val="13253D"/>
                </a:solidFill>
                <a:effectLst/>
                <a:uFillTx/>
                <a:latin typeface="Microsoft YaHei"/>
                <a:ea typeface="Microsoft YaHei"/>
              </a:rPr>
              <a:t>Harness </a:t>
            </a:r>
            <a:r>
              <a:rPr lang="zh-CN" sz="1370" b="1" u="none" strike="noStrike">
                <a:solidFill>
                  <a:srgbClr val="13253D"/>
                </a:solidFill>
                <a:effectLst/>
                <a:uFillTx/>
                <a:latin typeface="Microsoft YaHei"/>
                <a:ea typeface="Microsoft YaHei"/>
              </a:rPr>
              <a:t>的智能编排不是让 </a:t>
            </a:r>
            <a:r>
              <a:rPr lang="en-US" sz="1370" b="1" u="none" strike="noStrike">
                <a:solidFill>
                  <a:srgbClr val="13253D"/>
                </a:solidFill>
                <a:effectLst/>
                <a:uFillTx/>
                <a:latin typeface="Microsoft YaHei"/>
                <a:ea typeface="Microsoft YaHei"/>
              </a:rPr>
              <a:t>Agent </a:t>
            </a:r>
            <a:r>
              <a:rPr lang="zh-CN" sz="1370" b="1" u="none" strike="noStrike">
                <a:solidFill>
                  <a:srgbClr val="13253D"/>
                </a:solidFill>
                <a:effectLst/>
                <a:uFillTx/>
                <a:latin typeface="Microsoft YaHei"/>
                <a:ea typeface="Microsoft YaHei"/>
              </a:rPr>
              <a:t>取代 </a:t>
            </a:r>
            <a:r>
              <a:rPr lang="en-US" sz="1370" b="1" u="none" strike="noStrike">
                <a:solidFill>
                  <a:srgbClr val="13253D"/>
                </a:solidFill>
                <a:effectLst/>
                <a:uFillTx/>
                <a:latin typeface="Microsoft YaHei"/>
                <a:ea typeface="Microsoft YaHei"/>
              </a:rPr>
              <a:t>Pipeline</a:t>
            </a:r>
            <a:r>
              <a:rPr lang="zh-CN" sz="1370" b="1" u="none" strike="noStrike">
                <a:solidFill>
                  <a:srgbClr val="13253D"/>
                </a:solidFill>
                <a:effectLst/>
                <a:uFillTx/>
                <a:latin typeface="Microsoft YaHei"/>
                <a:ea typeface="Microsoft YaHei"/>
              </a:rPr>
              <a:t>，而是让 </a:t>
            </a:r>
            <a:r>
              <a:rPr lang="en-US" sz="1370" b="1" u="none" strike="noStrike">
                <a:solidFill>
                  <a:srgbClr val="13253D"/>
                </a:solidFill>
                <a:effectLst/>
                <a:uFillTx/>
                <a:latin typeface="Microsoft YaHei"/>
                <a:ea typeface="Microsoft YaHei"/>
              </a:rPr>
              <a:t>Agent </a:t>
            </a:r>
            <a:r>
              <a:rPr lang="zh-CN" sz="1370" b="1" u="none" strike="noStrike">
                <a:solidFill>
                  <a:srgbClr val="13253D"/>
                </a:solidFill>
                <a:effectLst/>
                <a:uFillTx/>
                <a:latin typeface="Microsoft YaHei"/>
                <a:ea typeface="Microsoft YaHei"/>
              </a:rPr>
              <a:t>生成、优化并参与流程，再由 </a:t>
            </a:r>
            <a:r>
              <a:rPr lang="en-US" sz="1370" b="1" u="none" strike="noStrike">
                <a:solidFill>
                  <a:srgbClr val="13253D"/>
                </a:solidFill>
                <a:effectLst/>
                <a:uFillTx/>
                <a:latin typeface="Microsoft YaHei"/>
                <a:ea typeface="Microsoft YaHei"/>
              </a:rPr>
              <a:t>Pipeline </a:t>
            </a:r>
            <a:r>
              <a:rPr lang="zh-CN" sz="1370" b="1" u="none" strike="noStrike">
                <a:solidFill>
                  <a:srgbClr val="13253D"/>
                </a:solidFill>
                <a:effectLst/>
                <a:uFillTx/>
                <a:latin typeface="Microsoft YaHei"/>
                <a:ea typeface="Microsoft YaHei"/>
              </a:rPr>
              <a:t>将局部推理纳入跨模块、可审计、可恢复的交付控制。</a:t>
            </a:r>
            <a:endParaRPr lang="en-US" sz="13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01-场景-4"/>
          <p:cNvSpPr/>
          <p:nvPr/>
        </p:nvSpPr>
        <p:spPr>
          <a:xfrm>
            <a:off x="7010280" y="1428840"/>
            <a:ext cx="472392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zh-CN" sz="900" b="1" u="none" strike="noStrike">
                <a:solidFill>
                  <a:srgbClr val="526276"/>
                </a:solidFill>
                <a:effectLst/>
                <a:uFillTx/>
                <a:latin typeface="Microsoft YaHei"/>
                <a:ea typeface="Microsoft YaHei"/>
              </a:rPr>
              <a:t>三类智能体读取上下文、调用工具，再由 </a:t>
            </a:r>
            <a:r>
              <a:rPr lang="en-US" sz="900" b="1" u="none" strike="noStrike">
                <a:solidFill>
                  <a:srgbClr val="526276"/>
                </a:solidFill>
                <a:effectLst/>
                <a:uFillTx/>
                <a:latin typeface="Microsoft YaHei"/>
                <a:ea typeface="Microsoft YaHei"/>
              </a:rPr>
              <a:t>Pipeline </a:t>
            </a:r>
            <a:r>
              <a:rPr lang="zh-CN" sz="900" b="1" u="none" strike="noStrike">
                <a:solidFill>
                  <a:srgbClr val="526276"/>
                </a:solidFill>
                <a:effectLst/>
                <a:uFillTx/>
                <a:latin typeface="Microsoft YaHei"/>
                <a:ea typeface="Microsoft YaHei"/>
              </a:rPr>
              <a:t>与权限边界把概率判断纳入确定性执行。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01-分隔点-4"/>
          <p:cNvSpPr/>
          <p:nvPr/>
        </p:nvSpPr>
        <p:spPr>
          <a:xfrm>
            <a:off x="457200" y="6581880"/>
            <a:ext cx="1127736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469" b="1" u="none" strike="noStrike">
                <a:solidFill>
                  <a:srgbClr val="91A0B1"/>
                </a:solidFill>
                <a:effectLst/>
                <a:uFillTx/>
                <a:latin typeface="Microsoft YaHei"/>
                <a:ea typeface="Microsoft YaHei"/>
              </a:rPr>
              <a:t>来源：</a:t>
            </a:r>
            <a:r>
              <a:rPr lang="en-US" sz="469" b="1" u="none" strike="noStrike">
                <a:solidFill>
                  <a:srgbClr val="91A0B1"/>
                </a:solidFill>
                <a:effectLst/>
                <a:uFillTx/>
                <a:latin typeface="Microsoft YaHei"/>
                <a:ea typeface="Microsoft YaHei"/>
              </a:rPr>
              <a:t>Harness AI</a:t>
            </a:r>
            <a:r>
              <a:rPr lang="zh-CN" sz="469" b="1" u="none" strike="noStrike">
                <a:solidFill>
                  <a:srgbClr val="91A0B1"/>
                </a:solidFill>
                <a:effectLst/>
                <a:uFillTx/>
                <a:latin typeface="Microsoft YaHei"/>
                <a:ea typeface="Microsoft YaHei"/>
              </a:rPr>
              <a:t>、</a:t>
            </a:r>
            <a:r>
              <a:rPr lang="en-US" sz="469" b="1" u="none" strike="noStrike">
                <a:solidFill>
                  <a:srgbClr val="91A0B1"/>
                </a:solidFill>
                <a:effectLst/>
                <a:uFillTx/>
                <a:latin typeface="Microsoft YaHei"/>
                <a:ea typeface="Microsoft YaHei"/>
              </a:rPr>
              <a:t>DevOps / Worker Agents</a:t>
            </a:r>
            <a:r>
              <a:rPr lang="zh-CN" sz="469" b="1" u="none" strike="noStrike">
                <a:solidFill>
                  <a:srgbClr val="91A0B1"/>
                </a:solidFill>
                <a:effectLst/>
                <a:uFillTx/>
                <a:latin typeface="Microsoft YaHei"/>
                <a:ea typeface="Microsoft YaHei"/>
              </a:rPr>
              <a:t>、</a:t>
            </a:r>
            <a:r>
              <a:rPr lang="en-US" sz="469" b="1" u="none" strike="noStrike">
                <a:solidFill>
                  <a:srgbClr val="91A0B1"/>
                </a:solidFill>
                <a:effectLst/>
                <a:uFillTx/>
                <a:latin typeface="Microsoft YaHei"/>
                <a:ea typeface="Microsoft YaHei"/>
              </a:rPr>
              <a:t>Knowledge Graph / HQL</a:t>
            </a:r>
            <a:r>
              <a:rPr lang="zh-CN" sz="469" b="1" u="none" strike="noStrike">
                <a:solidFill>
                  <a:srgbClr val="91A0B1"/>
                </a:solidFill>
                <a:effectLst/>
                <a:uFillTx/>
                <a:latin typeface="Microsoft YaHei"/>
                <a:ea typeface="Microsoft YaHei"/>
              </a:rPr>
              <a:t>、</a:t>
            </a:r>
            <a:r>
              <a:rPr lang="en-US" sz="469" b="1" u="none" strike="noStrike">
                <a:solidFill>
                  <a:srgbClr val="91A0B1"/>
                </a:solidFill>
                <a:effectLst/>
                <a:uFillTx/>
                <a:latin typeface="Microsoft YaHei"/>
                <a:ea typeface="Microsoft YaHei"/>
              </a:rPr>
              <a:t>Dynamic Pipeline</a:t>
            </a:r>
            <a:r>
              <a:rPr lang="zh-CN" sz="469" b="1" u="none" strike="noStrike">
                <a:solidFill>
                  <a:srgbClr val="91A0B1"/>
                </a:solidFill>
                <a:effectLst/>
                <a:uFillTx/>
                <a:latin typeface="Microsoft YaHei"/>
                <a:ea typeface="Microsoft YaHei"/>
              </a:rPr>
              <a:t>、</a:t>
            </a:r>
            <a:r>
              <a:rPr lang="en-US" sz="469" b="1" u="none" strike="noStrike">
                <a:solidFill>
                  <a:srgbClr val="91A0B1"/>
                </a:solidFill>
                <a:effectLst/>
                <a:uFillTx/>
                <a:latin typeface="Microsoft YaHei"/>
                <a:ea typeface="Microsoft YaHei"/>
              </a:rPr>
              <a:t>Approval / OPA / Failure Strategy </a:t>
            </a:r>
            <a:r>
              <a:rPr lang="zh-CN" sz="469" b="1" u="none" strike="noStrike">
                <a:solidFill>
                  <a:srgbClr val="91A0B1"/>
                </a:solidFill>
                <a:effectLst/>
                <a:uFillTx/>
                <a:latin typeface="Microsoft YaHei"/>
                <a:ea typeface="Microsoft YaHei"/>
              </a:rPr>
              <a:t>官方文档；分析视图，</a:t>
            </a:r>
            <a:r>
              <a:rPr lang="en-US" sz="469" b="1" u="none" strike="noStrike">
                <a:solidFill>
                  <a:srgbClr val="91A0B1"/>
                </a:solidFill>
                <a:effectLst/>
                <a:uFillTx/>
                <a:latin typeface="Microsoft YaHei"/>
                <a:ea typeface="Microsoft YaHei"/>
              </a:rPr>
              <a:t>as of 2026-07-24</a:t>
            </a:r>
            <a:endParaRPr lang="en-US" sz="46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01-场景-5"/>
          <p:cNvSpPr/>
          <p:nvPr/>
        </p:nvSpPr>
        <p:spPr>
          <a:xfrm>
            <a:off x="7010280" y="4676760"/>
            <a:ext cx="472392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F4F7A"/>
                </a:solidFill>
                <a:effectLst/>
                <a:uFillTx/>
                <a:latin typeface="Microsoft YaHei"/>
                <a:ea typeface="Microsoft YaHei"/>
              </a:rPr>
              <a:t>04  </a:t>
            </a:r>
            <a:r>
              <a:rPr lang="zh-CN" sz="1050" b="1" u="none" strike="noStrike">
                <a:solidFill>
                  <a:srgbClr val="1F4F7A"/>
                </a:solidFill>
                <a:effectLst/>
                <a:uFillTx/>
                <a:latin typeface="Microsoft YaHei"/>
                <a:ea typeface="Microsoft YaHei"/>
              </a:rPr>
              <a:t>智能工作流编排｜让行动可控、可恢复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01-反馈闭环说明"/>
          <p:cNvSpPr/>
          <p:nvPr/>
        </p:nvSpPr>
        <p:spPr>
          <a:xfrm>
            <a:off x="457200" y="171360"/>
            <a:ext cx="11277360" cy="79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92500" lnSpcReduction="9999"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n-US" sz="3530" b="1" u="none" strike="noStrike">
                <a:solidFill>
                  <a:srgbClr val="13243A"/>
                </a:solidFill>
                <a:effectLst/>
                <a:uFillTx/>
                <a:latin typeface="Microsoft YaHei"/>
                <a:ea typeface="Microsoft YaHei"/>
              </a:rPr>
              <a:t>Harness CI</a:t>
            </a:r>
            <a:r>
              <a:rPr lang="zh-CN" sz="3530" b="1" u="none" strike="noStrike">
                <a:solidFill>
                  <a:srgbClr val="13243A"/>
                </a:solidFill>
                <a:effectLst/>
                <a:uFillTx/>
                <a:latin typeface="Microsoft YaHei"/>
                <a:ea typeface="Microsoft YaHei"/>
              </a:rPr>
              <a:t>：将会推理、能行动、可治理的 </a:t>
            </a:r>
            <a:r>
              <a:rPr lang="en-US" sz="3530" b="1" u="none" strike="noStrike">
                <a:solidFill>
                  <a:srgbClr val="13243A"/>
                </a:solidFill>
                <a:effectLst/>
                <a:uFillTx/>
                <a:latin typeface="Microsoft YaHei"/>
                <a:ea typeface="Microsoft YaHei"/>
              </a:rPr>
              <a:t>Agent</a:t>
            </a:r>
            <a:endParaRPr lang="en-US" sz="35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zh-CN" sz="3530" b="1" u="none" strike="noStrike">
                <a:solidFill>
                  <a:srgbClr val="13243A"/>
                </a:solidFill>
                <a:effectLst/>
                <a:uFillTx/>
                <a:latin typeface="Microsoft YaHei"/>
                <a:ea typeface="Microsoft YaHei"/>
              </a:rPr>
              <a:t>嵌入交付 </a:t>
            </a:r>
            <a:r>
              <a:rPr lang="en-US" sz="3530" b="1" u="none" strike="noStrike">
                <a:solidFill>
                  <a:srgbClr val="13243A"/>
                </a:solidFill>
                <a:effectLst/>
                <a:uFillTx/>
                <a:latin typeface="Microsoft YaHei"/>
                <a:ea typeface="Microsoft YaHei"/>
              </a:rPr>
              <a:t>Pipeline</a:t>
            </a:r>
            <a:endParaRPr lang="en-US" sz="35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02-开发者入口-外框"/>
          <p:cNvSpPr/>
          <p:nvPr/>
        </p:nvSpPr>
        <p:spPr>
          <a:xfrm>
            <a:off x="457200" y="1676520"/>
            <a:ext cx="6190920" cy="495000"/>
          </a:xfrm>
          <a:prstGeom prst="roundRect">
            <a:avLst>
              <a:gd name="adj" fmla="val 23077"/>
            </a:avLst>
          </a:prstGeom>
          <a:noFill/>
          <a:ln w="9525">
            <a:solidFill>
              <a:srgbClr val="BDD0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4" name="02-层标题"/>
          <p:cNvSpPr/>
          <p:nvPr/>
        </p:nvSpPr>
        <p:spPr>
          <a:xfrm>
            <a:off x="552600" y="1724040"/>
            <a:ext cx="600048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244C73"/>
                </a:solidFill>
                <a:effectLst/>
                <a:uFillTx/>
                <a:latin typeface="Microsoft YaHei"/>
                <a:ea typeface="Microsoft YaHei"/>
              </a:rPr>
              <a:t>02  </a:t>
            </a:r>
            <a:r>
              <a:rPr lang="zh-CN" sz="820" b="1" u="none" strike="noStrike">
                <a:solidFill>
                  <a:srgbClr val="244C73"/>
                </a:solidFill>
                <a:effectLst/>
                <a:uFillTx/>
                <a:latin typeface="Microsoft YaHei"/>
                <a:ea typeface="Microsoft YaHei"/>
              </a:rPr>
              <a:t>开发者入口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02-入口-1"/>
          <p:cNvSpPr/>
          <p:nvPr/>
        </p:nvSpPr>
        <p:spPr>
          <a:xfrm>
            <a:off x="590400" y="1886040"/>
            <a:ext cx="5924160" cy="17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60" b="1" u="none" strike="noStrike">
                <a:solidFill>
                  <a:srgbClr val="193F69"/>
                </a:solidFill>
                <a:effectLst/>
                <a:uFillTx/>
                <a:latin typeface="Microsoft YaHei"/>
                <a:ea typeface="Microsoft YaHei"/>
              </a:rPr>
              <a:t>Harness UI</a:t>
            </a:r>
            <a:r>
              <a:rPr lang="zh-CN" sz="860" b="1" u="none" strike="noStrike">
                <a:solidFill>
                  <a:srgbClr val="193F69"/>
                </a:solidFill>
                <a:effectLst/>
                <a:uFillTx/>
                <a:latin typeface="Microsoft YaHei"/>
                <a:ea typeface="Microsoft YaHei"/>
              </a:rPr>
              <a:t>　</a:t>
            </a:r>
            <a:r>
              <a:rPr lang="en-US" sz="860" b="1" u="none" strike="noStrike">
                <a:solidFill>
                  <a:srgbClr val="193F69"/>
                </a:solidFill>
                <a:effectLst/>
                <a:uFillTx/>
                <a:latin typeface="Microsoft YaHei"/>
                <a:ea typeface="Microsoft YaHei"/>
              </a:rPr>
              <a:t>·</a:t>
            </a:r>
            <a:r>
              <a:rPr lang="zh-CN" sz="860" b="1" u="none" strike="noStrike">
                <a:solidFill>
                  <a:srgbClr val="193F69"/>
                </a:solidFill>
                <a:effectLst/>
                <a:uFillTx/>
                <a:latin typeface="Microsoft YaHei"/>
                <a:ea typeface="Microsoft YaHei"/>
              </a:rPr>
              <a:t>　</a:t>
            </a:r>
            <a:r>
              <a:rPr lang="en-US" sz="860" b="1" u="none" strike="noStrike">
                <a:solidFill>
                  <a:srgbClr val="193F69"/>
                </a:solidFill>
                <a:effectLst/>
                <a:uFillTx/>
                <a:latin typeface="Microsoft YaHei"/>
                <a:ea typeface="Microsoft YaHei"/>
              </a:rPr>
              <a:t>VS Code</a:t>
            </a:r>
            <a:r>
              <a:rPr lang="zh-CN" sz="860" b="1" u="none" strike="noStrike">
                <a:solidFill>
                  <a:srgbClr val="193F69"/>
                </a:solidFill>
                <a:effectLst/>
                <a:uFillTx/>
                <a:latin typeface="Microsoft YaHei"/>
                <a:ea typeface="Microsoft YaHei"/>
              </a:rPr>
              <a:t>　</a:t>
            </a:r>
            <a:r>
              <a:rPr lang="en-US" sz="860" b="1" u="none" strike="noStrike">
                <a:solidFill>
                  <a:srgbClr val="193F69"/>
                </a:solidFill>
                <a:effectLst/>
                <a:uFillTx/>
                <a:latin typeface="Microsoft YaHei"/>
                <a:ea typeface="Microsoft YaHei"/>
              </a:rPr>
              <a:t>·</a:t>
            </a:r>
            <a:r>
              <a:rPr lang="zh-CN" sz="860" b="1" u="none" strike="noStrike">
                <a:solidFill>
                  <a:srgbClr val="193F69"/>
                </a:solidFill>
                <a:effectLst/>
                <a:uFillTx/>
                <a:latin typeface="Microsoft YaHei"/>
                <a:ea typeface="Microsoft YaHei"/>
              </a:rPr>
              <a:t>　</a:t>
            </a:r>
            <a:r>
              <a:rPr lang="en-US" sz="860" b="1" u="none" strike="noStrike">
                <a:solidFill>
                  <a:srgbClr val="193F69"/>
                </a:solidFill>
                <a:effectLst/>
                <a:uFillTx/>
                <a:latin typeface="Microsoft YaHei"/>
                <a:ea typeface="Microsoft YaHei"/>
              </a:rPr>
              <a:t>MCP Client + Skills</a:t>
            </a:r>
            <a:r>
              <a:rPr lang="zh-CN" sz="860" b="1" u="none" strike="noStrike">
                <a:solidFill>
                  <a:srgbClr val="193F69"/>
                </a:solidFill>
                <a:effectLst/>
                <a:uFillTx/>
                <a:latin typeface="Microsoft YaHei"/>
                <a:ea typeface="Microsoft YaHei"/>
              </a:rPr>
              <a:t>　</a:t>
            </a:r>
            <a:r>
              <a:rPr lang="en-US" sz="860" b="1" u="none" strike="noStrike">
                <a:solidFill>
                  <a:srgbClr val="193F69"/>
                </a:solidFill>
                <a:effectLst/>
                <a:uFillTx/>
                <a:latin typeface="Microsoft YaHei"/>
                <a:ea typeface="Microsoft YaHei"/>
              </a:rPr>
              <a:t>·</a:t>
            </a:r>
            <a:r>
              <a:rPr lang="zh-CN" sz="860" b="1" u="none" strike="noStrike">
                <a:solidFill>
                  <a:srgbClr val="193F69"/>
                </a:solidFill>
                <a:effectLst/>
                <a:uFillTx/>
                <a:latin typeface="Microsoft YaHei"/>
                <a:ea typeface="Microsoft YaHei"/>
              </a:rPr>
              <a:t>　</a:t>
            </a:r>
            <a:r>
              <a:rPr lang="en-US" sz="860" b="1" u="none" strike="noStrike">
                <a:solidFill>
                  <a:srgbClr val="193F69"/>
                </a:solidFill>
                <a:effectLst/>
                <a:uFillTx/>
                <a:latin typeface="Microsoft YaHei"/>
                <a:ea typeface="Microsoft YaHei"/>
              </a:rPr>
              <a:t>CLI 3.0 Beta</a:t>
            </a:r>
            <a:endParaRPr lang="en-U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02-入口-2"/>
          <p:cNvSpPr/>
          <p:nvPr/>
        </p:nvSpPr>
        <p:spPr>
          <a:xfrm>
            <a:off x="7010280" y="2124000"/>
            <a:ext cx="4723920" cy="59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810" b="1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平台操作智能体：</a:t>
            </a:r>
            <a:r>
              <a:rPr lang="zh-CN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将用户意图转成 </a:t>
            </a:r>
            <a:r>
              <a:rPr lang="en-US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Harness </a:t>
            </a:r>
            <a:r>
              <a:rPr lang="zh-CN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平台配置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8000"/>
              </a:lnSpc>
            </a:pPr>
            <a:r>
              <a:rPr lang="en-US" sz="810" b="1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Worker </a:t>
            </a:r>
            <a:r>
              <a:rPr lang="zh-CN" sz="810" b="1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智能体：</a:t>
            </a:r>
            <a:r>
              <a:rPr lang="zh-CN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作为 </a:t>
            </a:r>
            <a:r>
              <a:rPr lang="en-US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Agent Step </a:t>
            </a:r>
            <a:r>
              <a:rPr lang="zh-CN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推理并行动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8000"/>
              </a:lnSpc>
            </a:pPr>
            <a:r>
              <a:rPr lang="zh-CN" sz="810" b="1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领域专用智能体：</a:t>
            </a:r>
            <a:r>
              <a:rPr lang="zh-CN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嵌入 </a:t>
            </a:r>
            <a:r>
              <a:rPr lang="en-US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Release / Test / SRE </a:t>
            </a:r>
            <a:r>
              <a:rPr lang="zh-CN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等作业闭环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02-入口-3"/>
          <p:cNvSpPr/>
          <p:nvPr/>
        </p:nvSpPr>
        <p:spPr>
          <a:xfrm>
            <a:off x="7010280" y="3067200"/>
            <a:ext cx="4723920" cy="62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zh-CN" sz="810" b="1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知识图谱：</a:t>
            </a:r>
            <a:r>
              <a:rPr lang="zh-CN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连接跨模块对象、关系、状态与历史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8000"/>
              </a:lnSpc>
            </a:pPr>
            <a:r>
              <a:rPr lang="en-US" sz="810" b="1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HQL</a:t>
            </a:r>
            <a:r>
              <a:rPr lang="zh-CN" sz="810" b="1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：</a:t>
            </a:r>
            <a:r>
              <a:rPr lang="zh-CN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查询已建模的交付知识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8000"/>
              </a:lnSpc>
            </a:pPr>
            <a:r>
              <a:rPr lang="en-US" sz="810" b="1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Pipeline Context</a:t>
            </a:r>
            <a:r>
              <a:rPr lang="zh-CN" sz="810" b="1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：</a:t>
            </a:r>
            <a:r>
              <a:rPr lang="zh-CN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注入输入、变量、</a:t>
            </a:r>
            <a:r>
              <a:rPr lang="en-US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Step </a:t>
            </a:r>
            <a:r>
              <a:rPr lang="zh-CN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输出与运行状态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02-入口-4"/>
          <p:cNvSpPr/>
          <p:nvPr/>
        </p:nvSpPr>
        <p:spPr>
          <a:xfrm>
            <a:off x="7010280" y="4048200"/>
            <a:ext cx="472392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08000"/>
              </a:lnSpc>
            </a:pPr>
            <a:r>
              <a:rPr lang="en-US" sz="810" b="1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MCP / Connector / API</a:t>
            </a:r>
            <a:r>
              <a:rPr lang="zh-CN" sz="810" b="1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：</a:t>
            </a:r>
            <a:r>
              <a:rPr lang="zh-CN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执行查询、修改和修复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8000"/>
              </a:lnSpc>
            </a:pPr>
            <a:r>
              <a:rPr lang="zh-CN" sz="810" b="1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凭据、</a:t>
            </a:r>
            <a:r>
              <a:rPr lang="en-US" sz="810" b="1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RBAC</a:t>
            </a:r>
            <a:r>
              <a:rPr lang="zh-CN" sz="810" b="1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、</a:t>
            </a:r>
            <a:r>
              <a:rPr lang="en-US" sz="810" b="1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Scoped Token</a:t>
            </a:r>
            <a:r>
              <a:rPr lang="zh-CN" sz="810" b="1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：</a:t>
            </a:r>
            <a:r>
              <a:rPr lang="zh-CN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限定可执行边界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8000"/>
              </a:lnSpc>
            </a:pPr>
            <a:r>
              <a:rPr lang="zh-CN" sz="810" b="1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治理原则：</a:t>
            </a:r>
            <a:r>
              <a:rPr lang="zh-CN" sz="810" b="0" u="none" strike="noStrike">
                <a:solidFill>
                  <a:srgbClr val="354052"/>
                </a:solidFill>
                <a:effectLst/>
                <a:uFillTx/>
                <a:latin typeface="Microsoft YaHei"/>
                <a:ea typeface="Microsoft YaHei"/>
              </a:rPr>
              <a:t>工具可调用不等于获得授权</a:t>
            </a:r>
            <a:endParaRPr lang="en-US" sz="8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02-访问边界"/>
          <p:cNvSpPr/>
          <p:nvPr/>
        </p:nvSpPr>
        <p:spPr>
          <a:xfrm>
            <a:off x="590400" y="2048040"/>
            <a:ext cx="5924160" cy="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520" b="0" u="none" strike="noStrike">
                <a:solidFill>
                  <a:srgbClr val="6D8196"/>
                </a:solidFill>
                <a:effectLst/>
                <a:uFillTx/>
                <a:latin typeface="Microsoft YaHei"/>
                <a:ea typeface="Microsoft YaHei"/>
              </a:rPr>
              <a:t>身份与访问：用户 </a:t>
            </a:r>
            <a:r>
              <a:rPr lang="en-US" sz="520" b="0" u="none" strike="noStrike">
                <a:solidFill>
                  <a:srgbClr val="6D8196"/>
                </a:solidFill>
                <a:effectLst/>
                <a:uFillTx/>
                <a:latin typeface="Microsoft YaHei"/>
                <a:ea typeface="Microsoft YaHei"/>
              </a:rPr>
              <a:t>/ </a:t>
            </a:r>
            <a:r>
              <a:rPr lang="zh-CN" sz="520" b="0" u="none" strike="noStrike">
                <a:solidFill>
                  <a:srgbClr val="6D8196"/>
                </a:solidFill>
                <a:effectLst/>
                <a:uFillTx/>
                <a:latin typeface="Microsoft YaHei"/>
                <a:ea typeface="Microsoft YaHei"/>
              </a:rPr>
              <a:t>服务账号 </a:t>
            </a:r>
            <a:r>
              <a:rPr lang="en-US" sz="520" b="0" u="none" strike="noStrike">
                <a:solidFill>
                  <a:srgbClr val="6D8196"/>
                </a:solidFill>
                <a:effectLst/>
                <a:uFillTx/>
                <a:latin typeface="Microsoft YaHei"/>
                <a:ea typeface="Microsoft YaHei"/>
              </a:rPr>
              <a:t>· OAuth / PAT · RBAC</a:t>
            </a:r>
            <a:endParaRPr lang="en-US" sz="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03-智能体组合-外框"/>
          <p:cNvSpPr/>
          <p:nvPr/>
        </p:nvSpPr>
        <p:spPr>
          <a:xfrm>
            <a:off x="457200" y="2228760"/>
            <a:ext cx="6190920" cy="1123560"/>
          </a:xfrm>
          <a:prstGeom prst="roundRect">
            <a:avLst>
              <a:gd name="adj" fmla="val 10169"/>
            </a:avLst>
          </a:prstGeom>
          <a:noFill/>
          <a:ln w="9525">
            <a:solidFill>
              <a:srgbClr val="E9B58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1" name="03-层标题"/>
          <p:cNvSpPr/>
          <p:nvPr/>
        </p:nvSpPr>
        <p:spPr>
          <a:xfrm>
            <a:off x="552600" y="2276640"/>
            <a:ext cx="600048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934A16"/>
                </a:solidFill>
                <a:effectLst/>
                <a:uFillTx/>
                <a:latin typeface="Microsoft YaHei"/>
                <a:ea typeface="Microsoft YaHei"/>
              </a:rPr>
              <a:t>03  </a:t>
            </a:r>
            <a:r>
              <a:rPr lang="zh-CN" sz="820" b="1" u="none" strike="noStrike">
                <a:solidFill>
                  <a:srgbClr val="934A16"/>
                </a:solidFill>
                <a:effectLst/>
                <a:uFillTx/>
                <a:latin typeface="Microsoft YaHei"/>
                <a:ea typeface="Microsoft YaHei"/>
              </a:rPr>
              <a:t>智能体能力层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03-层说明"/>
          <p:cNvSpPr/>
          <p:nvPr/>
        </p:nvSpPr>
        <p:spPr>
          <a:xfrm>
            <a:off x="552600" y="2419200"/>
            <a:ext cx="6000480" cy="1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" b="0" u="none" strike="noStrike">
                <a:solidFill>
                  <a:srgbClr val="9A6A4F"/>
                </a:solidFill>
                <a:effectLst/>
                <a:uFillTx/>
                <a:latin typeface="Microsoft YaHei"/>
                <a:ea typeface="Microsoft YaHei"/>
              </a:rPr>
              <a:t>Worker </a:t>
            </a:r>
            <a:r>
              <a:rPr lang="zh-CN" sz="560" b="0" u="none" strike="noStrike">
                <a:solidFill>
                  <a:srgbClr val="9A6A4F"/>
                </a:solidFill>
                <a:effectLst/>
                <a:uFillTx/>
                <a:latin typeface="Microsoft YaHei"/>
                <a:ea typeface="Microsoft YaHei"/>
              </a:rPr>
              <a:t>定义“如何运行”，领域专用定义“为哪类结果负责”；部分 </a:t>
            </a:r>
            <a:r>
              <a:rPr lang="en-US" sz="560" b="0" u="none" strike="noStrike">
                <a:solidFill>
                  <a:srgbClr val="9A6A4F"/>
                </a:solidFill>
                <a:effectLst/>
                <a:uFillTx/>
                <a:latin typeface="Microsoft YaHei"/>
                <a:ea typeface="Microsoft YaHei"/>
              </a:rPr>
              <a:t>Harness </a:t>
            </a:r>
            <a:r>
              <a:rPr lang="zh-CN" sz="560" b="0" u="none" strike="noStrike">
                <a:solidFill>
                  <a:srgbClr val="9A6A4F"/>
                </a:solidFill>
                <a:effectLst/>
                <a:uFillTx/>
                <a:latin typeface="Microsoft YaHei"/>
                <a:ea typeface="Microsoft YaHei"/>
              </a:rPr>
              <a:t>托管 </a:t>
            </a:r>
            <a:r>
              <a:rPr lang="en-US" sz="560" b="0" u="none" strike="noStrike">
                <a:solidFill>
                  <a:srgbClr val="9A6A4F"/>
                </a:solidFill>
                <a:effectLst/>
                <a:uFillTx/>
                <a:latin typeface="Microsoft YaHei"/>
                <a:ea typeface="Microsoft YaHei"/>
              </a:rPr>
              <a:t>Agent </a:t>
            </a:r>
            <a:r>
              <a:rPr lang="zh-CN" sz="560" b="0" u="none" strike="noStrike">
                <a:solidFill>
                  <a:srgbClr val="9A6A4F"/>
                </a:solidFill>
                <a:effectLst/>
                <a:uFillTx/>
                <a:latin typeface="Microsoft YaHei"/>
                <a:ea typeface="Microsoft YaHei"/>
              </a:rPr>
              <a:t>同时属于两者</a:t>
            </a:r>
            <a:endParaRPr lang="en-US" sz="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03-DevOps-底色"/>
          <p:cNvSpPr/>
          <p:nvPr/>
        </p:nvSpPr>
        <p:spPr>
          <a:xfrm>
            <a:off x="571680" y="2571840"/>
            <a:ext cx="1942920" cy="685440"/>
          </a:xfrm>
          <a:prstGeom prst="roundRect">
            <a:avLst>
              <a:gd name="adj" fmla="val 9722"/>
            </a:avLst>
          </a:prstGeom>
          <a:noFill/>
          <a:ln w="9525">
            <a:solidFill>
              <a:srgbClr val="F3D4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4" name="03-DevOps-类型"/>
          <p:cNvSpPr/>
          <p:nvPr/>
        </p:nvSpPr>
        <p:spPr>
          <a:xfrm>
            <a:off x="7010280" y="1886040"/>
            <a:ext cx="472392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9A3E0A"/>
                </a:solidFill>
                <a:effectLst/>
                <a:uFillTx/>
                <a:latin typeface="Microsoft YaHei"/>
                <a:ea typeface="Microsoft YaHei"/>
              </a:rPr>
              <a:t>01  </a:t>
            </a:r>
            <a:r>
              <a:rPr lang="zh-CN" sz="1050" b="1" u="none" strike="noStrike">
                <a:solidFill>
                  <a:srgbClr val="9A3E0A"/>
                </a:solidFill>
                <a:effectLst/>
                <a:uFillTx/>
                <a:latin typeface="Microsoft YaHei"/>
                <a:ea typeface="Microsoft YaHei"/>
              </a:rPr>
              <a:t>三类智能体｜平台、</a:t>
            </a:r>
            <a:r>
              <a:rPr lang="en-US" sz="1050" b="1" u="none" strike="noStrike">
                <a:solidFill>
                  <a:srgbClr val="9A3E0A"/>
                </a:solidFill>
                <a:effectLst/>
                <a:uFillTx/>
                <a:latin typeface="Microsoft YaHei"/>
                <a:ea typeface="Microsoft YaHei"/>
              </a:rPr>
              <a:t>Pipeline </a:t>
            </a:r>
            <a:r>
              <a:rPr lang="zh-CN" sz="1050" b="1" u="none" strike="noStrike">
                <a:solidFill>
                  <a:srgbClr val="9A3E0A"/>
                </a:solidFill>
                <a:effectLst/>
                <a:uFillTx/>
                <a:latin typeface="Microsoft YaHei"/>
                <a:ea typeface="Microsoft YaHei"/>
              </a:rPr>
              <a:t>与领域闭环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03-DevOps-名称"/>
          <p:cNvSpPr/>
          <p:nvPr/>
        </p:nvSpPr>
        <p:spPr>
          <a:xfrm>
            <a:off x="647640" y="2629080"/>
            <a:ext cx="17902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790" b="1" u="none" strike="noStrike">
                <a:solidFill>
                  <a:srgbClr val="A04414"/>
                </a:solidFill>
                <a:effectLst/>
                <a:uFillTx/>
                <a:latin typeface="Microsoft YaHei"/>
                <a:ea typeface="Microsoft YaHei"/>
              </a:rPr>
              <a:t>平台操作智能体</a:t>
            </a:r>
            <a:endParaRPr lang="en-US" sz="7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03-DevOps-职责"/>
          <p:cNvSpPr/>
          <p:nvPr/>
        </p:nvSpPr>
        <p:spPr>
          <a:xfrm>
            <a:off x="647640" y="2800440"/>
            <a:ext cx="179028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580" b="0" u="none" strike="noStrike">
                <a:solidFill>
                  <a:srgbClr val="415065"/>
                </a:solidFill>
                <a:effectLst/>
                <a:uFillTx/>
                <a:latin typeface="Microsoft YaHei"/>
                <a:ea typeface="Microsoft YaHei"/>
              </a:rPr>
              <a:t>DevOps Agent</a:t>
            </a:r>
            <a:r>
              <a:rPr lang="zh-CN" sz="580" b="0" u="none" strike="noStrike">
                <a:solidFill>
                  <a:srgbClr val="415065"/>
                </a:solidFill>
                <a:effectLst/>
                <a:uFillTx/>
                <a:latin typeface="Microsoft YaHei"/>
                <a:ea typeface="Microsoft YaHei"/>
              </a:rPr>
              <a:t>｜设计 </a:t>
            </a:r>
            <a:r>
              <a:rPr lang="en-US" sz="580" b="0" u="none" strike="noStrike">
                <a:solidFill>
                  <a:srgbClr val="415065"/>
                </a:solidFill>
                <a:effectLst/>
                <a:uFillTx/>
                <a:latin typeface="Microsoft YaHei"/>
                <a:ea typeface="Microsoft YaHei"/>
              </a:rPr>
              <a:t>/ </a:t>
            </a:r>
            <a:r>
              <a:rPr lang="zh-CN" sz="580" b="0" u="none" strike="noStrike">
                <a:solidFill>
                  <a:srgbClr val="415065"/>
                </a:solidFill>
                <a:effectLst/>
                <a:uFillTx/>
                <a:latin typeface="Microsoft YaHei"/>
                <a:ea typeface="Microsoft YaHei"/>
              </a:rPr>
              <a:t>修改平台对象</a:t>
            </a:r>
            <a:endParaRPr lang="en-US" sz="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580" b="0" u="none" strike="noStrike">
                <a:solidFill>
                  <a:srgbClr val="415065"/>
                </a:solidFill>
                <a:effectLst/>
                <a:uFillTx/>
                <a:latin typeface="Microsoft YaHei"/>
                <a:ea typeface="Microsoft YaHei"/>
              </a:rPr>
              <a:t>Pipeline · </a:t>
            </a:r>
            <a:r>
              <a:rPr lang="zh-CN" sz="580" b="0" u="none" strike="noStrike">
                <a:solidFill>
                  <a:srgbClr val="415065"/>
                </a:solidFill>
                <a:effectLst/>
                <a:uFillTx/>
                <a:latin typeface="Microsoft YaHei"/>
                <a:ea typeface="Microsoft YaHei"/>
              </a:rPr>
              <a:t>服务 </a:t>
            </a:r>
            <a:r>
              <a:rPr lang="en-US" sz="580" b="0" u="none" strike="noStrike">
                <a:solidFill>
                  <a:srgbClr val="415065"/>
                </a:solidFill>
                <a:effectLst/>
                <a:uFillTx/>
                <a:latin typeface="Microsoft YaHei"/>
                <a:ea typeface="Microsoft YaHei"/>
              </a:rPr>
              <a:t>· </a:t>
            </a:r>
            <a:r>
              <a:rPr lang="zh-CN" sz="580" b="0" u="none" strike="noStrike">
                <a:solidFill>
                  <a:srgbClr val="415065"/>
                </a:solidFill>
                <a:effectLst/>
                <a:uFillTx/>
                <a:latin typeface="Microsoft YaHei"/>
                <a:ea typeface="Microsoft YaHei"/>
              </a:rPr>
              <a:t>环境 </a:t>
            </a:r>
            <a:r>
              <a:rPr lang="en-US" sz="580" b="0" u="none" strike="noStrike">
                <a:solidFill>
                  <a:srgbClr val="415065"/>
                </a:solidFill>
                <a:effectLst/>
                <a:uFillTx/>
                <a:latin typeface="Microsoft YaHei"/>
                <a:ea typeface="Microsoft YaHei"/>
              </a:rPr>
              <a:t>· </a:t>
            </a:r>
            <a:r>
              <a:rPr lang="zh-CN" sz="580" b="0" u="none" strike="noStrike">
                <a:solidFill>
                  <a:srgbClr val="415065"/>
                </a:solidFill>
                <a:effectLst/>
                <a:uFillTx/>
                <a:latin typeface="Microsoft YaHei"/>
                <a:ea typeface="Microsoft YaHei"/>
              </a:rPr>
              <a:t>策略</a:t>
            </a:r>
            <a:endParaRPr lang="en-US" sz="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03-DevOps-边界"/>
          <p:cNvSpPr/>
          <p:nvPr/>
        </p:nvSpPr>
        <p:spPr>
          <a:xfrm>
            <a:off x="647640" y="3095640"/>
            <a:ext cx="1790280" cy="1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510" b="0" u="none" strike="noStrike">
                <a:solidFill>
                  <a:srgbClr val="8A7567"/>
                </a:solidFill>
                <a:effectLst/>
                <a:uFillTx/>
                <a:latin typeface="Microsoft YaHei"/>
                <a:ea typeface="Microsoft YaHei"/>
              </a:rPr>
              <a:t>用户身份 </a:t>
            </a:r>
            <a:r>
              <a:rPr lang="en-US" sz="510" b="0" u="none" strike="noStrike">
                <a:solidFill>
                  <a:srgbClr val="8A7567"/>
                </a:solidFill>
                <a:effectLst/>
                <a:uFillTx/>
                <a:latin typeface="Microsoft YaHei"/>
                <a:ea typeface="Microsoft YaHei"/>
              </a:rPr>
              <a:t>· RBAC · OPA</a:t>
            </a:r>
            <a:endParaRPr lang="en-US" sz="5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03-Worker-底色"/>
          <p:cNvSpPr/>
          <p:nvPr/>
        </p:nvSpPr>
        <p:spPr>
          <a:xfrm>
            <a:off x="2581200" y="2571840"/>
            <a:ext cx="1942920" cy="685440"/>
          </a:xfrm>
          <a:prstGeom prst="roundRect">
            <a:avLst>
              <a:gd name="adj" fmla="val 9722"/>
            </a:avLst>
          </a:prstGeom>
          <a:noFill/>
          <a:ln w="9525">
            <a:solidFill>
              <a:srgbClr val="F0C3A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9" name="03-Worker-类型"/>
          <p:cNvSpPr/>
          <p:nvPr/>
        </p:nvSpPr>
        <p:spPr>
          <a:xfrm>
            <a:off x="7010280" y="2828880"/>
            <a:ext cx="472392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176B73"/>
                </a:solidFill>
                <a:effectLst/>
                <a:uFillTx/>
                <a:latin typeface="Microsoft YaHei"/>
                <a:ea typeface="Microsoft YaHei"/>
              </a:rPr>
              <a:t>02  </a:t>
            </a:r>
            <a:r>
              <a:rPr lang="zh-CN" sz="1050" b="1" u="none" strike="noStrike">
                <a:solidFill>
                  <a:srgbClr val="176B73"/>
                </a:solidFill>
                <a:effectLst/>
                <a:uFillTx/>
                <a:latin typeface="Microsoft YaHei"/>
                <a:ea typeface="Microsoft YaHei"/>
              </a:rPr>
              <a:t>两类上下文｜平台知识 </a:t>
            </a:r>
            <a:r>
              <a:rPr lang="en-US" sz="1050" b="1" u="none" strike="noStrike">
                <a:solidFill>
                  <a:srgbClr val="176B73"/>
                </a:solidFill>
                <a:effectLst/>
                <a:uFillTx/>
                <a:latin typeface="Microsoft YaHei"/>
                <a:ea typeface="Microsoft YaHei"/>
              </a:rPr>
              <a:t>+ </a:t>
            </a:r>
            <a:r>
              <a:rPr lang="zh-CN" sz="1050" b="1" u="none" strike="noStrike">
                <a:solidFill>
                  <a:srgbClr val="176B73"/>
                </a:solidFill>
                <a:effectLst/>
                <a:uFillTx/>
                <a:latin typeface="Microsoft YaHei"/>
                <a:ea typeface="Microsoft YaHei"/>
              </a:rPr>
              <a:t>本次执行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03-Worker-名称"/>
          <p:cNvSpPr/>
          <p:nvPr/>
        </p:nvSpPr>
        <p:spPr>
          <a:xfrm>
            <a:off x="2657520" y="2629080"/>
            <a:ext cx="17902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90" b="1" u="none" strike="noStrike">
                <a:solidFill>
                  <a:srgbClr val="A04414"/>
                </a:solidFill>
                <a:effectLst/>
                <a:uFillTx/>
                <a:latin typeface="Microsoft YaHei"/>
                <a:ea typeface="Microsoft YaHei"/>
              </a:rPr>
              <a:t>Worker </a:t>
            </a:r>
            <a:r>
              <a:rPr lang="zh-CN" sz="790" b="1" u="none" strike="noStrike">
                <a:solidFill>
                  <a:srgbClr val="A04414"/>
                </a:solidFill>
                <a:effectLst/>
                <a:uFillTx/>
                <a:latin typeface="Microsoft YaHei"/>
                <a:ea typeface="Microsoft YaHei"/>
              </a:rPr>
              <a:t>智能体</a:t>
            </a:r>
            <a:endParaRPr lang="en-US" sz="7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03-Worker-职责"/>
          <p:cNvSpPr/>
          <p:nvPr/>
        </p:nvSpPr>
        <p:spPr>
          <a:xfrm>
            <a:off x="2657520" y="2800440"/>
            <a:ext cx="179028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8000"/>
              </a:lnSpc>
              <a:tabLst>
                <a:tab pos="0" algn="l"/>
              </a:tabLst>
            </a:pPr>
            <a:r>
              <a:rPr lang="zh-CN" sz="580" b="0" u="none" strike="noStrike">
                <a:solidFill>
                  <a:srgbClr val="415065"/>
                </a:solidFill>
                <a:effectLst/>
                <a:uFillTx/>
                <a:latin typeface="Microsoft YaHei"/>
                <a:ea typeface="Microsoft YaHei"/>
              </a:rPr>
              <a:t>自定义 </a:t>
            </a:r>
            <a:r>
              <a:rPr lang="en-US" sz="580" b="0" u="none" strike="noStrike">
                <a:solidFill>
                  <a:srgbClr val="415065"/>
                </a:solidFill>
                <a:effectLst/>
                <a:uFillTx/>
                <a:latin typeface="Microsoft YaHei"/>
                <a:ea typeface="Microsoft YaHei"/>
              </a:rPr>
              <a:t>/ </a:t>
            </a:r>
            <a:r>
              <a:rPr lang="zh-CN" sz="580" b="0" u="none" strike="noStrike">
                <a:solidFill>
                  <a:srgbClr val="415065"/>
                </a:solidFill>
                <a:effectLst/>
                <a:uFillTx/>
                <a:latin typeface="Microsoft YaHei"/>
                <a:ea typeface="Microsoft YaHei"/>
              </a:rPr>
              <a:t>托管｜</a:t>
            </a:r>
            <a:r>
              <a:rPr lang="en-US" sz="580" b="0" u="none" strike="noStrike">
                <a:solidFill>
                  <a:srgbClr val="415065"/>
                </a:solidFill>
                <a:effectLst/>
                <a:uFillTx/>
                <a:latin typeface="Microsoft YaHei"/>
                <a:ea typeface="Microsoft YaHei"/>
              </a:rPr>
              <a:t>Agent Definition</a:t>
            </a:r>
            <a:endParaRPr lang="en-US" sz="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8000"/>
              </a:lnSpc>
              <a:tabLst>
                <a:tab pos="0" algn="l"/>
              </a:tabLst>
            </a:pPr>
            <a:r>
              <a:rPr lang="zh-CN" sz="580" b="0" u="none" strike="noStrike">
                <a:solidFill>
                  <a:srgbClr val="415065"/>
                </a:solidFill>
                <a:effectLst/>
                <a:uFillTx/>
                <a:latin typeface="Microsoft YaHei"/>
                <a:ea typeface="Microsoft YaHei"/>
              </a:rPr>
              <a:t>作为 </a:t>
            </a:r>
            <a:r>
              <a:rPr lang="en-US" sz="580" b="0" u="none" strike="noStrike">
                <a:solidFill>
                  <a:srgbClr val="415065"/>
                </a:solidFill>
                <a:effectLst/>
                <a:uFillTx/>
                <a:latin typeface="Microsoft YaHei"/>
                <a:ea typeface="Microsoft YaHei"/>
              </a:rPr>
              <a:t>Agent Step </a:t>
            </a:r>
            <a:r>
              <a:rPr lang="zh-CN" sz="580" b="0" u="none" strike="noStrike">
                <a:solidFill>
                  <a:srgbClr val="415065"/>
                </a:solidFill>
                <a:effectLst/>
                <a:uFillTx/>
                <a:latin typeface="Microsoft YaHei"/>
                <a:ea typeface="Microsoft YaHei"/>
              </a:rPr>
              <a:t>编排执行</a:t>
            </a:r>
            <a:endParaRPr lang="en-US" sz="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03-Worker-边界"/>
          <p:cNvSpPr/>
          <p:nvPr/>
        </p:nvSpPr>
        <p:spPr>
          <a:xfrm>
            <a:off x="2657520" y="3095640"/>
            <a:ext cx="1790280" cy="1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10" b="0" u="none" strike="noStrike">
                <a:solidFill>
                  <a:srgbClr val="8A7567"/>
                </a:solidFill>
                <a:effectLst/>
                <a:uFillTx/>
                <a:latin typeface="Microsoft YaHei"/>
                <a:ea typeface="Microsoft YaHei"/>
              </a:rPr>
              <a:t>Scoped Token · </a:t>
            </a:r>
            <a:r>
              <a:rPr lang="zh-CN" sz="510" b="0" u="none" strike="noStrike">
                <a:solidFill>
                  <a:srgbClr val="8A7567"/>
                </a:solidFill>
                <a:effectLst/>
                <a:uFillTx/>
                <a:latin typeface="Microsoft YaHei"/>
                <a:ea typeface="Microsoft YaHei"/>
              </a:rPr>
              <a:t>模型 </a:t>
            </a:r>
            <a:r>
              <a:rPr lang="en-US" sz="510" b="0" u="none" strike="noStrike">
                <a:solidFill>
                  <a:srgbClr val="8A7567"/>
                </a:solidFill>
                <a:effectLst/>
                <a:uFillTx/>
                <a:latin typeface="Microsoft YaHei"/>
                <a:ea typeface="Microsoft YaHei"/>
              </a:rPr>
              <a:t>/ MCP </a:t>
            </a:r>
            <a:r>
              <a:rPr lang="zh-CN" sz="510" b="0" u="none" strike="noStrike">
                <a:solidFill>
                  <a:srgbClr val="8A7567"/>
                </a:solidFill>
                <a:effectLst/>
                <a:uFillTx/>
                <a:latin typeface="Microsoft YaHei"/>
                <a:ea typeface="Microsoft YaHei"/>
              </a:rPr>
              <a:t>凭据</a:t>
            </a:r>
            <a:endParaRPr lang="en-US" sz="5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03-专项-底色"/>
          <p:cNvSpPr/>
          <p:nvPr/>
        </p:nvSpPr>
        <p:spPr>
          <a:xfrm>
            <a:off x="4591080" y="2571840"/>
            <a:ext cx="1942920" cy="685440"/>
          </a:xfrm>
          <a:prstGeom prst="roundRect">
            <a:avLst>
              <a:gd name="adj" fmla="val 9722"/>
            </a:avLst>
          </a:prstGeom>
          <a:noFill/>
          <a:ln w="9525">
            <a:solidFill>
              <a:srgbClr val="F3D4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4" name="03-专项-类型"/>
          <p:cNvSpPr/>
          <p:nvPr/>
        </p:nvSpPr>
        <p:spPr>
          <a:xfrm>
            <a:off x="7010280" y="3809880"/>
            <a:ext cx="472392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45A7A"/>
                </a:solidFill>
                <a:effectLst/>
                <a:uFillTx/>
                <a:latin typeface="Microsoft YaHei"/>
                <a:ea typeface="Microsoft YaHei"/>
              </a:rPr>
              <a:t>03  </a:t>
            </a:r>
            <a:r>
              <a:rPr lang="zh-CN" sz="1050" b="1" u="none" strike="noStrike">
                <a:solidFill>
                  <a:srgbClr val="245A7A"/>
                </a:solidFill>
                <a:effectLst/>
                <a:uFillTx/>
                <a:latin typeface="Microsoft YaHei"/>
                <a:ea typeface="Microsoft YaHei"/>
              </a:rPr>
              <a:t>工具行动｜把判断转成受控操作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03-专项-名称"/>
          <p:cNvSpPr/>
          <p:nvPr/>
        </p:nvSpPr>
        <p:spPr>
          <a:xfrm>
            <a:off x="4667400" y="2629080"/>
            <a:ext cx="17902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790" b="1" u="none" strike="noStrike">
                <a:solidFill>
                  <a:srgbClr val="A04414"/>
                </a:solidFill>
                <a:effectLst/>
                <a:uFillTx/>
                <a:latin typeface="Microsoft YaHei"/>
                <a:ea typeface="Microsoft YaHei"/>
              </a:rPr>
              <a:t>领域专用智能体</a:t>
            </a:r>
            <a:endParaRPr lang="en-US" sz="7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03-专项-职责"/>
          <p:cNvSpPr/>
          <p:nvPr/>
        </p:nvSpPr>
        <p:spPr>
          <a:xfrm>
            <a:off x="4667400" y="2800440"/>
            <a:ext cx="179028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8000"/>
              </a:lnSpc>
              <a:tabLst>
                <a:tab pos="0" algn="l"/>
              </a:tabLst>
            </a:pPr>
            <a:r>
              <a:rPr lang="en-US" sz="560" b="0" u="none" strike="noStrike">
                <a:solidFill>
                  <a:srgbClr val="415065"/>
                </a:solidFill>
                <a:effectLst/>
                <a:uFillTx/>
                <a:latin typeface="Microsoft YaHei"/>
                <a:ea typeface="Microsoft YaHei"/>
              </a:rPr>
              <a:t>Release · Test · SRE · AppSec · FinOps</a:t>
            </a:r>
            <a:endParaRPr lang="en-US" sz="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8000"/>
              </a:lnSpc>
              <a:tabLst>
                <a:tab pos="0" algn="l"/>
              </a:tabLst>
            </a:pPr>
            <a:r>
              <a:rPr lang="zh-CN" sz="560" b="0" u="none" strike="noStrike">
                <a:solidFill>
                  <a:srgbClr val="415065"/>
                </a:solidFill>
                <a:effectLst/>
                <a:uFillTx/>
                <a:latin typeface="Microsoft YaHei"/>
                <a:ea typeface="Microsoft YaHei"/>
              </a:rPr>
              <a:t>领域数据 </a:t>
            </a:r>
            <a:r>
              <a:rPr lang="en-US" sz="560" b="0" u="none" strike="noStrike">
                <a:solidFill>
                  <a:srgbClr val="415065"/>
                </a:solidFill>
                <a:effectLst/>
                <a:uFillTx/>
                <a:latin typeface="Microsoft YaHei"/>
                <a:ea typeface="Microsoft YaHei"/>
              </a:rPr>
              <a:t>· </a:t>
            </a:r>
            <a:r>
              <a:rPr lang="zh-CN" sz="560" b="0" u="none" strike="noStrike">
                <a:solidFill>
                  <a:srgbClr val="415065"/>
                </a:solidFill>
                <a:effectLst/>
                <a:uFillTx/>
                <a:latin typeface="Microsoft YaHei"/>
                <a:ea typeface="Microsoft YaHei"/>
              </a:rPr>
              <a:t>事件 </a:t>
            </a:r>
            <a:r>
              <a:rPr lang="en-US" sz="560" b="0" u="none" strike="noStrike">
                <a:solidFill>
                  <a:srgbClr val="415065"/>
                </a:solidFill>
                <a:effectLst/>
                <a:uFillTx/>
                <a:latin typeface="Microsoft YaHei"/>
                <a:ea typeface="Microsoft YaHei"/>
              </a:rPr>
              <a:t>· </a:t>
            </a:r>
            <a:r>
              <a:rPr lang="zh-CN" sz="560" b="0" u="none" strike="noStrike">
                <a:solidFill>
                  <a:srgbClr val="415065"/>
                </a:solidFill>
                <a:effectLst/>
                <a:uFillTx/>
                <a:latin typeface="Microsoft YaHei"/>
                <a:ea typeface="Microsoft YaHei"/>
              </a:rPr>
              <a:t>结果闭环</a:t>
            </a:r>
            <a:endParaRPr lang="en-US" sz="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03-专项-边界"/>
          <p:cNvSpPr/>
          <p:nvPr/>
        </p:nvSpPr>
        <p:spPr>
          <a:xfrm>
            <a:off x="4667400" y="3095640"/>
            <a:ext cx="1790280" cy="1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500" b="0" u="none" strike="noStrike">
                <a:solidFill>
                  <a:srgbClr val="8A7567"/>
                </a:solidFill>
                <a:effectLst/>
                <a:uFillTx/>
                <a:latin typeface="Microsoft YaHei"/>
                <a:ea typeface="Microsoft YaHei"/>
              </a:rPr>
              <a:t>模块权限 </a:t>
            </a:r>
            <a:r>
              <a:rPr lang="en-US" sz="500" b="0" u="none" strike="noStrike">
                <a:solidFill>
                  <a:srgbClr val="8A7567"/>
                </a:solidFill>
                <a:effectLst/>
                <a:uFillTx/>
                <a:latin typeface="Microsoft YaHei"/>
                <a:ea typeface="Microsoft YaHei"/>
              </a:rPr>
              <a:t>· </a:t>
            </a:r>
            <a:r>
              <a:rPr lang="zh-CN" sz="500" b="0" u="none" strike="noStrike">
                <a:solidFill>
                  <a:srgbClr val="8A7567"/>
                </a:solidFill>
                <a:effectLst/>
                <a:uFillTx/>
                <a:latin typeface="Microsoft YaHei"/>
                <a:ea typeface="Microsoft YaHei"/>
              </a:rPr>
              <a:t>专用凭据 </a:t>
            </a:r>
            <a:r>
              <a:rPr lang="en-US" sz="500" b="0" u="none" strike="noStrike">
                <a:solidFill>
                  <a:srgbClr val="8A7567"/>
                </a:solidFill>
                <a:effectLst/>
                <a:uFillTx/>
                <a:latin typeface="Microsoft YaHei"/>
                <a:ea typeface="Microsoft YaHei"/>
              </a:rPr>
              <a:t>· Runtime varies</a:t>
            </a:r>
            <a:endParaRPr lang="en-US" sz="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04-智能体能力支撑-外框"/>
          <p:cNvSpPr/>
          <p:nvPr/>
        </p:nvSpPr>
        <p:spPr>
          <a:xfrm>
            <a:off x="457200" y="3409920"/>
            <a:ext cx="6190920" cy="933120"/>
          </a:xfrm>
          <a:prstGeom prst="roundRect">
            <a:avLst>
              <a:gd name="adj" fmla="val 12245"/>
            </a:avLst>
          </a:prstGeom>
          <a:noFill/>
          <a:ln w="9525">
            <a:solidFill>
              <a:srgbClr val="BDD0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9" name="04-层标题"/>
          <p:cNvSpPr/>
          <p:nvPr/>
        </p:nvSpPr>
        <p:spPr>
          <a:xfrm>
            <a:off x="552600" y="3457440"/>
            <a:ext cx="600048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244C73"/>
                </a:solidFill>
                <a:effectLst/>
                <a:uFillTx/>
                <a:latin typeface="Microsoft YaHei"/>
                <a:ea typeface="Microsoft YaHei"/>
              </a:rPr>
              <a:t>04  </a:t>
            </a:r>
            <a:r>
              <a:rPr lang="zh-CN" sz="820" b="1" u="none" strike="noStrike">
                <a:solidFill>
                  <a:srgbClr val="244C73"/>
                </a:solidFill>
                <a:effectLst/>
                <a:uFillTx/>
                <a:latin typeface="Microsoft YaHei"/>
                <a:ea typeface="Microsoft YaHei"/>
              </a:rPr>
              <a:t>智能体能力支撑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04-层说明"/>
          <p:cNvSpPr/>
          <p:nvPr/>
        </p:nvSpPr>
        <p:spPr>
          <a:xfrm>
            <a:off x="552600" y="3600360"/>
            <a:ext cx="6000480" cy="1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560" b="0" u="none" strike="noStrike">
                <a:solidFill>
                  <a:srgbClr val="6B8297"/>
                </a:solidFill>
                <a:effectLst/>
                <a:uFillTx/>
                <a:latin typeface="Microsoft YaHei"/>
                <a:ea typeface="Microsoft YaHei"/>
              </a:rPr>
              <a:t>知识回答“知道什么”，工具决定“能够做什么”</a:t>
            </a:r>
            <a:endParaRPr lang="en-US" sz="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04-上下文与知识-底色"/>
          <p:cNvSpPr/>
          <p:nvPr/>
        </p:nvSpPr>
        <p:spPr>
          <a:xfrm>
            <a:off x="571680" y="3753000"/>
            <a:ext cx="2923920" cy="514080"/>
          </a:xfrm>
          <a:prstGeom prst="roundRect">
            <a:avLst>
              <a:gd name="adj" fmla="val 12963"/>
            </a:avLst>
          </a:prstGeom>
          <a:noFill/>
          <a:ln w="9525">
            <a:solidFill>
              <a:srgbClr val="D5C9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2" name="04-上下文与知识-标题"/>
          <p:cNvSpPr/>
          <p:nvPr/>
        </p:nvSpPr>
        <p:spPr>
          <a:xfrm>
            <a:off x="647640" y="3800520"/>
            <a:ext cx="27712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670" b="1" u="none" strike="noStrike">
                <a:solidFill>
                  <a:srgbClr val="5C4F83"/>
                </a:solidFill>
                <a:effectLst/>
                <a:uFillTx/>
                <a:latin typeface="Microsoft YaHei"/>
                <a:ea typeface="Microsoft YaHei"/>
              </a:rPr>
              <a:t>上下文与知识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04-上下文与知识-主信息"/>
          <p:cNvSpPr/>
          <p:nvPr/>
        </p:nvSpPr>
        <p:spPr>
          <a:xfrm>
            <a:off x="647640" y="3914640"/>
            <a:ext cx="2771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92500"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839" b="1" u="none" strike="noStrike">
                <a:solidFill>
                  <a:srgbClr val="443969"/>
                </a:solidFill>
                <a:effectLst/>
                <a:uFillTx/>
                <a:latin typeface="Microsoft YaHei"/>
                <a:ea typeface="Microsoft YaHei"/>
              </a:rPr>
              <a:t>软件交付知识图谱 </a:t>
            </a:r>
            <a:r>
              <a:rPr lang="en-US" sz="839" b="1" u="none" strike="noStrike">
                <a:solidFill>
                  <a:srgbClr val="443969"/>
                </a:solidFill>
                <a:effectLst/>
                <a:uFillTx/>
                <a:latin typeface="Microsoft YaHei"/>
                <a:ea typeface="Microsoft YaHei"/>
              </a:rPr>
              <a:t>· HQL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39" b="1" u="none" strike="noStrike">
                <a:solidFill>
                  <a:srgbClr val="443969"/>
                </a:solidFill>
                <a:effectLst/>
                <a:uFillTx/>
                <a:latin typeface="Microsoft YaHei"/>
                <a:ea typeface="Microsoft YaHei"/>
              </a:rPr>
              <a:t>Pipeline Context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04-上下文与知识-说明"/>
          <p:cNvSpPr/>
          <p:nvPr/>
        </p:nvSpPr>
        <p:spPr>
          <a:xfrm>
            <a:off x="647640" y="4152960"/>
            <a:ext cx="2771280" cy="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490" b="0" u="none" strike="noStrike">
                <a:solidFill>
                  <a:srgbClr val="81739E"/>
                </a:solidFill>
                <a:effectLst/>
                <a:uFillTx/>
                <a:latin typeface="Microsoft YaHei"/>
                <a:ea typeface="Microsoft YaHei"/>
              </a:rPr>
              <a:t>组织记忆 </a:t>
            </a:r>
            <a:r>
              <a:rPr lang="en-US" sz="490" b="0" u="none" strike="noStrike">
                <a:solidFill>
                  <a:srgbClr val="81739E"/>
                </a:solidFill>
                <a:effectLst/>
                <a:uFillTx/>
                <a:latin typeface="Microsoft YaHei"/>
                <a:ea typeface="Microsoft YaHei"/>
              </a:rPr>
              <a:t>· </a:t>
            </a:r>
            <a:r>
              <a:rPr lang="zh-CN" sz="490" b="0" u="none" strike="noStrike">
                <a:solidFill>
                  <a:srgbClr val="81739E"/>
                </a:solidFill>
                <a:effectLst/>
                <a:uFillTx/>
                <a:latin typeface="Microsoft YaHei"/>
                <a:ea typeface="Microsoft YaHei"/>
              </a:rPr>
              <a:t>确定性检索 </a:t>
            </a:r>
            <a:r>
              <a:rPr lang="en-US" sz="490" b="0" u="none" strike="noStrike">
                <a:solidFill>
                  <a:srgbClr val="81739E"/>
                </a:solidFill>
                <a:effectLst/>
                <a:uFillTx/>
                <a:latin typeface="Microsoft YaHei"/>
                <a:ea typeface="Microsoft YaHei"/>
              </a:rPr>
              <a:t>· </a:t>
            </a:r>
            <a:r>
              <a:rPr lang="zh-CN" sz="490" b="0" u="none" strike="noStrike">
                <a:solidFill>
                  <a:srgbClr val="81739E"/>
                </a:solidFill>
                <a:effectLst/>
                <a:uFillTx/>
                <a:latin typeface="Microsoft YaHei"/>
                <a:ea typeface="Microsoft YaHei"/>
              </a:rPr>
              <a:t>运行现场</a:t>
            </a:r>
            <a:endParaRPr lang="en-US" sz="4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04-工具与动作-底色"/>
          <p:cNvSpPr/>
          <p:nvPr/>
        </p:nvSpPr>
        <p:spPr>
          <a:xfrm>
            <a:off x="3610080" y="3753000"/>
            <a:ext cx="2923920" cy="514080"/>
          </a:xfrm>
          <a:prstGeom prst="roundRect">
            <a:avLst>
              <a:gd name="adj" fmla="val 12963"/>
            </a:avLst>
          </a:prstGeom>
          <a:noFill/>
          <a:ln w="9525">
            <a:solidFill>
              <a:srgbClr val="BEDDE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56" name="04-工具与动作-标题"/>
          <p:cNvSpPr/>
          <p:nvPr/>
        </p:nvSpPr>
        <p:spPr>
          <a:xfrm>
            <a:off x="3686040" y="3800520"/>
            <a:ext cx="277128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670" b="1" u="none" strike="noStrike">
                <a:solidFill>
                  <a:srgbClr val="245C65"/>
                </a:solidFill>
                <a:effectLst/>
                <a:uFillTx/>
                <a:latin typeface="Microsoft YaHei"/>
                <a:ea typeface="Microsoft YaHei"/>
              </a:rPr>
              <a:t>工具与动作</a:t>
            </a:r>
            <a:endParaRPr lang="en-US" sz="6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04-工具与动作-主信息"/>
          <p:cNvSpPr/>
          <p:nvPr/>
        </p:nvSpPr>
        <p:spPr>
          <a:xfrm>
            <a:off x="3686040" y="3914640"/>
            <a:ext cx="2771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92500"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39" b="1" u="none" strike="noStrike">
                <a:solidFill>
                  <a:srgbClr val="1E5660"/>
                </a:solidFill>
                <a:effectLst/>
                <a:uFillTx/>
                <a:latin typeface="Microsoft YaHei"/>
                <a:ea typeface="Microsoft YaHei"/>
              </a:rPr>
              <a:t>Harness / </a:t>
            </a:r>
            <a:r>
              <a:rPr lang="zh-CN" sz="839" b="1" u="none" strike="noStrike">
                <a:solidFill>
                  <a:srgbClr val="1E5660"/>
                </a:solidFill>
                <a:effectLst/>
                <a:uFillTx/>
                <a:latin typeface="Microsoft YaHei"/>
                <a:ea typeface="Microsoft YaHei"/>
              </a:rPr>
              <a:t>第三方 </a:t>
            </a:r>
            <a:r>
              <a:rPr lang="en-US" sz="839" b="1" u="none" strike="noStrike">
                <a:solidFill>
                  <a:srgbClr val="1E5660"/>
                </a:solidFill>
                <a:effectLst/>
                <a:uFillTx/>
                <a:latin typeface="Microsoft YaHei"/>
                <a:ea typeface="Microsoft YaHei"/>
              </a:rPr>
              <a:t>MCP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39" b="1" u="none" strike="noStrike">
                <a:solidFill>
                  <a:srgbClr val="1E5660"/>
                </a:solidFill>
                <a:effectLst/>
                <a:uFillTx/>
                <a:latin typeface="Microsoft YaHei"/>
                <a:ea typeface="Microsoft YaHei"/>
              </a:rPr>
              <a:t>Connector · API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04-工具与动作-说明"/>
          <p:cNvSpPr/>
          <p:nvPr/>
        </p:nvSpPr>
        <p:spPr>
          <a:xfrm>
            <a:off x="3686040" y="4152960"/>
            <a:ext cx="2771280" cy="7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490" b="0" u="none" strike="noStrike">
                <a:solidFill>
                  <a:srgbClr val="688A8F"/>
                </a:solidFill>
                <a:effectLst/>
                <a:uFillTx/>
                <a:latin typeface="Microsoft YaHei"/>
                <a:ea typeface="Microsoft YaHei"/>
              </a:rPr>
              <a:t>凭据授权 </a:t>
            </a:r>
            <a:r>
              <a:rPr lang="en-US" sz="490" b="0" u="none" strike="noStrike">
                <a:solidFill>
                  <a:srgbClr val="688A8F"/>
                </a:solidFill>
                <a:effectLst/>
                <a:uFillTx/>
                <a:latin typeface="Microsoft YaHei"/>
                <a:ea typeface="Microsoft YaHei"/>
              </a:rPr>
              <a:t>· </a:t>
            </a:r>
            <a:r>
              <a:rPr lang="zh-CN" sz="490" b="0" u="none" strike="noStrike">
                <a:solidFill>
                  <a:srgbClr val="688A8F"/>
                </a:solidFill>
                <a:effectLst/>
                <a:uFillTx/>
                <a:latin typeface="Microsoft YaHei"/>
                <a:ea typeface="Microsoft YaHei"/>
              </a:rPr>
              <a:t>外部系统 </a:t>
            </a:r>
            <a:r>
              <a:rPr lang="en-US" sz="490" b="0" u="none" strike="noStrike">
                <a:solidFill>
                  <a:srgbClr val="688A8F"/>
                </a:solidFill>
                <a:effectLst/>
                <a:uFillTx/>
                <a:latin typeface="Microsoft YaHei"/>
                <a:ea typeface="Microsoft YaHei"/>
              </a:rPr>
              <a:t>· </a:t>
            </a:r>
            <a:r>
              <a:rPr lang="zh-CN" sz="490" b="0" u="none" strike="noStrike">
                <a:solidFill>
                  <a:srgbClr val="688A8F"/>
                </a:solidFill>
                <a:effectLst/>
                <a:uFillTx/>
                <a:latin typeface="Microsoft YaHei"/>
                <a:ea typeface="Microsoft YaHei"/>
              </a:rPr>
              <a:t>资源变更留痕</a:t>
            </a:r>
            <a:endParaRPr lang="en-US" sz="4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05-交付流程编排-外框"/>
          <p:cNvSpPr/>
          <p:nvPr/>
        </p:nvSpPr>
        <p:spPr>
          <a:xfrm>
            <a:off x="457200" y="4400640"/>
            <a:ext cx="6190920" cy="609120"/>
          </a:xfrm>
          <a:prstGeom prst="roundRect">
            <a:avLst>
              <a:gd name="adj" fmla="val 18750"/>
            </a:avLst>
          </a:prstGeom>
          <a:noFill/>
          <a:ln w="9525">
            <a:solidFill>
              <a:srgbClr val="193F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60" name="05-层标题"/>
          <p:cNvSpPr/>
          <p:nvPr/>
        </p:nvSpPr>
        <p:spPr>
          <a:xfrm>
            <a:off x="552600" y="4448160"/>
            <a:ext cx="6000480" cy="12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90" b="1" u="none" strike="noStrike">
                <a:solidFill>
                  <a:srgbClr val="234B73"/>
                </a:solidFill>
                <a:effectLst/>
                <a:uFillTx/>
                <a:latin typeface="Microsoft YaHei"/>
                <a:ea typeface="Microsoft YaHei"/>
              </a:rPr>
              <a:t>05  </a:t>
            </a:r>
            <a:r>
              <a:rPr lang="zh-CN" sz="790" b="1" u="none" strike="noStrike">
                <a:solidFill>
                  <a:srgbClr val="234B73"/>
                </a:solidFill>
                <a:effectLst/>
                <a:uFillTx/>
                <a:latin typeface="Microsoft YaHei"/>
                <a:ea typeface="Microsoft YaHei"/>
              </a:rPr>
              <a:t>跨模块智能工作流编排</a:t>
            </a:r>
            <a:endParaRPr lang="en-US" sz="7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05-Pipeline-能力"/>
          <p:cNvSpPr/>
          <p:nvPr/>
        </p:nvSpPr>
        <p:spPr>
          <a:xfrm>
            <a:off x="590400" y="4600440"/>
            <a:ext cx="5924160" cy="18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70" b="1" u="none" strike="noStrike">
                <a:solidFill>
                  <a:srgbClr val="173F6D"/>
                </a:solidFill>
                <a:effectLst/>
                <a:uFillTx/>
                <a:latin typeface="Microsoft YaHei"/>
                <a:ea typeface="Microsoft YaHei"/>
              </a:rPr>
              <a:t>Agent </a:t>
            </a:r>
            <a:r>
              <a:rPr lang="zh-CN" sz="770" b="1" u="none" strike="noStrike">
                <a:solidFill>
                  <a:srgbClr val="173F6D"/>
                </a:solidFill>
                <a:effectLst/>
                <a:uFillTx/>
                <a:latin typeface="Microsoft YaHei"/>
                <a:ea typeface="Microsoft YaHei"/>
              </a:rPr>
              <a:t>生成 </a:t>
            </a:r>
            <a:r>
              <a:rPr lang="en-US" sz="770" b="1" u="none" strike="noStrike">
                <a:solidFill>
                  <a:srgbClr val="173F6D"/>
                </a:solidFill>
                <a:effectLst/>
                <a:uFillTx/>
                <a:latin typeface="Microsoft YaHei"/>
                <a:ea typeface="Microsoft YaHei"/>
              </a:rPr>
              <a:t>/ </a:t>
            </a:r>
            <a:r>
              <a:rPr lang="zh-CN" sz="770" b="1" u="none" strike="noStrike">
                <a:solidFill>
                  <a:srgbClr val="173F6D"/>
                </a:solidFill>
                <a:effectLst/>
                <a:uFillTx/>
                <a:latin typeface="Microsoft YaHei"/>
                <a:ea typeface="Microsoft YaHei"/>
              </a:rPr>
              <a:t>优化流程　｜　</a:t>
            </a:r>
            <a:r>
              <a:rPr lang="en-US" sz="770" b="1" u="none" strike="noStrike">
                <a:solidFill>
                  <a:srgbClr val="173F6D"/>
                </a:solidFill>
                <a:effectLst/>
                <a:uFillTx/>
                <a:latin typeface="Microsoft YaHei"/>
                <a:ea typeface="Microsoft YaHei"/>
              </a:rPr>
              <a:t>Pipeline </a:t>
            </a:r>
            <a:r>
              <a:rPr lang="zh-CN" sz="770" b="1" u="none" strike="noStrike">
                <a:solidFill>
                  <a:srgbClr val="173F6D"/>
                </a:solidFill>
                <a:effectLst/>
                <a:uFillTx/>
                <a:latin typeface="Microsoft YaHei"/>
                <a:ea typeface="Microsoft YaHei"/>
              </a:rPr>
              <a:t>编排 </a:t>
            </a:r>
            <a:r>
              <a:rPr lang="en-US" sz="770" b="1" u="none" strike="noStrike">
                <a:solidFill>
                  <a:srgbClr val="173F6D"/>
                </a:solidFill>
                <a:effectLst/>
                <a:uFillTx/>
                <a:latin typeface="Microsoft YaHei"/>
                <a:ea typeface="Microsoft YaHei"/>
              </a:rPr>
              <a:t>Agent Step + </a:t>
            </a:r>
            <a:r>
              <a:rPr lang="zh-CN" sz="770" b="1" u="none" strike="noStrike">
                <a:solidFill>
                  <a:srgbClr val="173F6D"/>
                </a:solidFill>
                <a:effectLst/>
                <a:uFillTx/>
                <a:latin typeface="Microsoft YaHei"/>
                <a:ea typeface="Microsoft YaHei"/>
              </a:rPr>
              <a:t>确定性 </a:t>
            </a:r>
            <a:r>
              <a:rPr lang="en-US" sz="770" b="1" u="none" strike="noStrike">
                <a:solidFill>
                  <a:srgbClr val="173F6D"/>
                </a:solidFill>
                <a:effectLst/>
                <a:uFillTx/>
                <a:latin typeface="Microsoft YaHei"/>
                <a:ea typeface="Microsoft YaHei"/>
              </a:rPr>
              <a:t>Step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05-Pipeline-说明"/>
          <p:cNvSpPr/>
          <p:nvPr/>
        </p:nvSpPr>
        <p:spPr>
          <a:xfrm>
            <a:off x="590400" y="4809960"/>
            <a:ext cx="59241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zh-CN" sz="540" b="0" u="none" strike="noStrike">
                <a:solidFill>
                  <a:srgbClr val="708198"/>
                </a:solidFill>
                <a:effectLst/>
                <a:uFillTx/>
                <a:latin typeface="Microsoft YaHei"/>
                <a:ea typeface="Microsoft YaHei"/>
              </a:rPr>
              <a:t>跨模块 </a:t>
            </a:r>
            <a:r>
              <a:rPr lang="en-US" sz="540" b="0" u="none" strike="noStrike">
                <a:solidFill>
                  <a:srgbClr val="708198"/>
                </a:solidFill>
                <a:effectLst/>
                <a:uFillTx/>
                <a:latin typeface="Microsoft YaHei"/>
                <a:ea typeface="Microsoft YaHei"/>
              </a:rPr>
              <a:t>Stage · DAG / </a:t>
            </a:r>
            <a:r>
              <a:rPr lang="zh-CN" sz="540" b="0" u="none" strike="noStrike">
                <a:solidFill>
                  <a:srgbClr val="708198"/>
                </a:solidFill>
                <a:effectLst/>
                <a:uFillTx/>
                <a:latin typeface="Microsoft YaHei"/>
                <a:ea typeface="Microsoft YaHei"/>
              </a:rPr>
              <a:t>条件 </a:t>
            </a:r>
            <a:r>
              <a:rPr lang="en-US" sz="540" b="0" u="none" strike="noStrike">
                <a:solidFill>
                  <a:srgbClr val="708198"/>
                </a:solidFill>
                <a:effectLst/>
                <a:uFillTx/>
                <a:latin typeface="Microsoft YaHei"/>
                <a:ea typeface="Microsoft YaHei"/>
              </a:rPr>
              <a:t>/ </a:t>
            </a:r>
            <a:r>
              <a:rPr lang="zh-CN" sz="540" b="0" u="none" strike="noStrike">
                <a:solidFill>
                  <a:srgbClr val="708198"/>
                </a:solidFill>
                <a:effectLst/>
                <a:uFillTx/>
                <a:latin typeface="Microsoft YaHei"/>
                <a:ea typeface="Microsoft YaHei"/>
              </a:rPr>
              <a:t>并行 </a:t>
            </a:r>
            <a:r>
              <a:rPr lang="en-US" sz="540" b="0" u="none" strike="noStrike">
                <a:solidFill>
                  <a:srgbClr val="708198"/>
                </a:solidFill>
                <a:effectLst/>
                <a:uFillTx/>
                <a:latin typeface="Microsoft YaHei"/>
                <a:ea typeface="Microsoft YaHei"/>
              </a:rPr>
              <a:t>· Approval / OPA · Retry / Failure Strategy / Rollback</a:t>
            </a:r>
            <a:endParaRPr lang="en-US" sz="5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06-运行基础设施-外框"/>
          <p:cNvSpPr/>
          <p:nvPr/>
        </p:nvSpPr>
        <p:spPr>
          <a:xfrm>
            <a:off x="457200" y="5067360"/>
            <a:ext cx="6190920" cy="609120"/>
          </a:xfrm>
          <a:prstGeom prst="roundRect">
            <a:avLst>
              <a:gd name="adj" fmla="val 18750"/>
            </a:avLst>
          </a:prstGeom>
          <a:noFill/>
          <a:ln w="9525">
            <a:solidFill>
              <a:srgbClr val="CBD5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64" name="06-层标题"/>
          <p:cNvSpPr/>
          <p:nvPr/>
        </p:nvSpPr>
        <p:spPr>
          <a:xfrm>
            <a:off x="552600" y="5114880"/>
            <a:ext cx="6000480" cy="12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62758A"/>
                </a:solidFill>
                <a:effectLst/>
                <a:uFillTx/>
                <a:latin typeface="Microsoft YaHei"/>
                <a:ea typeface="Microsoft YaHei"/>
              </a:rPr>
              <a:t>06  </a:t>
            </a:r>
            <a:r>
              <a:rPr lang="zh-CN" sz="750" b="1" u="none" strike="noStrike">
                <a:solidFill>
                  <a:srgbClr val="62758A"/>
                </a:solidFill>
                <a:effectLst/>
                <a:uFillTx/>
                <a:latin typeface="Microsoft YaHei"/>
                <a:ea typeface="Microsoft YaHei"/>
              </a:rPr>
              <a:t>运行基础设施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06-运行位置-1"/>
          <p:cNvSpPr/>
          <p:nvPr/>
        </p:nvSpPr>
        <p:spPr>
          <a:xfrm>
            <a:off x="590400" y="5267160"/>
            <a:ext cx="59241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344D66"/>
                </a:solidFill>
                <a:effectLst/>
                <a:uFillTx/>
                <a:latin typeface="Microsoft YaHei"/>
                <a:ea typeface="Microsoft YaHei"/>
              </a:rPr>
              <a:t>Harness Cloud</a:t>
            </a:r>
            <a:r>
              <a:rPr lang="zh-CN" sz="900" b="1" u="none" strike="noStrike">
                <a:solidFill>
                  <a:srgbClr val="344D66"/>
                </a:solidFill>
                <a:effectLst/>
                <a:uFillTx/>
                <a:latin typeface="Microsoft YaHei"/>
                <a:ea typeface="Microsoft YaHei"/>
              </a:rPr>
              <a:t>　</a:t>
            </a:r>
            <a:r>
              <a:rPr lang="en-US" sz="900" b="1" u="none" strike="noStrike">
                <a:solidFill>
                  <a:srgbClr val="344D66"/>
                </a:solidFill>
                <a:effectLst/>
                <a:uFillTx/>
                <a:latin typeface="Microsoft YaHei"/>
                <a:ea typeface="Microsoft YaHei"/>
              </a:rPr>
              <a:t>·</a:t>
            </a:r>
            <a:r>
              <a:rPr lang="zh-CN" sz="900" b="1" u="none" strike="noStrike">
                <a:solidFill>
                  <a:srgbClr val="344D66"/>
                </a:solidFill>
                <a:effectLst/>
                <a:uFillTx/>
                <a:latin typeface="Microsoft YaHei"/>
                <a:ea typeface="Microsoft YaHei"/>
              </a:rPr>
              <a:t>　</a:t>
            </a:r>
            <a:r>
              <a:rPr lang="en-US" sz="900" b="1" u="none" strike="noStrike">
                <a:solidFill>
                  <a:srgbClr val="344D66"/>
                </a:solidFill>
                <a:effectLst/>
                <a:uFillTx/>
                <a:latin typeface="Microsoft YaHei"/>
                <a:ea typeface="Microsoft YaHei"/>
              </a:rPr>
              <a:t>Delegate</a:t>
            </a:r>
            <a:r>
              <a:rPr lang="zh-CN" sz="900" b="1" u="none" strike="noStrike">
                <a:solidFill>
                  <a:srgbClr val="344D66"/>
                </a:solidFill>
                <a:effectLst/>
                <a:uFillTx/>
                <a:latin typeface="Microsoft YaHei"/>
                <a:ea typeface="Microsoft YaHei"/>
              </a:rPr>
              <a:t>　</a:t>
            </a:r>
            <a:r>
              <a:rPr lang="en-US" sz="900" b="1" u="none" strike="noStrike">
                <a:solidFill>
                  <a:srgbClr val="344D66"/>
                </a:solidFill>
                <a:effectLst/>
                <a:uFillTx/>
                <a:latin typeface="Microsoft YaHei"/>
                <a:ea typeface="Microsoft YaHei"/>
              </a:rPr>
              <a:t>·</a:t>
            </a:r>
            <a:r>
              <a:rPr lang="zh-CN" sz="900" b="1" u="none" strike="noStrike">
                <a:solidFill>
                  <a:srgbClr val="344D66"/>
                </a:solidFill>
                <a:effectLst/>
                <a:uFillTx/>
                <a:latin typeface="Microsoft YaHei"/>
                <a:ea typeface="Microsoft YaHei"/>
              </a:rPr>
              <a:t>　客户 </a:t>
            </a:r>
            <a:r>
              <a:rPr lang="en-US" sz="900" b="1" u="none" strike="noStrike">
                <a:solidFill>
                  <a:srgbClr val="344D66"/>
                </a:solidFill>
                <a:effectLst/>
                <a:uFillTx/>
                <a:latin typeface="Microsoft YaHei"/>
                <a:ea typeface="Microsoft YaHei"/>
              </a:rPr>
              <a:t>Kubernetes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06-运行治理与遥测"/>
          <p:cNvSpPr/>
          <p:nvPr/>
        </p:nvSpPr>
        <p:spPr>
          <a:xfrm>
            <a:off x="590400" y="5486400"/>
            <a:ext cx="59241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10" b="0" u="none" strike="noStrike">
                <a:solidFill>
                  <a:srgbClr val="7C8D9E"/>
                </a:solidFill>
                <a:effectLst/>
                <a:uFillTx/>
                <a:latin typeface="Microsoft YaHei"/>
                <a:ea typeface="Microsoft YaHei"/>
              </a:rPr>
              <a:t>Secret Resolution · Container / Delegate Log · </a:t>
            </a:r>
            <a:r>
              <a:rPr lang="zh-CN" sz="510" b="0" u="none" strike="noStrike">
                <a:solidFill>
                  <a:srgbClr val="7C8D9E"/>
                </a:solidFill>
                <a:effectLst/>
                <a:uFillTx/>
                <a:latin typeface="Microsoft YaHei"/>
                <a:ea typeface="Microsoft YaHei"/>
              </a:rPr>
              <a:t>网络与基础设施遥测</a:t>
            </a:r>
            <a:endParaRPr lang="en-US" sz="5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 pitchFamily="0" charset="1"/>
        <a:ea typeface="Calibri Light" pitchFamily="0" charset="1"/>
        <a:cs typeface="Calibri Light" pitchFamily="0" charset="1"/>
      </a:majorFont>
      <a:minorFont>
        <a:latin typeface="Calibri" pitchFamily="0" charset="1"/>
        <a:ea typeface="Calibri" pitchFamily="0" charset="1"/>
        <a:cs typeface="Calibri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LibreOfficeDev/26.8.0.0.alpha0$MacOSX_AARCH64 LibreOffice_project/2c87e51eeaa2b413ff4ae097b2705eea1995d8e5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2026-07-24T08:22:28Z</dcterms:created>
  <dc:creator>Walnut Exporter</dc:creator>
  <dc:description/>
  <dc:language>zh-CN</dc:language>
  <cp:lastModifiedBy>Walnut Exporter</cp:lastModifiedBy>
  <dcterms:modified xsi:type="dcterms:W3CDTF">2026-07-24T08:22:28Z</dcterms:modified>
  <cp:revision>0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