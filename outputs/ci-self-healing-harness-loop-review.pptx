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78C2D23-9F57-423B-A3A9-894681A789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Harness AutoFix overview: https://developer.harness.io/docs/code-repository/pull-requests/ai-agents/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Harness Code Quality Agents: https://developer.harness.io/3k-docs/platform/getting-started/agents/code-quality/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Harness Worker Agents: https://www.harness.io/products/platform/worker-agents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GitLab Fix Pipeline: https://docs.gitlab.com/user/duo_agent_platform/flows/foundational_flows/fix_pipeline/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Chunk overview: https://circleci.com/docs/guides/toolkit/chunk-setup-and-overview/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pipeline validation: https://circleci.com/changelog/chunk-now-validates-changes-by-running-your-ci-pipeline/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CircleCI protected-branch PR behavior: https://circleci.com/changelog/chunk-now-auto-creates-prs-on-protected-branches/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Nx Self-Healing CI: https://nx.dev/docs/features/ci-features/self-healing-ci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GitHub CI Doctor: https://github.github.com/gh-aw/blog/2026-01-13-meet-the-workflows-quality-hygiene/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GitHub CI triggering and Safe Outputs: https://github.github.com/gh-aw/reference/triggering-ci/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[Boundary]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The upper flow is an industry routing gateway plus the representative Harness AutoFix implementation, not an industry standard.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Harness public materials do not expose a complete multi-class failure classifier; stage 2 is an analytical routing gateway, not a claimed Harness module.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Scope is CI build/test and PR repair. It does not imply autonomous merge, deployment, or production recovery.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 Product states and public documentation were checked as of 2026-07-25.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533160"/>
            <a:ext cx="1097208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3364920"/>
            <a:ext cx="109720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/>
          <p:cNvSpPr/>
          <p:nvPr/>
        </p:nvSpPr>
        <p:spPr>
          <a:xfrm>
            <a:off x="533520" y="304920"/>
            <a:ext cx="1112436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zh-CN" sz="21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可信 </a:t>
            </a:r>
            <a:r>
              <a:rPr lang="en-US" sz="21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CI </a:t>
            </a:r>
            <a:r>
              <a:rPr lang="zh-CN" sz="21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自愈不是一次 </a:t>
            </a:r>
            <a:r>
              <a:rPr lang="en-US" sz="21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21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调用，而是 </a:t>
            </a:r>
            <a:r>
              <a:rPr lang="en-US" sz="21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Pipeline </a:t>
            </a:r>
            <a:r>
              <a:rPr lang="zh-CN" sz="217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内的有界修复循环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rule-56-99"/>
          <p:cNvSpPr/>
          <p:nvPr/>
        </p:nvSpPr>
        <p:spPr>
          <a:xfrm>
            <a:off x="533160" y="942840"/>
            <a:ext cx="11125440" cy="360"/>
          </a:xfrm>
          <a:prstGeom prst="line">
            <a:avLst/>
          </a:prstGeom>
          <a:ln w="28575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flow-label"/>
          <p:cNvSpPr/>
          <p:nvPr/>
        </p:nvSpPr>
        <p:spPr>
          <a:xfrm>
            <a:off x="533520" y="1066680"/>
            <a:ext cx="1809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050" b="1" u="none" strike="noStrike">
                <a:solidFill>
                  <a:srgbClr val="156082"/>
                </a:solidFill>
                <a:effectLst/>
                <a:uFillTx/>
                <a:latin typeface="Microsoft YaHei"/>
                <a:ea typeface="Microsoft YaHei"/>
              </a:rPr>
              <a:t>路由网关＋</a:t>
            </a:r>
            <a:r>
              <a:rPr lang="en-US" sz="1050" b="1" u="none" strike="noStrike">
                <a:solidFill>
                  <a:srgbClr val="156082"/>
                </a:solidFill>
                <a:effectLst/>
                <a:uFillTx/>
                <a:latin typeface="Microsoft YaHei"/>
                <a:ea typeface="Microsoft YaHei"/>
              </a:rPr>
              <a:t>Harness AutoFix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tage-box-1"/>
          <p:cNvSpPr/>
          <p:nvPr/>
        </p:nvSpPr>
        <p:spPr>
          <a:xfrm>
            <a:off x="533520" y="1362240"/>
            <a:ext cx="1758240" cy="1028160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9525">
            <a:solidFill>
              <a:srgbClr val="9CB7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stage-box-2"/>
          <p:cNvSpPr/>
          <p:nvPr/>
        </p:nvSpPr>
        <p:spPr>
          <a:xfrm>
            <a:off x="2406600" y="1362240"/>
            <a:ext cx="1758240" cy="1028160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9525">
            <a:solidFill>
              <a:srgbClr val="9CB7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stage-box-3"/>
          <p:cNvSpPr/>
          <p:nvPr/>
        </p:nvSpPr>
        <p:spPr>
          <a:xfrm>
            <a:off x="4280040" y="1362240"/>
            <a:ext cx="1758240" cy="1028160"/>
          </a:xfrm>
          <a:prstGeom prst="roundRect">
            <a:avLst>
              <a:gd name="adj" fmla="val 11111"/>
            </a:avLst>
          </a:prstGeom>
          <a:solidFill>
            <a:srgbClr val="DDEBF7"/>
          </a:solidFill>
          <a:ln w="13335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stage-box-4"/>
          <p:cNvSpPr/>
          <p:nvPr/>
        </p:nvSpPr>
        <p:spPr>
          <a:xfrm>
            <a:off x="6153120" y="1362240"/>
            <a:ext cx="1758240" cy="1028160"/>
          </a:xfrm>
          <a:prstGeom prst="roundRect">
            <a:avLst>
              <a:gd name="adj" fmla="val 11111"/>
            </a:avLst>
          </a:prstGeom>
          <a:solidFill>
            <a:srgbClr val="DDEBF7"/>
          </a:solidFill>
          <a:ln w="13335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stage-box-5"/>
          <p:cNvSpPr/>
          <p:nvPr/>
        </p:nvSpPr>
        <p:spPr>
          <a:xfrm>
            <a:off x="8026560" y="1362240"/>
            <a:ext cx="1758240" cy="1028160"/>
          </a:xfrm>
          <a:prstGeom prst="roundRect">
            <a:avLst>
              <a:gd name="adj" fmla="val 11111"/>
            </a:avLst>
          </a:prstGeom>
          <a:solidFill>
            <a:srgbClr val="DDEBF7"/>
          </a:solidFill>
          <a:ln w="13335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stage-box-6"/>
          <p:cNvSpPr/>
          <p:nvPr/>
        </p:nvSpPr>
        <p:spPr>
          <a:xfrm>
            <a:off x="9899640" y="1362240"/>
            <a:ext cx="1758240" cy="1028160"/>
          </a:xfrm>
          <a:prstGeom prst="roundRect">
            <a:avLst>
              <a:gd name="adj" fmla="val 11111"/>
            </a:avLst>
          </a:prstGeom>
          <a:solidFill>
            <a:srgbClr val="DDEBF7"/>
          </a:solidFill>
          <a:ln w="13335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0" name=""/>
          <p:cNvCxnSpPr>
            <a:stCxn id="14" idx="3"/>
            <a:endCxn id="15" idx="1"/>
          </p:cNvCxnSpPr>
          <p:nvPr/>
        </p:nvCxnSpPr>
        <p:spPr>
          <a:xfrm>
            <a:off x="2291760" y="1876320"/>
            <a:ext cx="11520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cxnSp>
        <p:nvCxnSpPr>
          <p:cNvPr id="21" name=""/>
          <p:cNvCxnSpPr>
            <a:stCxn id="15" idx="3"/>
            <a:endCxn id="16" idx="1"/>
          </p:cNvCxnSpPr>
          <p:nvPr/>
        </p:nvCxnSpPr>
        <p:spPr>
          <a:xfrm>
            <a:off x="4164840" y="1876320"/>
            <a:ext cx="11556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cxnSp>
        <p:nvCxnSpPr>
          <p:cNvPr id="22" name=""/>
          <p:cNvCxnSpPr>
            <a:stCxn id="16" idx="3"/>
            <a:endCxn id="17" idx="1"/>
          </p:cNvCxnSpPr>
          <p:nvPr/>
        </p:nvCxnSpPr>
        <p:spPr>
          <a:xfrm>
            <a:off x="6038280" y="1876320"/>
            <a:ext cx="11520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cxnSp>
        <p:nvCxnSpPr>
          <p:cNvPr id="23" name=""/>
          <p:cNvCxnSpPr>
            <a:stCxn id="17" idx="3"/>
            <a:endCxn id="18" idx="1"/>
          </p:cNvCxnSpPr>
          <p:nvPr/>
        </p:nvCxnSpPr>
        <p:spPr>
          <a:xfrm>
            <a:off x="7911360" y="1876320"/>
            <a:ext cx="11556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cxnSp>
        <p:nvCxnSpPr>
          <p:cNvPr id="24" name=""/>
          <p:cNvCxnSpPr>
            <a:stCxn id="18" idx="3"/>
            <a:endCxn id="19" idx="1"/>
          </p:cNvCxnSpPr>
          <p:nvPr/>
        </p:nvCxnSpPr>
        <p:spPr>
          <a:xfrm>
            <a:off x="9784800" y="1876320"/>
            <a:ext cx="11520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sp>
        <p:nvSpPr>
          <p:cNvPr id="25" name="stage-number-1"/>
          <p:cNvSpPr/>
          <p:nvPr/>
        </p:nvSpPr>
        <p:spPr>
          <a:xfrm>
            <a:off x="628560" y="1447920"/>
            <a:ext cx="3042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820" b="1" u="none" strike="noStrike">
                <a:solidFill>
                  <a:srgbClr val="5B7083"/>
                </a:solidFill>
                <a:effectLst/>
                <a:uFillTx/>
                <a:latin typeface="Microsoft YaHei"/>
                <a:ea typeface="Microsoft YaHei"/>
              </a:rPr>
              <a:t>01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tage-title-1"/>
          <p:cNvSpPr/>
          <p:nvPr/>
        </p:nvSpPr>
        <p:spPr>
          <a:xfrm>
            <a:off x="704880" y="1438200"/>
            <a:ext cx="14151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失败事件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与证据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tage-detail-1"/>
          <p:cNvSpPr/>
          <p:nvPr/>
        </p:nvSpPr>
        <p:spPr>
          <a:xfrm>
            <a:off x="647640" y="1924200"/>
            <a:ext cx="15296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Run · SHA · Log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Diff · Execution ID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tage-number-2"/>
          <p:cNvSpPr/>
          <p:nvPr/>
        </p:nvSpPr>
        <p:spPr>
          <a:xfrm>
            <a:off x="2502000" y="1447920"/>
            <a:ext cx="3042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820" b="1" u="none" strike="noStrike">
                <a:solidFill>
                  <a:srgbClr val="5B7083"/>
                </a:solidFill>
                <a:effectLst/>
                <a:uFillTx/>
                <a:latin typeface="Microsoft YaHei"/>
                <a:ea typeface="Microsoft YaHei"/>
              </a:rPr>
              <a:t>02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tage-title-2"/>
          <p:cNvSpPr/>
          <p:nvPr/>
        </p:nvSpPr>
        <p:spPr>
          <a:xfrm>
            <a:off x="2577960" y="1438200"/>
            <a:ext cx="14151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问题分类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与路由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tage-detail-2"/>
          <p:cNvSpPr/>
          <p:nvPr/>
        </p:nvSpPr>
        <p:spPr>
          <a:xfrm>
            <a:off x="2521080" y="1924200"/>
            <a:ext cx="15296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70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瞬态 </a:t>
            </a:r>
            <a:r>
              <a:rPr lang="en-US" sz="70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/ Infra / Flaky → </a:t>
            </a:r>
            <a:r>
              <a:rPr lang="zh-CN" sz="70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重跑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70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Code / Test / Config → AutoFix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70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Unknown → </a:t>
            </a:r>
            <a:r>
              <a:rPr lang="zh-CN" sz="70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人工接管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tage-number-3"/>
          <p:cNvSpPr/>
          <p:nvPr/>
        </p:nvSpPr>
        <p:spPr>
          <a:xfrm>
            <a:off x="4375080" y="1447920"/>
            <a:ext cx="3042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820" b="1" u="none" strike="noStrike">
                <a:solidFill>
                  <a:srgbClr val="156082"/>
                </a:solidFill>
                <a:effectLst/>
                <a:uFillTx/>
                <a:latin typeface="Microsoft YaHei"/>
                <a:ea typeface="Microsoft YaHei"/>
              </a:rPr>
              <a:t>03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tage-title-3"/>
          <p:cNvSpPr/>
          <p:nvPr/>
        </p:nvSpPr>
        <p:spPr>
          <a:xfrm>
            <a:off x="4451400" y="1438200"/>
            <a:ext cx="14151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根因诊断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与定位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tage-detail-3"/>
          <p:cNvSpPr/>
          <p:nvPr/>
        </p:nvSpPr>
        <p:spPr>
          <a:xfrm>
            <a:off x="4394160" y="1924200"/>
            <a:ext cx="15296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Remediation Agent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Log · Repo Change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tage-number-4"/>
          <p:cNvSpPr/>
          <p:nvPr/>
        </p:nvSpPr>
        <p:spPr>
          <a:xfrm>
            <a:off x="6248520" y="1447920"/>
            <a:ext cx="3042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820" b="1" u="none" strike="noStrike">
                <a:solidFill>
                  <a:srgbClr val="156082"/>
                </a:solidFill>
                <a:effectLst/>
                <a:uFillTx/>
                <a:latin typeface="Microsoft YaHei"/>
                <a:ea typeface="Microsoft YaHei"/>
              </a:rPr>
              <a:t>04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tage-title-4"/>
          <p:cNvSpPr/>
          <p:nvPr/>
        </p:nvSpPr>
        <p:spPr>
          <a:xfrm>
            <a:off x="6324480" y="1438200"/>
            <a:ext cx="14151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候选修复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生成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tage-detail-4"/>
          <p:cNvSpPr/>
          <p:nvPr/>
        </p:nvSpPr>
        <p:spPr>
          <a:xfrm>
            <a:off x="6267600" y="1924200"/>
            <a:ext cx="15296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Coding Agent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≤ 50 Iterations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tage-number-5"/>
          <p:cNvSpPr/>
          <p:nvPr/>
        </p:nvSpPr>
        <p:spPr>
          <a:xfrm>
            <a:off x="8121600" y="1447920"/>
            <a:ext cx="3042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820" b="1" u="none" strike="noStrike">
                <a:solidFill>
                  <a:srgbClr val="156082"/>
                </a:solidFill>
                <a:effectLst/>
                <a:uFillTx/>
                <a:latin typeface="Microsoft YaHei"/>
                <a:ea typeface="Microsoft YaHei"/>
              </a:rPr>
              <a:t>05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tage-title-5"/>
          <p:cNvSpPr/>
          <p:nvPr/>
        </p:nvSpPr>
        <p:spPr>
          <a:xfrm>
            <a:off x="8197920" y="1438200"/>
            <a:ext cx="14151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构建与测试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验证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tage-detail-5"/>
          <p:cNvSpPr/>
          <p:nvPr/>
        </p:nvSpPr>
        <p:spPr>
          <a:xfrm>
            <a:off x="8140680" y="1924200"/>
            <a:ext cx="15296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生成并验证 </a:t>
            </a: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Fix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失败未超限 ↺ </a:t>
            </a: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Coding Agent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tage-number-6"/>
          <p:cNvSpPr/>
          <p:nvPr/>
        </p:nvSpPr>
        <p:spPr>
          <a:xfrm>
            <a:off x="9995040" y="1447920"/>
            <a:ext cx="30420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820" b="1" u="none" strike="noStrike">
                <a:solidFill>
                  <a:srgbClr val="156082"/>
                </a:solidFill>
                <a:effectLst/>
                <a:uFillTx/>
                <a:latin typeface="Microsoft YaHei"/>
                <a:ea typeface="Microsoft YaHei"/>
              </a:rPr>
              <a:t>06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tage-title-6"/>
          <p:cNvSpPr/>
          <p:nvPr/>
        </p:nvSpPr>
        <p:spPr>
          <a:xfrm>
            <a:off x="10071000" y="1438200"/>
            <a:ext cx="14151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有界写回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与再触发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tage-detail-6"/>
          <p:cNvSpPr/>
          <p:nvPr/>
        </p:nvSpPr>
        <p:spPr>
          <a:xfrm>
            <a:off x="10014120" y="1924200"/>
            <a:ext cx="15296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ai-autofix Branch · PR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780" b="0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CI Re-trigger · Audit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mapping-label"/>
          <p:cNvSpPr/>
          <p:nvPr/>
        </p:nvSpPr>
        <p:spPr>
          <a:xfrm>
            <a:off x="533520" y="2562120"/>
            <a:ext cx="3428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28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逐阶段对照：主流产品如何增强自愈闭环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tatus-legend"/>
          <p:cNvSpPr/>
          <p:nvPr/>
        </p:nvSpPr>
        <p:spPr>
          <a:xfrm>
            <a:off x="5238720" y="2590920"/>
            <a:ext cx="641916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en-US" sz="770" b="1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Harness </a:t>
            </a:r>
            <a:r>
              <a:rPr lang="zh-CN" sz="770" b="1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控制轨｜</a:t>
            </a:r>
            <a:r>
              <a:rPr lang="en-US" sz="770" b="1" u="none" strike="noStrike">
                <a:solidFill>
                  <a:srgbClr val="486581"/>
                </a:solidFill>
                <a:effectLst/>
                <a:uFillTx/>
                <a:latin typeface="Microsoft YaHei"/>
                <a:ea typeface="Microsoft YaHei"/>
              </a:rPr>
              <a:t>Sandbox · Scoped Token · RBAC · OPA · Approval · Audit · Max Turns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ule-56-302"/>
          <p:cNvSpPr/>
          <p:nvPr/>
        </p:nvSpPr>
        <p:spPr>
          <a:xfrm>
            <a:off x="533160" y="2876400"/>
            <a:ext cx="1758960" cy="360"/>
          </a:xfrm>
          <a:prstGeom prst="line">
            <a:avLst/>
          </a:prstGeom>
          <a:ln w="28575">
            <a:solidFill>
              <a:srgbClr val="6070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product-map-1"/>
          <p:cNvSpPr/>
          <p:nvPr/>
        </p:nvSpPr>
        <p:spPr>
          <a:xfrm>
            <a:off x="533520" y="2943360"/>
            <a:ext cx="175824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GitLab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Log + MR Diff + Repo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GitHub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｜失败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Log +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相似历史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Project Graph + Task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元数据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vrule-246.66666666666666-307"/>
          <p:cNvSpPr/>
          <p:nvPr/>
        </p:nvSpPr>
        <p:spPr>
          <a:xfrm>
            <a:off x="234936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rule-252.66666666666666-302"/>
          <p:cNvSpPr/>
          <p:nvPr/>
        </p:nvSpPr>
        <p:spPr>
          <a:xfrm>
            <a:off x="2406600" y="2876400"/>
            <a:ext cx="1758960" cy="360"/>
          </a:xfrm>
          <a:prstGeom prst="line">
            <a:avLst/>
          </a:prstGeom>
          <a:ln w="28575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product-map-2"/>
          <p:cNvSpPr/>
          <p:nvPr/>
        </p:nvSpPr>
        <p:spPr>
          <a:xfrm>
            <a:off x="2406600" y="2943360"/>
            <a:ext cx="175824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CircleCI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Transient / Infra → Rerun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Flaky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重跑 ≠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Code Fix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GitLab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｜证据不足则停止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vrule-443.3333333333333-307"/>
          <p:cNvSpPr/>
          <p:nvPr/>
        </p:nvSpPr>
        <p:spPr>
          <a:xfrm>
            <a:off x="422244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rule-449.3333333333333-302"/>
          <p:cNvSpPr/>
          <p:nvPr/>
        </p:nvSpPr>
        <p:spPr>
          <a:xfrm>
            <a:off x="4279680" y="2876400"/>
            <a:ext cx="1758960" cy="360"/>
          </a:xfrm>
          <a:prstGeom prst="line">
            <a:avLst/>
          </a:prstGeom>
          <a:ln w="28575">
            <a:solidFill>
              <a:srgbClr val="D96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product-map-3"/>
          <p:cNvSpPr/>
          <p:nvPr/>
        </p:nvSpPr>
        <p:spPr>
          <a:xfrm>
            <a:off x="4280040" y="2943360"/>
            <a:ext cx="175824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GitLab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Syntax / Lint / Import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GitHub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｜历史模式辅助定位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Harness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Remediation Agent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vrule-640-307"/>
          <p:cNvSpPr/>
          <p:nvPr/>
        </p:nvSpPr>
        <p:spPr>
          <a:xfrm>
            <a:off x="609588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rule-646-302"/>
          <p:cNvSpPr/>
          <p:nvPr/>
        </p:nvSpPr>
        <p:spPr>
          <a:xfrm>
            <a:off x="6153120" y="2876400"/>
            <a:ext cx="1758960" cy="360"/>
          </a:xfrm>
          <a:prstGeom prst="line">
            <a:avLst/>
          </a:prstGeom>
          <a:ln w="28575">
            <a:solidFill>
              <a:srgbClr val="1C7C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product-map-4"/>
          <p:cNvSpPr/>
          <p:nvPr/>
        </p:nvSpPr>
        <p:spPr>
          <a:xfrm>
            <a:off x="6153120" y="2943360"/>
            <a:ext cx="175824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GitLab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Suggestion /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新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MR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CircleCI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｜目标修复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+ Draft PR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Task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级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Fix Suggestion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vrule-836.6666666666666-307"/>
          <p:cNvSpPr/>
          <p:nvPr/>
        </p:nvSpPr>
        <p:spPr>
          <a:xfrm>
            <a:off x="796896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rule-842.6666666666666-302"/>
          <p:cNvSpPr/>
          <p:nvPr/>
        </p:nvSpPr>
        <p:spPr>
          <a:xfrm>
            <a:off x="8026200" y="2876400"/>
            <a:ext cx="1758960" cy="360"/>
          </a:xfrm>
          <a:prstGeom prst="line">
            <a:avLst/>
          </a:prstGeom>
          <a:ln w="28575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product-map-5"/>
          <p:cNvSpPr/>
          <p:nvPr/>
        </p:nvSpPr>
        <p:spPr>
          <a:xfrm>
            <a:off x="8026560" y="2943360"/>
            <a:ext cx="175824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｜原失败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Task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显式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Verified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CircleCI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｜真实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Pipeline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验证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Harness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Build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验证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/ Max Turns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vrule-1033.3333333333333-307"/>
          <p:cNvSpPr/>
          <p:nvPr/>
        </p:nvSpPr>
        <p:spPr>
          <a:xfrm>
            <a:off x="984240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rule-1039.3333333333333-302"/>
          <p:cNvSpPr/>
          <p:nvPr/>
        </p:nvSpPr>
        <p:spPr>
          <a:xfrm>
            <a:off x="9899640" y="2876400"/>
            <a:ext cx="1758960" cy="360"/>
          </a:xfrm>
          <a:prstGeom prst="line">
            <a:avLst/>
          </a:prstGeom>
          <a:ln w="28575">
            <a:solidFill>
              <a:srgbClr val="6070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" name="product-map-6"/>
          <p:cNvSpPr/>
          <p:nvPr/>
        </p:nvSpPr>
        <p:spPr>
          <a:xfrm>
            <a:off x="9899640" y="2943360"/>
            <a:ext cx="175824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Pattern + Protected Branch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GitHub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Safe Outputs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分权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CircleCI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｜验证决定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PR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保留 </a:t>
            </a:r>
            <a:r>
              <a:rPr lang="en-US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839" b="1" u="none" strike="noStrike">
                <a:solidFill>
                  <a:srgbClr val="243B53"/>
                </a:solidFill>
                <a:effectLst/>
                <a:uFillTx/>
                <a:latin typeface="Microsoft YaHei"/>
                <a:ea typeface="Microsoft YaHei"/>
              </a:rPr>
              <a:t>关闭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insight-band"/>
          <p:cNvSpPr/>
          <p:nvPr/>
        </p:nvSpPr>
        <p:spPr>
          <a:xfrm>
            <a:off x="533520" y="4943520"/>
            <a:ext cx="11124360" cy="1256760"/>
          </a:xfrm>
          <a:prstGeom prst="roundRect">
            <a:avLst>
              <a:gd name="adj" fmla="val 7576"/>
            </a:avLst>
          </a:prstGeom>
          <a:solidFill>
            <a:srgbClr val="EAF0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vrule-70-534"/>
          <p:cNvSpPr/>
          <p:nvPr/>
        </p:nvSpPr>
        <p:spPr>
          <a:xfrm>
            <a:off x="666720" y="5086080"/>
            <a:ext cx="360" cy="962280"/>
          </a:xfrm>
          <a:prstGeom prst="line">
            <a:avLst/>
          </a:prstGeom>
          <a:ln w="38100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4" name="insight-label"/>
          <p:cNvSpPr/>
          <p:nvPr/>
        </p:nvSpPr>
        <p:spPr>
          <a:xfrm>
            <a:off x="819000" y="5057640"/>
            <a:ext cx="110412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50" b="1" u="none" strike="noStrike">
                <a:solidFill>
                  <a:srgbClr val="2558D9"/>
                </a:solidFill>
                <a:effectLst/>
                <a:uFillTx/>
                <a:latin typeface="Microsoft YaHei"/>
                <a:ea typeface="Microsoft YaHei"/>
              </a:rPr>
              <a:t>三条启示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bottom-insights"/>
          <p:cNvSpPr/>
          <p:nvPr/>
        </p:nvSpPr>
        <p:spPr>
          <a:xfrm>
            <a:off x="1971720" y="5029200"/>
            <a:ext cx="94672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6"/>
              </a:spcAft>
            </a:pPr>
            <a:r>
              <a:rPr lang="en-US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① CI </a:t>
            </a:r>
            <a:r>
              <a:rPr lang="zh-CN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自愈的分水岭，是独立复验后的有界写回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"/>
              </a:spcAft>
            </a:pPr>
            <a:r>
              <a:rPr lang="en-US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② 失败分类比修复 </a:t>
            </a:r>
            <a:r>
              <a:rPr lang="en-US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更决定自愈质量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③ CI </a:t>
            </a:r>
            <a:r>
              <a:rPr lang="zh-CN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自愈的竞争优势来自“上下文 </a:t>
            </a:r>
            <a:r>
              <a:rPr lang="en-US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× </a:t>
            </a:r>
            <a:r>
              <a:rPr lang="zh-CN" sz="1140" b="1" u="none" strike="noStrike">
                <a:solidFill>
                  <a:srgbClr val="102A43"/>
                </a:solidFill>
                <a:effectLst/>
                <a:uFillTx/>
                <a:latin typeface="Microsoft YaHei"/>
                <a:ea typeface="Microsoft YaHei"/>
              </a:rPr>
              <a:t>控制面”，而非单一模型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ource-footer"/>
          <p:cNvSpPr/>
          <p:nvPr/>
        </p:nvSpPr>
        <p:spPr>
          <a:xfrm>
            <a:off x="533520" y="6438960"/>
            <a:ext cx="111243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zh-CN" sz="69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资料截至 </a:t>
            </a:r>
            <a:r>
              <a:rPr lang="en-US" sz="69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2026-07-25 · </a:t>
            </a:r>
            <a:r>
              <a:rPr lang="zh-CN" sz="69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上方为行业路由网关＋</a:t>
            </a:r>
            <a:r>
              <a:rPr lang="en-US" sz="69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Harness AutoFix </a:t>
            </a:r>
            <a:r>
              <a:rPr lang="zh-CN" sz="69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代表实现 </a:t>
            </a:r>
            <a:r>
              <a:rPr lang="en-US" sz="69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690" b="0" u="none" strike="noStrike">
                <a:solidFill>
                  <a:srgbClr val="627D98"/>
                </a:solidFill>
                <a:effectLst/>
                <a:uFillTx/>
                <a:latin typeface="Microsoft YaHei"/>
                <a:ea typeface="Microsoft YaHei"/>
              </a:rPr>
              <a:t>非行业统一标准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2026-07-25T07:44:19Z</dcterms:created>
  <dc:creator>Walnut Exporter</dc:creator>
  <dc:description/>
  <dc:language>zh-CN</dc:language>
  <cp:lastModifiedBy>Walnut Exporter</cp:lastModifiedBy>
  <dcterms:modified xsi:type="dcterms:W3CDTF">2026-07-25T07:44:19Z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