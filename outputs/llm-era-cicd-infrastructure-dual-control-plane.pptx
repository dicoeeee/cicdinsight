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c19a4002004771" /><Relationship Type="http://schemas.openxmlformats.org/officeDocument/2006/relationships/extended-properties" Target="/docProps/app.xml" Id="R961e692d11a745c0" /><Relationship Type="http://schemas.openxmlformats.org/officeDocument/2006/relationships/officeDocument" Target="/ppt/presentation.xml" Id="Rf41f7196e0974a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2691e0e4344a73"/>
  </p:sldMasterIdLst>
  <p:notesMasterIdLst>
    <p:notesMasterId xmlns:r="http://schemas.openxmlformats.org/officeDocument/2006/relationships" r:id="Ra54ad6be904c47d1"/>
  </p:notesMasterIdLst>
  <p:sldIdLst>
    <p:sldId xmlns:r="http://schemas.openxmlformats.org/officeDocument/2006/relationships" id="256" r:id="Re673869f9cbf425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f47a6026594b7f" /><Relationship Type="http://schemas.openxmlformats.org/officeDocument/2006/relationships/slideMaster" Target="/ppt/slideMasters/slideMaster1.xml" Id="Rc92691e0e4344a73" /><Relationship Type="http://schemas.openxmlformats.org/officeDocument/2006/relationships/notesMaster" Target="/ppt/notesMasters/notesMaster1.xml" Id="Ra54ad6be904c47d1" /><Relationship Type="http://schemas.openxmlformats.org/officeDocument/2006/relationships/presProps" Target="/ppt/presProps.xml" Id="Rb8fb4de4d59a4c77" /><Relationship Type="http://schemas.openxmlformats.org/officeDocument/2006/relationships/tableStyles" Target="/ppt/tableStyles.xml" Id="R277af78ce0e741eb" /><Relationship Type="http://schemas.openxmlformats.org/officeDocument/2006/relationships/slide" Target="/ppt/slides/slide1.xml" Id="Re673869f9cbf42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1ef9d3b49441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330f41b09f4066" /><Relationship Type="http://schemas.openxmlformats.org/officeDocument/2006/relationships/notesMaster" Target="/ppt/notesMasters/notesMaster1.xml" Id="R6998d626fa0b49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DORA 2025 Report: https://dora.dev/research/2025/dora-report/</a:t>
            </a:r>
          </a:p>
          <a:p xmlns:a="http://schemas.openxmlformats.org/drawingml/2006/main">
            <a:r>
              <a:t>- GitHub Copilot coding agent GA: https://github.blog/changelog/2025-09-25-copilot-coding-agent-is-now-generally-available/</a:t>
            </a:r>
          </a:p>
          <a:p xmlns:a="http://schemas.openxmlformats.org/drawingml/2006/main">
            <a:r>
              <a:t>- GitLab Duo Agent Platform: https://docs.gitlab.com/user/duo_agent_platform/</a:t>
            </a:r>
          </a:p>
          <a:p xmlns:a="http://schemas.openxmlformats.org/drawingml/2006/main">
            <a:r>
              <a:t>- CircleCI agentic validation infrastructure: https://circleci.com/blog/agentic-validation-needs-different-infrastructure/</a:t>
            </a:r>
          </a:p>
          <a:p xmlns:a="http://schemas.openxmlformats.org/drawingml/2006/main">
            <a:r>
              <a:t>- Nx distributed task execution: https://nx.dev/docs/features/ci-features/distribute-task-execution</a:t>
            </a:r>
          </a:p>
          <a:p xmlns:a="http://schemas.openxmlformats.org/drawingml/2006/main">
            <a:r>
              <a:t>- Bazel remote execution and caching: https://bazel.build/remote/rbe ; https://bazel.build/remote/caching</a:t>
            </a:r>
          </a:p>
          <a:p xmlns:a="http://schemas.openxmlformats.org/drawingml/2006/main">
            <a:r>
              <a:t>- Cloudsmith MCP: https://cloudsmith.com/changelog/manage-your-supply-chain-using-natural-language-with-mcp</a:t>
            </a:r>
          </a:p>
          <a:p xmlns:a="http://schemas.openxmlformats.org/drawingml/2006/main">
            <a:r>
              <a:t>- JFrog Skills and MCP: https://jfrog.com/blog/ai-agents-jfrog-skills-mcp-tools/</a:t>
            </a:r>
          </a:p>
          <a:p xmlns:a="http://schemas.openxmlformats.org/drawingml/2006/main">
            <a:r>
              <a:t>- GitHub Artifact Attestations: https://docs.github.com/en/actions/concepts/security/artifact-attestations</a:t>
            </a:r>
          </a:p>
          <a:p xmlns:a="http://schemas.openxmlformats.org/drawingml/2006/main">
            <a:r>
              <a:t>- SLSA v1.2: https://slsa.dev/spec/v1.2/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boundary:</a:t>
            </a:r>
          </a:p>
          <a:p xmlns:a="http://schemas.openxmlformats.org/drawingml/2006/main">
            <a:r>
              <a:t>- The two-layer control model is an evidence-backed architecture inference, not a product-state claim.</a:t>
            </a:r>
          </a:p>
          <a:p xmlns:a="http://schemas.openxmlformats.org/drawingml/2006/main">
            <a:r>
              <a:t>- Product maturity remains mixed across GA, Preview, Beta, and Open Beta.</a:t>
            </a:r>
          </a:p>
          <a:p xmlns:a="http://schemas.openxmlformats.org/drawingml/2006/main">
            <a:r>
              <a:t>- Graph, cache, remote execution, reproducibility, provenance, and policy are mostly pre-existing capabilities whose importance increases under agent workloads.</a:t>
            </a:r>
          </a:p>
          <a:p xmlns:a="http://schemas.openxmlformats.org/drawingml/2006/main">
            <a:r>
              <a:t>- MCP or tool availability does not imply authorization; attestations do not prove security or business correctness.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2bed02e20c43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458fdafc0b4001" /><Relationship Type="http://schemas.openxmlformats.org/officeDocument/2006/relationships/slideLayout" Target="/ppt/slideLayouts/slideLayout1.xml" Id="R622c68943ed14f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2c68943ed14f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9711510a64548" /><Relationship Type="http://schemas.openxmlformats.org/officeDocument/2006/relationships/notesSlide" Target="/ppt/notesSlides/notesSlide1.xml" Id="R43b602e557a54ec9" 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9" name="title">
            <a:extLst>
              <a:ext uri="{FF2B5EF4-FFF2-40B4-BE49-F238E27FC236}">
                <a16:creationId id="{B7CF3CD3-9AAB-4389-9D53-B7CE9AE292B4}"/>
              </a:ext>
            </a:extLst>
          </p:cNvPr>
          <p:cNvSpPr>
            <a:spLocks/>
          </p:cNvSpPr>
          <p:nvPr/>
        </p:nvSpPr>
        <p:spPr>
          <a:xfrm>
            <a:off x="685800" y="266700"/>
            <a:ext cx="138684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ctr">
              <a:lnSpc>
                <a:spcPct val="90000"/>
              </a:lnSpc>
              <a:buNone/>
              <a:defRPr sz="28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大模型没有替代 CI/CD，而是把它推向“双层控制”</a:t>
            </a:r>
          </a:p>
          <a:p>
            <a:pPr algn="ctr">
              <a:lnSpc>
                <a:spcPct val="90000"/>
              </a:lnSpc>
              <a:buNone/>
              <a:defRPr sz="28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Agent 负责理解与尝试，基础设施负责验证与授权</a:t>
            </a:r>
          </a:p>
        </p:txBody>
      </p:sp>
      <p:sp>
        <p:nvSpPr>
          <p:cNvPr id="2" name="matrix-heading">
            <a:extLst>
              <a:ext uri="{FF2B5EF4-FFF2-40B4-BE49-F238E27FC236}">
                <a16:creationId id="{ACBD6810-F908-4C6A-8FF3-7D6A37846047}"/>
              </a:ext>
            </a:extLst>
          </p:cNvPr>
          <p:cNvSpPr>
            <a:spLocks/>
          </p:cNvSpPr>
          <p:nvPr/>
        </p:nvSpPr>
        <p:spPr>
          <a:xfrm>
            <a:off x="647700" y="1352550"/>
            <a:ext cx="857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95000"/>
              </a:lnSpc>
              <a:buNone/>
              <a:def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四类基础设施的角色重构</a:t>
            </a:r>
          </a:p>
        </p:txBody>
      </p:sp>
      <p:sp>
        <p:nvSpPr>
          <p:cNvPr id="3" name="as-of">
            <a:extLst>
              <a:ext uri="{FF2B5EF4-FFF2-40B4-BE49-F238E27FC236}">
                <a16:creationId id="{265E574B-330D-4D75-A441-BB431D40A267}"/>
              </a:ext>
            </a:extLst>
          </p:cNvPr>
          <p:cNvSpPr>
            <a:spLocks/>
          </p:cNvSpPr>
          <p:nvPr/>
        </p:nvSpPr>
        <p:spPr>
          <a:xfrm>
            <a:off x="11525250" y="1371600"/>
            <a:ext cx="3067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r">
              <a:lnSpc>
                <a:spcPct val="95000"/>
              </a:lnSpc>
              <a:buNone/>
              <a:def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证据截至 2026-07-28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="647700" y="1714500"/>
          <a:ext cx="13944600" cy="3771900"/>
        </p:xfrm>
        <a:graphic>
          <a:graphicData uri="http://schemas.openxmlformats.org/drawingml/2006/table">
            <a:tbl>
              <a:tblPr/>
              <a:tblGrid>
                <a:gridCol w="2038350"/>
                <a:gridCol w="2971800"/>
                <a:gridCol w="2971800"/>
                <a:gridCol w="2971800"/>
                <a:gridCol w="2990850"/>
              </a:tblGrid>
              <a:tr h="53340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sz="1575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控制层</a:t>
                      </a:r>
                    </a:p>
                  </a:txBody>
                  <a:tcPr marL="114300" marR="114300" marT="95250" marB="95250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sz="1575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代码仓</a:t>
                      </a:r>
                    </a:p>
                  </a:txBody>
                  <a:tcPr marL="114300" marR="114300" marT="95250" marB="95250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sz="1575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流水线</a:t>
                      </a:r>
                    </a:p>
                  </a:txBody>
                  <a:tcPr marL="114300" marR="114300" marT="95250" marB="95250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sz="1575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构建系统</a:t>
                      </a:r>
                    </a:p>
                  </a:txBody>
                  <a:tcPr marL="114300" marR="114300" marT="95250" marB="95250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sz="1575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制品仓</a:t>
                      </a:r>
                    </a:p>
                  </a:txBody>
                  <a:tcPr marL="114300" marR="114300" marT="95250" marB="95250" anchor="ctr">
                    <a:solidFill>
                      <a:srgbClr val="D9D9D9"/>
                    </a:solidFill>
                  </a:tcPr>
                </a:tc>
              </a:tr>
              <a:tr h="16192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sz="1650" b="1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面</a:t>
                      </a:r>
                    </a:p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sz="1650" b="1">
                          <a:solidFill>
                            <a:srgbClr val="C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 / 重构</a:t>
                      </a:r>
                    </a:p>
                  </a:txBody>
                  <a:tcPr marL="114300" marR="114300" marT="95250" marB="95250" anchor="ctr">
                    <a:solidFill>
                      <a:srgbClr val="EEF6FC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sz="1313" b="1">
                          <a:solidFill>
                            <a:srgbClr val="087F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任务与上下文</a:t>
                      </a:r>
                    </a:p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sz="1313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Issue · Session · Agent 配置</a:t>
                      </a:r>
                    </a:p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sz="1313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Branch · PR / MR 候选</a:t>
                      </a:r>
                    </a:p>
                  </a:txBody>
                  <a:tcPr marL="114300" marR="114300" marT="95250" marB="95250" anchor="ctr">
                    <a:solidFill>
                      <a:srgbClr val="F7FBFE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sz="1313" b="1">
                          <a:solidFill>
                            <a:srgbClr val="087F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验证内环</a:t>
                      </a:r>
                    </a:p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sz="1313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Step · 日志归因</a:t>
                      </a:r>
                    </a:p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sz="1313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低延迟 · 小范围 · 有限轮次</a:t>
                      </a:r>
                    </a:p>
                  </a:txBody>
                  <a:tcPr marL="114300" marR="114300" marT="95250" marB="95250" anchor="ctr">
                    <a:solidFill>
                      <a:srgbClr val="F1F7FC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sz="1313" b="1">
                          <a:solidFill>
                            <a:srgbClr val="087F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反馈与成本底座</a:t>
                      </a:r>
                    </a:p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sz="1313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Graph · Affected</a:t>
                      </a:r>
                    </a:p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sz="1313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增量 · Cache · Remote Execution</a:t>
                      </a:r>
                    </a:p>
                  </a:txBody>
                  <a:tcPr marL="114300" marR="114300" marT="95250" marB="95250" anchor="ctr">
                    <a:solidFill>
                      <a:srgbClr val="F7FBFE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sz="1313" b="1">
                          <a:solidFill>
                            <a:srgbClr val="087F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供应链事实与受限行动</a:t>
                      </a:r>
                    </a:p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sz="1313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漏洞 · SBOM · Evidence</a:t>
                      </a:r>
                    </a:p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sz="1313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受限操作 · Agent 行为资产</a:t>
                      </a:r>
                    </a:p>
                  </a:txBody>
                  <a:tcPr marL="114300" marR="114300" marT="95250" marB="95250" anchor="ctr">
                    <a:solidFill>
                      <a:srgbClr val="F1F7FC"/>
                    </a:solidFill>
                  </a:tcPr>
                </a:tc>
              </a:tr>
              <a:tr h="16192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sz="165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控制面</a:t>
                      </a:r>
                    </a:p>
                    <a:p>
                      <a:pPr algn="ctr">
                        <a:lnSpc>
                          <a:spcPct val="92000"/>
                        </a:lnSpc>
                        <a:buNone/>
                      </a:pPr>
                      <a:r>
                        <a:rPr sz="165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 / 强化</a:t>
                      </a:r>
                    </a:p>
                  </a:txBody>
                  <a:tcPr marL="114300" marR="114300" marT="95250" marB="95250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sz="1313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接受规则</a:t>
                      </a:r>
                    </a:p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sz="1313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Ruleset · CODEOWNERS</a:t>
                      </a:r>
                    </a:p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sz="1313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Required Checks · Review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sz="1313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完整外环</a:t>
                      </a:r>
                    </a:p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sz="1313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Build · Test · Scan · Policy</a:t>
                      </a:r>
                    </a:p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sz="1313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Environment Gate</a:t>
                      </a:r>
                    </a:p>
                  </a:txBody>
                  <a:tcPr marL="114300" marR="114300" marT="95250" marB="95250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sz="1313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 Oracle</a:t>
                      </a:r>
                    </a:p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sz="1313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干净隔离 · 可复现</a:t>
                      </a:r>
                    </a:p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sz="1313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Trusted Builder · Task Oracle</a:t>
                      </a:r>
                    </a:p>
                  </a:txBody>
                  <a:tcPr marL="1143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sz="1313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可信发布</a:t>
                      </a:r>
                    </a:p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sz="1313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Digest · Provenance · Attestation</a:t>
                      </a:r>
                    </a:p>
                    <a:p>
                      <a:pPr algn="l">
                        <a:lnSpc>
                          <a:spcPct val="92000"/>
                        </a:lnSpc>
                        <a:buNone/>
                      </a:pPr>
                      <a:r>
                        <a:rPr sz="1313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Promotion Policy</a:t>
                      </a:r>
                    </a:p>
                  </a:txBody>
                  <a:tcPr marL="114300" marR="114300" marT="95250" marB="95250"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crosscut-heading">
            <a:extLst>
              <a:ext uri="{FF2B5EF4-FFF2-40B4-BE49-F238E27FC236}">
                <a16:creationId id="{5AE0E910-C55D-4DF5-BE70-4C517A7879C5}"/>
              </a:ext>
            </a:extLst>
          </p:cNvPr>
          <p:cNvSpPr>
            <a:spLocks/>
          </p:cNvSpPr>
          <p:nvPr/>
        </p:nvSpPr>
        <p:spPr>
          <a:xfrm>
            <a:off x="647700" y="5657850"/>
            <a:ext cx="13944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95000"/>
              </a:lnSpc>
              <a:buNone/>
              <a:def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横切变化：三项“配套能力”已成为规模化采用 Agent 的主约束</a:t>
            </a:r>
          </a:p>
        </p:txBody>
      </p:sp>
      <p:sp>
        <p:nvSpPr>
          <p:cNvPr id="6" name="crosscut-band">
            <a:extLst>
              <a:ext uri="{FF2B5EF4-FFF2-40B4-BE49-F238E27FC236}">
                <a16:creationId id="{BCD11DD2-927A-4C5F-B20A-04DC9C1BC25A}"/>
              </a:ext>
            </a:extLst>
          </p:cNvPr>
          <p:cNvSpPr>
            <a:spLocks/>
          </p:cNvSpPr>
          <p:nvPr/>
        </p:nvSpPr>
        <p:spPr>
          <a:xfrm>
            <a:off x="647700" y="6019800"/>
            <a:ext cx="13944600" cy="952500"/>
          </a:xfrm>
          <a:prstGeom prst="rect">
            <a:avLst/>
          </a:prstGeom>
          <a:solidFill>
            <a:srgbClr val="F6F8FC"/>
          </a:solidFill>
          <a:ln w="11430">
            <a:solidFill>
              <a:srgbClr val="C8D2DC"/>
            </a:solidFill>
            <a:prstDash val="solid"/>
          </a:ln>
        </p:spPr>
      </p:sp>
      <p:sp>
        <p:nvSpPr>
          <p:cNvPr id="7" name="crosscut-divider-1">
            <a:extLst>
              <a:ext uri="{FF2B5EF4-FFF2-40B4-BE49-F238E27FC236}">
                <a16:creationId id="{6492221C-8CF7-4D26-A6C9-C735C4FD984F}"/>
              </a:ext>
            </a:extLst>
          </p:cNvPr>
          <p:cNvSpPr>
            <a:spLocks/>
          </p:cNvSpPr>
          <p:nvPr/>
        </p:nvSpPr>
        <p:spPr>
          <a:xfrm>
            <a:off x="5295900" y="6134100"/>
            <a:ext cx="0" cy="723900"/>
          </a:xfrm>
          <a:prstGeom prst="line">
            <a:avLst/>
          </a:prstGeom>
          <a:noFill/>
          <a:ln w="9525">
            <a:solidFill>
              <a:srgbClr val="C8D2DC"/>
            </a:solidFill>
            <a:prstDash val="solid"/>
          </a:ln>
        </p:spPr>
      </p:sp>
      <p:sp>
        <p:nvSpPr>
          <p:cNvPr id="8" name="crosscut-divider-2">
            <a:extLst>
              <a:ext uri="{FF2B5EF4-FFF2-40B4-BE49-F238E27FC236}">
                <a16:creationId id="{8FFBB5D9-67CB-4BFE-9626-71DD68EF378C}"/>
              </a:ext>
            </a:extLst>
          </p:cNvPr>
          <p:cNvSpPr>
            <a:spLocks/>
          </p:cNvSpPr>
          <p:nvPr/>
        </p:nvSpPr>
        <p:spPr>
          <a:xfrm>
            <a:off x="9944100" y="6134100"/>
            <a:ext cx="0" cy="723900"/>
          </a:xfrm>
          <a:prstGeom prst="line">
            <a:avLst/>
          </a:prstGeom>
          <a:noFill/>
          <a:ln w="9525">
            <a:solidFill>
              <a:srgbClr val="C8D2DC"/>
            </a:solidFill>
            <a:prstDash val="solid"/>
          </a:ln>
        </p:spPr>
      </p:sp>
      <p:sp>
        <p:nvSpPr>
          <p:cNvPr id="9" name="crosscut-title-1">
            <a:extLst>
              <a:ext uri="{FF2B5EF4-FFF2-40B4-BE49-F238E27FC236}">
                <a16:creationId id="{20C2B8E3-13CD-4571-9B31-C47446F7AF68}"/>
              </a:ext>
            </a:extLst>
          </p:cNvPr>
          <p:cNvSpPr>
            <a:spLocks/>
          </p:cNvSpPr>
          <p:nvPr/>
        </p:nvSpPr>
        <p:spPr>
          <a:xfrm>
            <a:off x="819150" y="6153150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95000"/>
              </a:lnSpc>
              <a:buNone/>
              <a:defRPr sz="15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身份</a:t>
            </a:r>
          </a:p>
        </p:txBody>
      </p:sp>
      <p:sp>
        <p:nvSpPr>
          <p:cNvPr id="10" name="crosscut-body-1">
            <a:extLst>
              <a:ext uri="{FF2B5EF4-FFF2-40B4-BE49-F238E27FC236}">
                <a16:creationId id="{FC762D3F-75CD-40C8-A59E-8846B27ABD87}"/>
              </a:ext>
            </a:extLst>
          </p:cNvPr>
          <p:cNvSpPr>
            <a:spLocks/>
          </p:cNvSpPr>
          <p:nvPr/>
        </p:nvSpPr>
        <p:spPr>
          <a:xfrm>
            <a:off x="819150" y="6457950"/>
            <a:ext cx="4324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90000"/>
              </a:lnSpc>
              <a:buNone/>
              <a:defRPr sz="1238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共享 Bot Token → 任务级短期委托</a:t>
            </a:r>
          </a:p>
          <a:p>
            <a:pPr algn="l">
              <a:lnSpc>
                <a:spcPct val="90000"/>
              </a:lnSpc>
              <a:buNone/>
              <a:defRPr sz="1238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有效权限 = 人 × Agent × Tool × 环境</a:t>
            </a:r>
          </a:p>
        </p:txBody>
      </p:sp>
      <p:sp>
        <p:nvSpPr>
          <p:cNvPr id="11" name="crosscut-title-2">
            <a:extLst>
              <a:ext uri="{FF2B5EF4-FFF2-40B4-BE49-F238E27FC236}">
                <a16:creationId id="{661C8CA6-10B9-405E-9F79-1CD2E22B22ED}"/>
              </a:ext>
            </a:extLst>
          </p:cNvPr>
          <p:cNvSpPr>
            <a:spLocks/>
          </p:cNvSpPr>
          <p:nvPr/>
        </p:nvSpPr>
        <p:spPr>
          <a:xfrm>
            <a:off x="5467350" y="6153150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95000"/>
              </a:lnSpc>
              <a:buNone/>
              <a:defRPr sz="15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2" name="crosscut-body-2">
            <a:extLst>
              <a:ext uri="{FF2B5EF4-FFF2-40B4-BE49-F238E27FC236}">
                <a16:creationId id="{9FECF914-6B0C-4407-AEF4-053629FF0871}"/>
              </a:ext>
            </a:extLst>
          </p:cNvPr>
          <p:cNvSpPr>
            <a:spLocks/>
          </p:cNvSpPr>
          <p:nvPr/>
        </p:nvSpPr>
        <p:spPr>
          <a:xfrm>
            <a:off x="5467350" y="6457950"/>
            <a:ext cx="4324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90000"/>
              </a:lnSpc>
              <a:buNone/>
              <a:defRPr sz="1238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Pass / Fail → Session—Commit—Builder</a:t>
            </a:r>
          </a:p>
          <a:p>
            <a:pPr algn="l">
              <a:lnSpc>
                <a:spcPct val="90000"/>
              </a:lnSpc>
              <a:buNone/>
              <a:defRPr sz="1238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—Digest—Policy Lineage</a:t>
            </a:r>
          </a:p>
        </p:txBody>
      </p:sp>
      <p:sp>
        <p:nvSpPr>
          <p:cNvPr id="13" name="crosscut-title-3">
            <a:extLst>
              <a:ext uri="{FF2B5EF4-FFF2-40B4-BE49-F238E27FC236}">
                <a16:creationId id="{2459E04B-8D2A-4675-9782-9DF6BBE30DE7}"/>
              </a:ext>
            </a:extLst>
          </p:cNvPr>
          <p:cNvSpPr>
            <a:spLocks/>
          </p:cNvSpPr>
          <p:nvPr/>
        </p:nvSpPr>
        <p:spPr>
          <a:xfrm>
            <a:off x="10115550" y="6153150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95000"/>
              </a:lnSpc>
              <a:buNone/>
              <a:defRPr sz="15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成本</a:t>
            </a:r>
          </a:p>
        </p:txBody>
      </p:sp>
      <p:sp>
        <p:nvSpPr>
          <p:cNvPr id="14" name="crosscut-body-3">
            <a:extLst>
              <a:ext uri="{FF2B5EF4-FFF2-40B4-BE49-F238E27FC236}">
                <a16:creationId id="{5F04DDA2-A366-4296-91AC-8E9C92426629}"/>
              </a:ext>
            </a:extLst>
          </p:cNvPr>
          <p:cNvSpPr>
            <a:spLocks/>
          </p:cNvSpPr>
          <p:nvPr/>
        </p:nvSpPr>
        <p:spPr>
          <a:xfrm>
            <a:off x="10115550" y="6457950"/>
            <a:ext cx="4324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100000"/>
          </a:bodyPr>
          <a:lstStyle/>
          <a:p>
            <a:pPr algn="l">
              <a:lnSpc>
                <a:spcPct val="90000"/>
              </a:lnSpc>
              <a:buNone/>
              <a:defRPr sz="1238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Runner 分钟 → 计算 + 推理 + 尝试</a:t>
            </a:r>
          </a:p>
          <a:p>
            <a:pPr algn="l">
              <a:lnSpc>
                <a:spcPct val="90000"/>
              </a:lnSpc>
              <a:buNone/>
              <a:defRPr sz="1238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486581"/>
                </a:solidFill>
                <a:latin typeface="Microsoft YaHei"/>
                <a:ea typeface="Microsoft YaHei"/>
                <a:cs typeface="Microsoft YaHei"/>
              </a:rPr>
              <a:t>+ 反馈延迟 + Verified Outcome</a:t>
            </a:r>
          </a:p>
        </p:txBody>
      </p:sp>
      <p:sp>
        <p:nvSpPr>
          <p:cNvPr id="15" name="insight-label-bg">
            <a:extLst>
              <a:ext uri="{FF2B5EF4-FFF2-40B4-BE49-F238E27FC236}">
                <a16:creationId id="{94176101-02F4-4DD4-BA07-6F3B4E00FE40}"/>
              </a:ext>
            </a:extLst>
          </p:cNvPr>
          <p:cNvSpPr>
            <a:spLocks/>
          </p:cNvSpPr>
          <p:nvPr/>
        </p:nvSpPr>
        <p:spPr>
          <a:xfrm>
            <a:off x="647700" y="7219950"/>
            <a:ext cx="1066800" cy="990600"/>
          </a:xfrm>
          <a:prstGeom prst="rect">
            <a:avLst/>
          </a:prstGeom>
          <a:solidFill>
            <a:srgbClr val="A60000"/>
          </a:solidFill>
          <a:ln w="0">
            <a:solidFill>
              <a:srgbClr val="A60000"/>
            </a:solidFill>
            <a:prstDash val="solid"/>
          </a:ln>
        </p:spPr>
      </p:sp>
      <p:sp>
        <p:nvSpPr>
          <p:cNvPr id="16" name="insight-body-bg">
            <a:extLst>
              <a:ext uri="{FF2B5EF4-FFF2-40B4-BE49-F238E27FC236}">
                <a16:creationId id="{BE3EDB41-5572-4A36-8C47-50FF57FDE74E}"/>
              </a:ext>
            </a:extLst>
          </p:cNvPr>
          <p:cNvSpPr>
            <a:spLocks/>
          </p:cNvSpPr>
          <p:nvPr/>
        </p:nvSpPr>
        <p:spPr>
          <a:xfrm>
            <a:off x="1771650" y="7219950"/>
            <a:ext cx="12820650" cy="99060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17" name="insight-label">
            <a:extLst>
              <a:ext uri="{FF2B5EF4-FFF2-40B4-BE49-F238E27FC236}">
                <a16:creationId id="{9E0781C2-1F67-4B62-8E50-FDCEEAB88AC1}"/>
              </a:ext>
            </a:extLst>
          </p:cNvPr>
          <p:cNvSpPr>
            <a:spLocks/>
          </p:cNvSpPr>
          <p:nvPr/>
        </p:nvSpPr>
        <p:spPr>
          <a:xfrm>
            <a:off x="647700" y="7219950"/>
            <a:ext cx="10668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38100" rIns="38100" bIns="38100" anchor="ctr">
            <a:normAutofit fontScale="100000"/>
          </a:bodyPr>
          <a:lstStyle/>
          <a:p>
            <a:pPr algn="ctr">
              <a:lnSpc>
                <a:spcPct val="9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</a:t>
            </a:r>
          </a:p>
          <a:p>
            <a:pPr algn="ctr">
              <a:lnSpc>
                <a:spcPct val="9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启示</a:t>
            </a:r>
          </a:p>
        </p:txBody>
      </p:sp>
      <p:sp>
        <p:nvSpPr>
          <p:cNvPr id="18" name="insight-body">
            <a:extLst>
              <a:ext uri="{FF2B5EF4-FFF2-40B4-BE49-F238E27FC236}">
                <a16:creationId id="{1D0B96F7-3F83-498E-8DFE-4AC0C2807BA4}"/>
              </a:ext>
            </a:extLst>
          </p:cNvPr>
          <p:cNvSpPr>
            <a:spLocks/>
          </p:cNvSpPr>
          <p:nvPr/>
        </p:nvSpPr>
        <p:spPr>
          <a:xfrm>
            <a:off x="1943100" y="7305675"/>
            <a:ext cx="124587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ctr">
            <a:normAutofit fontScale="100000"/>
          </a:bodyPr>
          <a:lstStyle/>
          <a:p>
            <a:pPr algn="l">
              <a:lnSpc>
                <a:spcPct val="92000"/>
              </a:lnSpc>
              <a:buNone/>
              <a:defRPr sz="138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 先补底座：</a:t>
            </a:r>
            <a:r>
              <a:rPr sz="138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机器可读上下文、隔离运行时、低延迟验证、任务级身份与全链路证据。</a:t>
            </a:r>
          </a:p>
          <a:p>
            <a:pPr algn="l">
              <a:lnSpc>
                <a:spcPct val="92000"/>
              </a:lnSpc>
              <a:buNone/>
              <a:defRPr sz="138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 再逐级放权：</a:t>
            </a:r>
            <a:r>
              <a:rPr sz="1388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先生成候选；Merge、Promotion、Deploy 由独立 Gate 按 Commit、Digest 或 Plan 接受。</a:t>
            </a:r>
          </a:p>
        </p:txBody>
      </p:sp>
    </p:spTree>
    <p:extLst>
      <p:ext uri="{BB962C8B-B14F-4D97-AF65-F5344CB8AC3E}">
        <p14:creationId val="3504067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2026-07-29T12:41:00.2270000Z</dcterms:created>
  <dcterms:modified xsi:type="dcterms:W3CDTF">2026-07-29T12:41:00.2270000Z</dcterms:modified>
</coreProperties>
</file>