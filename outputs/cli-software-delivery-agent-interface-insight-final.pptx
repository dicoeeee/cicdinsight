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9"/>
    <p:restoredTop sz="94660"/>
  </p:normalViewPr>
  <p:slideViewPr>
    <p:cSldViewPr snapToGrid="0">
      <p:cViewPr varScale="1">
        <p:scale>
          <a:sx n="130" d="100"/>
          <a:sy n="130" d="100"/>
        </p:scale>
        <p:origin x="178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Top workflow image and source map: outputs/cli-upper-half-c-final-light.png; outputs/cli-upper-half-c-refined-command-sources.md</a:t>
            </a:r>
          </a:p>
          <a:p>
            <a:r>
              <a:t>- Representative table source map: outputs/cli-lower-left-representative-table-sources.md</a:t>
            </a:r>
          </a:p>
          <a:p>
            <a:r>
              <a:t>- CLI/MCP evidence audit: 50_deepdives/cli-agent-interface/industry-mcp-evolution-and-progressive-discovery-2026-07-28.md</a:t>
            </a:r>
          </a:p>
          <a:p>
            <a:r>
              <a:t>- Claude Code Tool Search: https://code.claude.com/docs/en/mcp#scale-with-mcp-tool-search</a:t>
            </a:r>
          </a:p>
          <a:p>
            <a:r>
              <a:t>- MCP Client Best Practices: https://modelcontextprotocol.io/docs/develop/clients/client-best-practices</a:t>
            </a:r>
          </a:p>
          <a:p>
            <a:r>
              <a:t>- Thoughtworks Technology Radar, MCP by default: https://www.thoughtworks.com/radar/techniques/mcp-by-default</a:t>
            </a:r>
          </a:p>
          <a:p>
            <a:r>
              <a:t>[/Sources]</a:t>
            </a:r>
          </a:p>
          <a:p>
            <a:endParaRPr/>
          </a:p>
          <a:p>
            <a:r>
              <a:t>Evidence boundary: progressive discovery and on-demand loading are host/client implementation patterns, not automatic MCP core-protocol guarantees. MCP standardizes discovery and invocation contracts; authorization and governance remain platform/server responsibilities.</a:t>
            </a:r>
          </a:p>
          <a:p>
            <a:r>
              <a:t>as_of: 2026-07-28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eloper.hashicorp.com/terraform/cli/commands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ocs.jfrog.com/integrations/docs/jfrog-cli-command-referenc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ircleci.com/docs/guides/toolkit/local-cli/" TargetMode="External"/><Relationship Id="rId5" Type="http://schemas.openxmlformats.org/officeDocument/2006/relationships/hyperlink" Target="https://docs.snyk.io/developer-tools/snyk-cli" TargetMode="External"/><Relationship Id="rId4" Type="http://schemas.openxmlformats.org/officeDocument/2006/relationships/hyperlink" Target="https://cli.github.com/manual/" TargetMode="External"/><Relationship Id="rId9" Type="http://schemas.openxmlformats.org/officeDocument/2006/relationships/hyperlink" Target="https://github.com/getsentry/sentry-cl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insight-body-background">
            <a:extLst>
              <a:ext uri="{FF2B5EF4-FFF2-40B4-BE49-F238E27FC236}">
                <a16:creationId xmlns:a16="http://schemas.microsoft.com/office/drawing/2014/main" id="{A4755DF3-9D86-442A-9E53-A8620263BC85}"/>
              </a:ext>
            </a:extLst>
          </p:cNvPr>
          <p:cNvSpPr>
            <a:spLocks noGrp="1"/>
          </p:cNvSpPr>
          <p:nvPr/>
        </p:nvSpPr>
        <p:spPr>
          <a:xfrm>
            <a:off x="1524000" y="9001125"/>
            <a:ext cx="16383000" cy="76390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5" name="slide-title">
            <a:extLst>
              <a:ext uri="{FF2B5EF4-FFF2-40B4-BE49-F238E27FC236}">
                <a16:creationId xmlns:a16="http://schemas.microsoft.com/office/drawing/2014/main" id="{9FCE9413-7B3F-4C4B-8A5D-F4E1189653B6}"/>
              </a:ext>
            </a:extLst>
          </p:cNvPr>
          <p:cNvSpPr>
            <a:spLocks noGrp="1"/>
          </p:cNvSpPr>
          <p:nvPr/>
        </p:nvSpPr>
        <p:spPr>
          <a:xfrm>
            <a:off x="381000" y="180975"/>
            <a:ext cx="17526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buNone/>
              <a:defRPr sz="2175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软件交付的</a:t>
            </a:r>
            <a:r>
              <a:rPr sz="2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24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接口走向互补：CLI</a:t>
            </a:r>
            <a:r>
              <a:rPr sz="2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走向结构化输出与</a:t>
            </a:r>
            <a:r>
              <a:rPr sz="2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Skill </a:t>
            </a:r>
            <a:r>
              <a:rPr sz="24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复用，MCP</a:t>
            </a:r>
            <a:r>
              <a:rPr sz="2400" b="1" dirty="0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40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接入走向渐进发现与按需加载</a:t>
            </a:r>
            <a:endParaRPr sz="240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as-of">
            <a:extLst>
              <a:ext uri="{FF2B5EF4-FFF2-40B4-BE49-F238E27FC236}">
                <a16:creationId xmlns:a16="http://schemas.microsoft.com/office/drawing/2014/main" id="{7E861201-C1B8-4169-9262-CEDD3663C3D9}"/>
              </a:ext>
            </a:extLst>
          </p:cNvPr>
          <p:cNvSpPr>
            <a:spLocks noGrp="1"/>
          </p:cNvSpPr>
          <p:nvPr/>
        </p:nvSpPr>
        <p:spPr>
          <a:xfrm>
            <a:off x="17887950" y="15240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25000" lnSpcReduction="20000"/>
          </a:bodyPr>
          <a:lstStyle/>
          <a:p>
            <a:pPr algn="r">
              <a:buNone/>
              <a:defRPr sz="1350" b="1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title-accent">
            <a:extLst>
              <a:ext uri="{FF2B5EF4-FFF2-40B4-BE49-F238E27FC236}">
                <a16:creationId xmlns:a16="http://schemas.microsoft.com/office/drawing/2014/main" id="{9942B81B-A663-493A-B89D-C908E2D3EDBC}"/>
              </a:ext>
            </a:extLst>
          </p:cNvPr>
          <p:cNvSpPr>
            <a:spLocks noGrp="1"/>
          </p:cNvSpPr>
          <p:nvPr/>
        </p:nvSpPr>
        <p:spPr>
          <a:xfrm>
            <a:off x="381000" y="781050"/>
            <a:ext cx="9525" cy="95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81000" y="885825"/>
            <a:ext cx="17526000" cy="4305300"/>
          </a:xfrm>
          <a:prstGeom prst="rect">
            <a:avLst/>
          </a:prstGeom>
        </p:spPr>
      </p:pic>
      <p:graphicFrame>
        <p:nvGraphicFramePr>
          <p:cNvPr id="39" name="表格 28"/>
          <p:cNvGraphicFramePr/>
          <p:nvPr/>
        </p:nvGraphicFramePr>
        <p:xfrm>
          <a:off x="381000" y="5429250"/>
          <a:ext cx="8572500" cy="328612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作业阶段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功能方向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形态 / 成熟度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编码与协同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4"/>
                        </a:rPr>
                        <a:t>GitHub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gh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 / PR / Review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/ Actions / Release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远程托管 / 可本地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检查与门禁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5"/>
                        </a:rPr>
                        <a:t>Snyk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dirty="0" err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snyk</a:t>
                      </a:r>
                      <a:endParaRPr sz="1200" b="1" dirty="0">
                        <a:solidFill>
                          <a:srgbClr val="05A5A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 / 代码 / 容器 / IaC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监测 / 忽略 / 修复建议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EA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构建与验证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6"/>
                        </a:rPr>
                        <a:t>CircleCI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 dirty="0" err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circleci</a:t>
                      </a:r>
                      <a:endParaRPr sz="1200" b="1" dirty="0">
                        <a:solidFill>
                          <a:srgbClr val="4967E8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validate / process</a:t>
                      </a:r>
                    </a:p>
                    <a:p>
                      <a:pPr algn="l">
                        <a:buNone/>
                      </a:pP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local execute / diagnostic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 · CLI v1 Preview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制品与供应链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7"/>
                        </a:rPr>
                        <a:t>JFrog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jf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上传</a:t>
                      </a: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200" b="0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复制</a:t>
                      </a: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200" b="0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</a:t>
                      </a:r>
                      <a:endParaRPr sz="1200" b="0" dirty="0">
                        <a:solidFill>
                          <a:srgbClr val="10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>
                        <a:buNone/>
                      </a:pP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Xray / SBOM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SaaS / 自托管 Beta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部署与发布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8"/>
                        </a:rPr>
                        <a:t>HashiCorp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terraform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init</a:t>
                      </a: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plan / apply</a:t>
                      </a:r>
                    </a:p>
                    <a:p>
                      <a:pPr algn="l">
                        <a:buNone/>
                      </a:pP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state / workspace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</a:t>
                      </a: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Server · v1.0.x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观测与恢复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  <a:hlinkClick r:id="rId9"/>
                        </a:rPr>
                        <a:t>Sentry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05A5A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sentry-cli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Release / Deploy / Commit</a:t>
                      </a:r>
                    </a:p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Source Map / Event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远程可用</a:t>
                      </a: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/ </a:t>
                      </a:r>
                      <a:r>
                        <a:rPr sz="1200" b="0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stdio</a:t>
                      </a:r>
                      <a:r>
                        <a:rPr sz="1200" b="0" dirty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0" dirty="0" err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开发中</a:t>
                      </a:r>
                      <a:endParaRPr sz="1200" b="0" dirty="0">
                        <a:solidFill>
                          <a:srgbClr val="102A43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0" name="表格 29"/>
          <p:cNvGraphicFramePr/>
          <p:nvPr/>
        </p:nvGraphicFramePr>
        <p:xfrm>
          <a:off x="9182100" y="5429250"/>
          <a:ext cx="8724900" cy="2112645"/>
        </p:xfrm>
        <a:graphic>
          <a:graphicData uri="http://schemas.openxmlformats.org/drawingml/2006/table">
            <a:tbl>
              <a:tblPr/>
              <a:tblGrid>
                <a:gridCol w="11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3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对比维度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4967E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CLI｜直接执行面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EF70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MCP｜标准接入面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复用成熟工具的完整执行语义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命令、文件与进程进入 Agent 工作循环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统一工具发现与调用契约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Host 接入本地或远程服务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核心优势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能力保真、易重放，Shell 组合成本低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复用脚本、Runner 与运维经验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工具描述与参数契约标准化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适合远程授权与集中治理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主要代价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接口与版本差异由 Agent / Skill 消化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输出不稳会降低自动化可靠性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 Server、协议生命周期与权限治理</a:t>
                      </a:r>
                    </a:p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全量工具定义会占用上下文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125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适用场景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成熟命令、本地工程动作、CI Runner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运行时工具发现、统一参数、授权治理</a:t>
                      </a:r>
                    </a:p>
                  </a:txBody>
                  <a:tcPr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cli-trend-surface">
            <a:extLst>
              <a:ext uri="{FF2B5EF4-FFF2-40B4-BE49-F238E27FC236}">
                <a16:creationId xmlns:a16="http://schemas.microsoft.com/office/drawing/2014/main" id="{0EF34881-3EB6-43BE-8257-D2EBBEA88419}"/>
              </a:ext>
            </a:extLst>
          </p:cNvPr>
          <p:cNvSpPr>
            <a:spLocks noGrp="1"/>
          </p:cNvSpPr>
          <p:nvPr/>
        </p:nvSpPr>
        <p:spPr>
          <a:xfrm>
            <a:off x="9182100" y="7562850"/>
            <a:ext cx="8724900" cy="361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505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cli-trend-edge">
            <a:extLst>
              <a:ext uri="{FF2B5EF4-FFF2-40B4-BE49-F238E27FC236}">
                <a16:creationId xmlns:a16="http://schemas.microsoft.com/office/drawing/2014/main" id="{7DD4E14F-2BE6-43C3-97DC-EC77E0611F51}"/>
              </a:ext>
            </a:extLst>
          </p:cNvPr>
          <p:cNvSpPr>
            <a:spLocks noGrp="1"/>
          </p:cNvSpPr>
          <p:nvPr/>
        </p:nvSpPr>
        <p:spPr>
          <a:xfrm>
            <a:off x="9182100" y="7562850"/>
            <a:ext cx="47625" cy="361950"/>
          </a:xfrm>
          <a:prstGeom prst="rect">
            <a:avLst/>
          </a:prstGeom>
          <a:solidFill>
            <a:srgbClr val="4967E8"/>
          </a:solidFill>
          <a:ln w="0">
            <a:solidFill>
              <a:srgbClr val="4967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cli-trend-label-bg">
            <a:extLst>
              <a:ext uri="{FF2B5EF4-FFF2-40B4-BE49-F238E27FC236}">
                <a16:creationId xmlns:a16="http://schemas.microsoft.com/office/drawing/2014/main" id="{00B7D69A-1B08-42F3-BFA4-AFAD4290F2FA}"/>
              </a:ext>
            </a:extLst>
          </p:cNvPr>
          <p:cNvSpPr>
            <a:spLocks noGrp="1"/>
          </p:cNvSpPr>
          <p:nvPr/>
        </p:nvSpPr>
        <p:spPr>
          <a:xfrm>
            <a:off x="9305925" y="7620000"/>
            <a:ext cx="876300" cy="247650"/>
          </a:xfrm>
          <a:prstGeom prst="roundRect">
            <a:avLst>
              <a:gd name="adj" fmla="val 0"/>
            </a:avLst>
          </a:prstGeom>
          <a:solidFill>
            <a:srgbClr val="EDF1FF"/>
          </a:solidFill>
          <a:ln w="0">
            <a:solidFill>
              <a:srgbClr val="ED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cli-trend-label">
            <a:extLst>
              <a:ext uri="{FF2B5EF4-FFF2-40B4-BE49-F238E27FC236}">
                <a16:creationId xmlns:a16="http://schemas.microsoft.com/office/drawing/2014/main" id="{89DEDDBE-0280-4C10-8F81-F7F1EAF8511B}"/>
              </a:ext>
            </a:extLst>
          </p:cNvPr>
          <p:cNvSpPr>
            <a:spLocks noGrp="1"/>
          </p:cNvSpPr>
          <p:nvPr/>
        </p:nvSpPr>
        <p:spPr>
          <a:xfrm>
            <a:off x="9305925" y="762000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967E8"/>
                </a:solidFill>
                <a:latin typeface="Microsoft YaHei"/>
                <a:ea typeface="Microsoft YaHei"/>
                <a:cs typeface="Microsoft YaHei"/>
              </a:rPr>
              <a:t>CLI 趋势</a:t>
            </a:r>
          </a:p>
        </p:txBody>
      </p:sp>
      <p:sp>
        <p:nvSpPr>
          <p:cNvPr id="11" name="cli-trend-sentence">
            <a:extLst>
              <a:ext uri="{FF2B5EF4-FFF2-40B4-BE49-F238E27FC236}">
                <a16:creationId xmlns:a16="http://schemas.microsoft.com/office/drawing/2014/main" id="{6E4004F2-97C4-4209-BFC7-B8CC95D10B93}"/>
              </a:ext>
            </a:extLst>
          </p:cNvPr>
          <p:cNvSpPr>
            <a:spLocks noGrp="1"/>
          </p:cNvSpPr>
          <p:nvPr/>
        </p:nvSpPr>
        <p:spPr>
          <a:xfrm>
            <a:off x="10287000" y="7591425"/>
            <a:ext cx="546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/>
          </a:bodyPr>
          <a:lstStyle/>
          <a:p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结构化输出与 Skill 封装增强 Agent 的稳定调用与可重放执行。</a:t>
            </a:r>
          </a:p>
        </p:txBody>
      </p:sp>
      <p:sp>
        <p:nvSpPr>
          <p:cNvPr id="12" name="cli-trend-evidence">
            <a:extLst>
              <a:ext uri="{FF2B5EF4-FFF2-40B4-BE49-F238E27FC236}">
                <a16:creationId xmlns:a16="http://schemas.microsoft.com/office/drawing/2014/main" id="{274DD7B9-CD7C-43F5-A1AC-34056E528D13}"/>
              </a:ext>
            </a:extLst>
          </p:cNvPr>
          <p:cNvSpPr>
            <a:spLocks noGrp="1"/>
          </p:cNvSpPr>
          <p:nvPr/>
        </p:nvSpPr>
        <p:spPr>
          <a:xfrm>
            <a:off x="15735300" y="7610475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Codex · Claude Code · Copilot</a:t>
            </a:r>
          </a:p>
        </p:txBody>
      </p:sp>
      <p:sp>
        <p:nvSpPr>
          <p:cNvPr id="13" name="mcp-trend-surface">
            <a:extLst>
              <a:ext uri="{FF2B5EF4-FFF2-40B4-BE49-F238E27FC236}">
                <a16:creationId xmlns:a16="http://schemas.microsoft.com/office/drawing/2014/main" id="{971C6D1C-FD2F-40D4-B88F-B580FAD360C8}"/>
              </a:ext>
            </a:extLst>
          </p:cNvPr>
          <p:cNvSpPr>
            <a:spLocks noGrp="1"/>
          </p:cNvSpPr>
          <p:nvPr/>
        </p:nvSpPr>
        <p:spPr>
          <a:xfrm>
            <a:off x="9182100" y="7972425"/>
            <a:ext cx="8724900" cy="361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505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mcp-trend-edge">
            <a:extLst>
              <a:ext uri="{FF2B5EF4-FFF2-40B4-BE49-F238E27FC236}">
                <a16:creationId xmlns:a16="http://schemas.microsoft.com/office/drawing/2014/main" id="{8CFD810E-F6F5-4DBD-A2BC-2F8075A2A5F1}"/>
              </a:ext>
            </a:extLst>
          </p:cNvPr>
          <p:cNvSpPr>
            <a:spLocks noGrp="1"/>
          </p:cNvSpPr>
          <p:nvPr/>
        </p:nvSpPr>
        <p:spPr>
          <a:xfrm>
            <a:off x="9182100" y="7972425"/>
            <a:ext cx="47625" cy="361950"/>
          </a:xfrm>
          <a:prstGeom prst="rect">
            <a:avLst/>
          </a:prstGeom>
          <a:solidFill>
            <a:srgbClr val="EF7043"/>
          </a:solidFill>
          <a:ln w="0">
            <a:solidFill>
              <a:srgbClr val="EF704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mcp-trend-label-bg">
            <a:extLst>
              <a:ext uri="{FF2B5EF4-FFF2-40B4-BE49-F238E27FC236}">
                <a16:creationId xmlns:a16="http://schemas.microsoft.com/office/drawing/2014/main" id="{7E6F2D82-3765-4194-A9B1-DBE6DEDE533E}"/>
              </a:ext>
            </a:extLst>
          </p:cNvPr>
          <p:cNvSpPr>
            <a:spLocks noGrp="1"/>
          </p:cNvSpPr>
          <p:nvPr/>
        </p:nvSpPr>
        <p:spPr>
          <a:xfrm>
            <a:off x="9305925" y="8029575"/>
            <a:ext cx="876300" cy="247650"/>
          </a:xfrm>
          <a:prstGeom prst="roundRect">
            <a:avLst>
              <a:gd name="adj" fmla="val 0"/>
            </a:avLst>
          </a:prstGeom>
          <a:solidFill>
            <a:srgbClr val="FFF0E9"/>
          </a:solidFill>
          <a:ln w="0">
            <a:solidFill>
              <a:srgbClr val="FFF0E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mcp-trend-label">
            <a:extLst>
              <a:ext uri="{FF2B5EF4-FFF2-40B4-BE49-F238E27FC236}">
                <a16:creationId xmlns:a16="http://schemas.microsoft.com/office/drawing/2014/main" id="{09C95972-CB08-4CA2-8A5C-F6FA0EA91061}"/>
              </a:ext>
            </a:extLst>
          </p:cNvPr>
          <p:cNvSpPr>
            <a:spLocks noGrp="1"/>
          </p:cNvSpPr>
          <p:nvPr/>
        </p:nvSpPr>
        <p:spPr>
          <a:xfrm>
            <a:off x="9305925" y="8029575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7043"/>
                </a:solidFill>
                <a:latin typeface="Microsoft YaHei"/>
                <a:ea typeface="Microsoft YaHei"/>
                <a:cs typeface="Microsoft YaHei"/>
              </a:rPr>
              <a:t>MCP 趋势</a:t>
            </a:r>
          </a:p>
        </p:txBody>
      </p:sp>
      <p:sp>
        <p:nvSpPr>
          <p:cNvPr id="17" name="mcp-trend-sentence">
            <a:extLst>
              <a:ext uri="{FF2B5EF4-FFF2-40B4-BE49-F238E27FC236}">
                <a16:creationId xmlns:a16="http://schemas.microsoft.com/office/drawing/2014/main" id="{58E20B63-BA43-4F34-84A2-00337797AA9F}"/>
              </a:ext>
            </a:extLst>
          </p:cNvPr>
          <p:cNvSpPr>
            <a:spLocks noGrp="1"/>
          </p:cNvSpPr>
          <p:nvPr/>
        </p:nvSpPr>
        <p:spPr>
          <a:xfrm>
            <a:off x="10287000" y="8001000"/>
            <a:ext cx="546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/>
          </a:bodyPr>
          <a:lstStyle/>
          <a:p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Tool Search、渐进发现与按需加载避免一次性注入全部工具定义。</a:t>
            </a:r>
          </a:p>
        </p:txBody>
      </p:sp>
      <p:sp>
        <p:nvSpPr>
          <p:cNvPr id="18" name="mcp-trend-evidence">
            <a:extLst>
              <a:ext uri="{FF2B5EF4-FFF2-40B4-BE49-F238E27FC236}">
                <a16:creationId xmlns:a16="http://schemas.microsoft.com/office/drawing/2014/main" id="{A132E078-3F6B-4C17-ADA2-21BF158C4045}"/>
              </a:ext>
            </a:extLst>
          </p:cNvPr>
          <p:cNvSpPr>
            <a:spLocks noGrp="1"/>
          </p:cNvSpPr>
          <p:nvPr/>
        </p:nvSpPr>
        <p:spPr>
          <a:xfrm>
            <a:off x="15735300" y="8020050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Claude Code · MCP 官方</a:t>
            </a:r>
          </a:p>
        </p:txBody>
      </p:sp>
      <p:sp>
        <p:nvSpPr>
          <p:cNvPr id="19" name="overall-trend-surface">
            <a:extLst>
              <a:ext uri="{FF2B5EF4-FFF2-40B4-BE49-F238E27FC236}">
                <a16:creationId xmlns:a16="http://schemas.microsoft.com/office/drawing/2014/main" id="{641D4434-E070-49D4-9C44-351C9D7F0AFE}"/>
              </a:ext>
            </a:extLst>
          </p:cNvPr>
          <p:cNvSpPr>
            <a:spLocks noGrp="1"/>
          </p:cNvSpPr>
          <p:nvPr/>
        </p:nvSpPr>
        <p:spPr>
          <a:xfrm>
            <a:off x="9182100" y="8382000"/>
            <a:ext cx="8724900" cy="3619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50505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overall-trend-edge">
            <a:extLst>
              <a:ext uri="{FF2B5EF4-FFF2-40B4-BE49-F238E27FC236}">
                <a16:creationId xmlns:a16="http://schemas.microsoft.com/office/drawing/2014/main" id="{9319E973-9EC7-4D43-BF12-03497BCCCC67}"/>
              </a:ext>
            </a:extLst>
          </p:cNvPr>
          <p:cNvSpPr>
            <a:spLocks noGrp="1"/>
          </p:cNvSpPr>
          <p:nvPr/>
        </p:nvSpPr>
        <p:spPr>
          <a:xfrm>
            <a:off x="9182100" y="8382000"/>
            <a:ext cx="47625" cy="361950"/>
          </a:xfrm>
          <a:prstGeom prst="rect">
            <a:avLst/>
          </a:prstGeom>
          <a:solidFill>
            <a:srgbClr val="19324C"/>
          </a:solidFill>
          <a:ln w="0">
            <a:solidFill>
              <a:srgbClr val="1932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erall-trend-label-bg">
            <a:extLst>
              <a:ext uri="{FF2B5EF4-FFF2-40B4-BE49-F238E27FC236}">
                <a16:creationId xmlns:a16="http://schemas.microsoft.com/office/drawing/2014/main" id="{F33FFD3F-2309-41F6-9495-A5F843CDFECF}"/>
              </a:ext>
            </a:extLst>
          </p:cNvPr>
          <p:cNvSpPr>
            <a:spLocks noGrp="1"/>
          </p:cNvSpPr>
          <p:nvPr/>
        </p:nvSpPr>
        <p:spPr>
          <a:xfrm>
            <a:off x="9305925" y="8439150"/>
            <a:ext cx="876300" cy="247650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 w="0">
            <a:solidFill>
              <a:srgbClr val="D9D9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overall-trend-label">
            <a:extLst>
              <a:ext uri="{FF2B5EF4-FFF2-40B4-BE49-F238E27FC236}">
                <a16:creationId xmlns:a16="http://schemas.microsoft.com/office/drawing/2014/main" id="{4657B609-2E67-4516-BC64-A30D54982403}"/>
              </a:ext>
            </a:extLst>
          </p:cNvPr>
          <p:cNvSpPr>
            <a:spLocks noGrp="1"/>
          </p:cNvSpPr>
          <p:nvPr/>
        </p:nvSpPr>
        <p:spPr>
          <a:xfrm>
            <a:off x="9305925" y="84391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9324C"/>
                </a:solidFill>
                <a:latin typeface="Microsoft YaHei"/>
                <a:ea typeface="Microsoft YaHei"/>
                <a:cs typeface="Microsoft YaHei"/>
              </a:rPr>
              <a:t>整体趋势</a:t>
            </a:r>
          </a:p>
        </p:txBody>
      </p:sp>
      <p:sp>
        <p:nvSpPr>
          <p:cNvPr id="23" name="overall-trend-sentence">
            <a:extLst>
              <a:ext uri="{FF2B5EF4-FFF2-40B4-BE49-F238E27FC236}">
                <a16:creationId xmlns:a16="http://schemas.microsoft.com/office/drawing/2014/main" id="{4504F17C-06F9-4C93-95C2-6301C6FC3852}"/>
              </a:ext>
            </a:extLst>
          </p:cNvPr>
          <p:cNvSpPr>
            <a:spLocks noGrp="1"/>
          </p:cNvSpPr>
          <p:nvPr/>
        </p:nvSpPr>
        <p:spPr>
          <a:xfrm>
            <a:off x="10287000" y="8410575"/>
            <a:ext cx="546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rmAutofit/>
          </a:bodyPr>
          <a:lstStyle/>
          <a:p>
            <a:pPr algn="l">
              <a:buNone/>
              <a:def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主流终端 Agent 同时保留 CLI 与 MCP，并按任务边界组合使用。</a:t>
            </a:r>
          </a:p>
        </p:txBody>
      </p:sp>
      <p:sp>
        <p:nvSpPr>
          <p:cNvPr id="24" name="overall-trend-evidence">
            <a:extLst>
              <a:ext uri="{FF2B5EF4-FFF2-40B4-BE49-F238E27FC236}">
                <a16:creationId xmlns:a16="http://schemas.microsoft.com/office/drawing/2014/main" id="{F60E88DC-5760-4240-834E-45361E74D90F}"/>
              </a:ext>
            </a:extLst>
          </p:cNvPr>
          <p:cNvSpPr>
            <a:spLocks noGrp="1"/>
          </p:cNvSpPr>
          <p:nvPr/>
        </p:nvSpPr>
        <p:spPr>
          <a:xfrm>
            <a:off x="15735300" y="8429625"/>
            <a:ext cx="2019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rmAutofit/>
          </a:bodyPr>
          <a:lstStyle/>
          <a:p>
            <a:pPr algn="r">
              <a:buNone/>
              <a:def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5768A"/>
                </a:solidFill>
                <a:latin typeface="Microsoft YaHei"/>
                <a:ea typeface="Microsoft YaHei"/>
                <a:cs typeface="Microsoft YaHei"/>
              </a:rPr>
              <a:t>Thoughtworks · Caution</a:t>
            </a:r>
          </a:p>
        </p:txBody>
      </p:sp>
      <p:sp>
        <p:nvSpPr>
          <p:cNvPr id="29" name="stage-01-title-mask">
            <a:extLst>
              <a:ext uri="{FF2B5EF4-FFF2-40B4-BE49-F238E27FC236}">
                <a16:creationId xmlns:a16="http://schemas.microsoft.com/office/drawing/2014/main" id="{DFE845DA-846C-4708-B316-5A9730235800}"/>
              </a:ext>
            </a:extLst>
          </p:cNvPr>
          <p:cNvSpPr>
            <a:spLocks noGrp="1"/>
          </p:cNvSpPr>
          <p:nvPr/>
        </p:nvSpPr>
        <p:spPr>
          <a:xfrm>
            <a:off x="1000125" y="2409825"/>
            <a:ext cx="2362200" cy="40957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tage-01-title-coding-collaboration">
            <a:extLst>
              <a:ext uri="{FF2B5EF4-FFF2-40B4-BE49-F238E27FC236}">
                <a16:creationId xmlns:a16="http://schemas.microsoft.com/office/drawing/2014/main" id="{43A9E564-925E-477E-A644-A046CC7015AC}"/>
              </a:ext>
            </a:extLst>
          </p:cNvPr>
          <p:cNvSpPr>
            <a:spLocks noGrp="1"/>
          </p:cNvSpPr>
          <p:nvPr/>
        </p:nvSpPr>
        <p:spPr>
          <a:xfrm>
            <a:off x="1047750" y="2419350"/>
            <a:ext cx="2266950" cy="390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编码与协同</a:t>
            </a:r>
          </a:p>
        </p:txBody>
      </p:sp>
      <p:sp>
        <p:nvSpPr>
          <p:cNvPr id="31" name="insight-label-background">
            <a:extLst>
              <a:ext uri="{FF2B5EF4-FFF2-40B4-BE49-F238E27FC236}">
                <a16:creationId xmlns:a16="http://schemas.microsoft.com/office/drawing/2014/main" id="{20C35E31-4B92-46CB-9D65-F1CC98382E7C}"/>
              </a:ext>
            </a:extLst>
          </p:cNvPr>
          <p:cNvSpPr>
            <a:spLocks noGrp="1"/>
          </p:cNvSpPr>
          <p:nvPr/>
        </p:nvSpPr>
        <p:spPr>
          <a:xfrm>
            <a:off x="381000" y="9001125"/>
            <a:ext cx="1028700" cy="763905"/>
          </a:xfrm>
          <a:prstGeom prst="rect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insight-label">
            <a:extLst>
              <a:ext uri="{FF2B5EF4-FFF2-40B4-BE49-F238E27FC236}">
                <a16:creationId xmlns:a16="http://schemas.microsoft.com/office/drawing/2014/main" id="{004D1992-8C24-4B18-97D7-5F9B41C09133}"/>
              </a:ext>
            </a:extLst>
          </p:cNvPr>
          <p:cNvSpPr>
            <a:spLocks noGrp="1"/>
          </p:cNvSpPr>
          <p:nvPr/>
        </p:nvSpPr>
        <p:spPr>
          <a:xfrm>
            <a:off x="381000" y="8948737"/>
            <a:ext cx="1028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76200" rIns="76200" bIns="76200" anchor="ctr">
            <a:normAutofit/>
          </a:bodyPr>
          <a:lstStyle/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洞察</a:t>
            </a:r>
            <a:endParaRPr sz="20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启示</a:t>
            </a:r>
            <a:endParaRPr sz="20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insight-body">
            <a:extLst>
              <a:ext uri="{FF2B5EF4-FFF2-40B4-BE49-F238E27FC236}">
                <a16:creationId xmlns:a16="http://schemas.microsoft.com/office/drawing/2014/main" id="{F4EF1F8A-3A1B-4C3A-AB1F-B2E7FA2340D7}"/>
              </a:ext>
            </a:extLst>
          </p:cNvPr>
          <p:cNvSpPr>
            <a:spLocks noGrp="1"/>
          </p:cNvSpPr>
          <p:nvPr/>
        </p:nvSpPr>
        <p:spPr>
          <a:xfrm>
            <a:off x="1600200" y="8917305"/>
            <a:ext cx="16230600" cy="847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38100" rIns="95250" bIns="38100" anchor="ctr">
            <a:normAutofit/>
          </a:bodyPr>
          <a:lstStyle/>
          <a:p>
            <a:pPr>
              <a:lnSpc>
                <a:spcPct val="150000"/>
              </a:lnSpc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已有成熟命令，任务依赖本地文件、进程、管道或完整执行语义时，优先使用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CLI；通过结构化输出与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Skill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封装提升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Agent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调用稳定性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>
              <a:lnSpc>
                <a:spcPct val="150000"/>
              </a:lnSpc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Agent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需要在运行时查找工具、获取调用参数，并由平台统一控制权限时，优先使用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MCP；通过渐进式发现与按需加载降低上下文开销</a:t>
            </a:r>
            <a:r>
              <a:rPr sz="1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966677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Macintosh PowerPoint</Application>
  <DocSecurity>0</DocSecurity>
  <PresentationFormat>自定义</PresentationFormat>
  <Paragraphs>88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Zhu Jiayi</cp:lastModifiedBy>
  <cp:revision>1</cp:revision>
  <dcterms:created xsi:type="dcterms:W3CDTF">2026-07-28T15:43:14Z</dcterms:created>
  <dcterms:modified xsi:type="dcterms:W3CDTF">2026-07-29T01:12:33Z</dcterms:modified>
</cp:coreProperties>
</file>