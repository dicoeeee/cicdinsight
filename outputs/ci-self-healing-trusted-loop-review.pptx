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lnSpc>
                <a:spcPct val="90000"/>
              </a:lnSpc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F17C6EE-2B96-4EFF-8A6D-D3D57AF80BF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CICDInsight CI/CD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自愈深度洞察报告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as_of 2026-07-15: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/Users/zhujiayi/personal/02_knowledge/03_cicdInsight/50_deepdives/cicd-self-healing/90_report.md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CICDInsight CI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自愈单页汇报研究稿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as_of 2026-07-24: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/Users/zhujiayi/personal/02_knowledge/03_cicdInsight/50_deepdives/cicd-self-healing/presentation-page-research-2026-07-24.md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GitHub CI Doctor: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https://github.github.com/gh-aw/blog/2026-01-13-meet-the-workflows-quality-hygiene/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GitLab Fix CI/CD Pipeline Flow: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https://docs.gitlab.com/user/duo_agent_platform/flows/foundational_flows/fix_pipeline/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CircleCI Chunk: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https://circleci.com/docs/guides/toolkit/chunk-setup-and-overview/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Harness Autonomous Worker Agents / CI Autofix: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https://www.harness.io/blog/introducing-autonomous-worker-agents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Nx Cloud Self-Healing CI: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https://nx.dev/docs/features/ci-features/self-healing-ci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Snyk Agent Fix: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https://snyk.io/blog/snyk-agent-fix-agentic-architecture/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CI-Repair-Bench: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https://arxiv.org/abs/2604.27148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[Status and boundaries]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GitLab Fix CI/CD Pipeline Flow: GA.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CircleCI Chunk: Beta.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GitHub Agentic Workflows: Technical Preview; CI Doctor is an official reference workflow, not a standalone GA product.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Harness Worker Agents: publicly released and described as available; official source does not label GA/Beta.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Nx Self-Healing CI: commercially available; current official page does not label GA/Beta.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Vendor mechanisms do not prove cross-customer repair quality.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Full-CI green does not prove long-term business correctness.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[Analytical interpretation]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The six-stage flow, stage-to-product mapping, and three bottom insights are the author's synthesis from the sources above.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lnSpc>
                <a:spcPct val="90000"/>
              </a:lnSpc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533520" y="304920"/>
            <a:ext cx="1112472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CI </a:t>
            </a:r>
            <a:r>
              <a:rPr lang="zh-CN" sz="36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自愈：从失败分类到有界写回的可信闭环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rule-56-99"/>
          <p:cNvSpPr/>
          <p:nvPr/>
        </p:nvSpPr>
        <p:spPr>
          <a:xfrm>
            <a:off x="533160" y="942840"/>
            <a:ext cx="11125440" cy="360"/>
          </a:xfrm>
          <a:prstGeom prst="line">
            <a:avLst/>
          </a:prstGeom>
          <a:ln w="28575">
            <a:solidFill>
              <a:srgbClr val="255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flow-label"/>
          <p:cNvSpPr/>
          <p:nvPr/>
        </p:nvSpPr>
        <p:spPr>
          <a:xfrm>
            <a:off x="533520" y="1066680"/>
            <a:ext cx="1809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600" b="1" u="none" strike="noStrike">
                <a:solidFill>
                  <a:srgbClr val="2558D9"/>
                </a:solidFill>
                <a:effectLst/>
                <a:uFillTx/>
                <a:latin typeface="Microsoft YaHei"/>
                <a:ea typeface="Microsoft YaHei"/>
              </a:rPr>
              <a:t>完整技术流程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tage-box-1"/>
          <p:cNvSpPr/>
          <p:nvPr/>
        </p:nvSpPr>
        <p:spPr>
          <a:xfrm>
            <a:off x="533520" y="1362240"/>
            <a:ext cx="1758600" cy="1028520"/>
          </a:xfrm>
          <a:prstGeom prst="roundRect">
            <a:avLst>
              <a:gd name="adj" fmla="val 11111"/>
            </a:avLst>
          </a:prstGeom>
          <a:solidFill>
            <a:srgbClr val="EDF1F6"/>
          </a:solidFill>
          <a:ln w="9525">
            <a:solidFill>
              <a:srgbClr val="60708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tage-box-2"/>
          <p:cNvSpPr/>
          <p:nvPr/>
        </p:nvSpPr>
        <p:spPr>
          <a:xfrm>
            <a:off x="2406600" y="1362240"/>
            <a:ext cx="1758600" cy="1028520"/>
          </a:xfrm>
          <a:prstGeom prst="roundRect">
            <a:avLst>
              <a:gd name="adj" fmla="val 11111"/>
            </a:avLst>
          </a:prstGeom>
          <a:solidFill>
            <a:srgbClr val="EAF0FF"/>
          </a:solidFill>
          <a:ln w="19050">
            <a:solidFill>
              <a:srgbClr val="255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tage-box-3"/>
          <p:cNvSpPr/>
          <p:nvPr/>
        </p:nvSpPr>
        <p:spPr>
          <a:xfrm>
            <a:off x="4280040" y="1362240"/>
            <a:ext cx="1758600" cy="1028520"/>
          </a:xfrm>
          <a:prstGeom prst="roundRect">
            <a:avLst>
              <a:gd name="adj" fmla="val 11111"/>
            </a:avLst>
          </a:prstGeom>
          <a:solidFill>
            <a:srgbClr val="FFF0E6"/>
          </a:solidFill>
          <a:ln w="9525">
            <a:solidFill>
              <a:srgbClr val="D96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tage-box-4"/>
          <p:cNvSpPr/>
          <p:nvPr/>
        </p:nvSpPr>
        <p:spPr>
          <a:xfrm>
            <a:off x="6153120" y="1362240"/>
            <a:ext cx="1758600" cy="1028520"/>
          </a:xfrm>
          <a:prstGeom prst="roundRect">
            <a:avLst>
              <a:gd name="adj" fmla="val 11111"/>
            </a:avLst>
          </a:prstGeom>
          <a:solidFill>
            <a:srgbClr val="E6F5F1"/>
          </a:solidFill>
          <a:ln w="19050">
            <a:solidFill>
              <a:srgbClr val="1C7C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tage-box-5"/>
          <p:cNvSpPr/>
          <p:nvPr/>
        </p:nvSpPr>
        <p:spPr>
          <a:xfrm>
            <a:off x="8026560" y="1362240"/>
            <a:ext cx="1758600" cy="1028520"/>
          </a:xfrm>
          <a:prstGeom prst="roundRect">
            <a:avLst>
              <a:gd name="adj" fmla="val 11111"/>
            </a:avLst>
          </a:prstGeom>
          <a:solidFill>
            <a:srgbClr val="EAF0FF"/>
          </a:solidFill>
          <a:ln w="9525">
            <a:solidFill>
              <a:srgbClr val="255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tage-box-6"/>
          <p:cNvSpPr/>
          <p:nvPr/>
        </p:nvSpPr>
        <p:spPr>
          <a:xfrm>
            <a:off x="9899640" y="1362240"/>
            <a:ext cx="1758600" cy="1028520"/>
          </a:xfrm>
          <a:prstGeom prst="roundRect">
            <a:avLst>
              <a:gd name="adj" fmla="val 11111"/>
            </a:avLst>
          </a:prstGeom>
          <a:solidFill>
            <a:srgbClr val="EDF1F6"/>
          </a:solidFill>
          <a:ln w="9525">
            <a:solidFill>
              <a:srgbClr val="60708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" name=""/>
          <p:cNvCxnSpPr>
            <a:stCxn id="13" idx="3"/>
            <a:endCxn id="14" idx="1"/>
          </p:cNvCxnSpPr>
          <p:nvPr/>
        </p:nvCxnSpPr>
        <p:spPr>
          <a:xfrm>
            <a:off x="2292120" y="1876680"/>
            <a:ext cx="114840" cy="360"/>
          </a:xfrm>
          <a:prstGeom prst="straightConnector1">
            <a:avLst/>
          </a:prstGeom>
          <a:ln w="19050">
            <a:solidFill>
              <a:srgbClr val="2558D9"/>
            </a:solidFill>
            <a:round/>
            <a:tailEnd len="sm" type="triangle" w="sm"/>
          </a:ln>
        </p:spPr>
      </p:cxnSp>
      <p:cxnSp>
        <p:nvCxnSpPr>
          <p:cNvPr id="20" name=""/>
          <p:cNvCxnSpPr>
            <a:stCxn id="14" idx="3"/>
            <a:endCxn id="15" idx="1"/>
          </p:cNvCxnSpPr>
          <p:nvPr/>
        </p:nvCxnSpPr>
        <p:spPr>
          <a:xfrm>
            <a:off x="4165200" y="1876680"/>
            <a:ext cx="115200" cy="360"/>
          </a:xfrm>
          <a:prstGeom prst="straightConnector1">
            <a:avLst/>
          </a:prstGeom>
          <a:ln w="19050">
            <a:solidFill>
              <a:srgbClr val="2558D9"/>
            </a:solidFill>
            <a:round/>
            <a:tailEnd len="sm" type="triangle" w="sm"/>
          </a:ln>
        </p:spPr>
      </p:cxnSp>
      <p:cxnSp>
        <p:nvCxnSpPr>
          <p:cNvPr id="21" name=""/>
          <p:cNvCxnSpPr>
            <a:stCxn id="15" idx="3"/>
            <a:endCxn id="16" idx="1"/>
          </p:cNvCxnSpPr>
          <p:nvPr/>
        </p:nvCxnSpPr>
        <p:spPr>
          <a:xfrm>
            <a:off x="6038640" y="1876680"/>
            <a:ext cx="114840" cy="360"/>
          </a:xfrm>
          <a:prstGeom prst="straightConnector1">
            <a:avLst/>
          </a:prstGeom>
          <a:ln w="19050">
            <a:solidFill>
              <a:srgbClr val="2558D9"/>
            </a:solidFill>
            <a:round/>
            <a:tailEnd len="sm" type="triangle" w="sm"/>
          </a:ln>
        </p:spPr>
      </p:cxnSp>
      <p:cxnSp>
        <p:nvCxnSpPr>
          <p:cNvPr id="22" name=""/>
          <p:cNvCxnSpPr>
            <a:stCxn id="16" idx="3"/>
            <a:endCxn id="17" idx="1"/>
          </p:cNvCxnSpPr>
          <p:nvPr/>
        </p:nvCxnSpPr>
        <p:spPr>
          <a:xfrm>
            <a:off x="7911720" y="1876680"/>
            <a:ext cx="115200" cy="360"/>
          </a:xfrm>
          <a:prstGeom prst="straightConnector1">
            <a:avLst/>
          </a:prstGeom>
          <a:ln w="19050">
            <a:solidFill>
              <a:srgbClr val="2558D9"/>
            </a:solidFill>
            <a:round/>
            <a:tailEnd len="sm" type="triangle" w="sm"/>
          </a:ln>
        </p:spPr>
      </p:cxnSp>
      <p:cxnSp>
        <p:nvCxnSpPr>
          <p:cNvPr id="23" name=""/>
          <p:cNvCxnSpPr>
            <a:stCxn id="17" idx="3"/>
            <a:endCxn id="18" idx="1"/>
          </p:cNvCxnSpPr>
          <p:nvPr/>
        </p:nvCxnSpPr>
        <p:spPr>
          <a:xfrm>
            <a:off x="9785160" y="1876680"/>
            <a:ext cx="114840" cy="360"/>
          </a:xfrm>
          <a:prstGeom prst="straightConnector1">
            <a:avLst/>
          </a:prstGeom>
          <a:ln w="19050">
            <a:solidFill>
              <a:srgbClr val="2558D9"/>
            </a:solidFill>
            <a:round/>
            <a:tailEnd len="sm" type="triangle" w="sm"/>
          </a:ln>
        </p:spPr>
      </p:cxnSp>
      <p:sp>
        <p:nvSpPr>
          <p:cNvPr id="24" name="stage-number-1"/>
          <p:cNvSpPr/>
          <p:nvPr/>
        </p:nvSpPr>
        <p:spPr>
          <a:xfrm>
            <a:off x="628560" y="1447920"/>
            <a:ext cx="3045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tage-title-1"/>
          <p:cNvSpPr/>
          <p:nvPr/>
        </p:nvSpPr>
        <p:spPr>
          <a:xfrm>
            <a:off x="704880" y="1438200"/>
            <a:ext cx="141552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8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失败事件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8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与证据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tage-detail-1"/>
          <p:cNvSpPr/>
          <p:nvPr/>
        </p:nvSpPr>
        <p:spPr>
          <a:xfrm>
            <a:off x="647640" y="1924200"/>
            <a:ext cx="1530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Run · SHA · Job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Log · Diff · History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tage-number-2"/>
          <p:cNvSpPr/>
          <p:nvPr/>
        </p:nvSpPr>
        <p:spPr>
          <a:xfrm>
            <a:off x="2502000" y="1447920"/>
            <a:ext cx="3045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58D9"/>
                </a:solidFill>
                <a:effectLst/>
                <a:uFillTx/>
                <a:latin typeface="Microsoft YaHei"/>
                <a:ea typeface="Microsoft YaHei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tage-title-2"/>
          <p:cNvSpPr/>
          <p:nvPr/>
        </p:nvSpPr>
        <p:spPr>
          <a:xfrm>
            <a:off x="2577960" y="1438200"/>
            <a:ext cx="141552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8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分类路由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tage-detail-2"/>
          <p:cNvSpPr/>
          <p:nvPr/>
        </p:nvSpPr>
        <p:spPr>
          <a:xfrm>
            <a:off x="2521080" y="1924200"/>
            <a:ext cx="1530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瞬态 → 快环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代码 → 慢环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Unknown → </a:t>
            </a:r>
            <a:r>
              <a:rPr lang="zh-CN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接管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tage-number-3"/>
          <p:cNvSpPr/>
          <p:nvPr/>
        </p:nvSpPr>
        <p:spPr>
          <a:xfrm>
            <a:off x="4375080" y="1447920"/>
            <a:ext cx="3045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D96A24"/>
                </a:solidFill>
                <a:effectLst/>
                <a:uFillTx/>
                <a:latin typeface="Microsoft YaHei"/>
                <a:ea typeface="Microsoft YaHei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tage-title-3"/>
          <p:cNvSpPr/>
          <p:nvPr/>
        </p:nvSpPr>
        <p:spPr>
          <a:xfrm>
            <a:off x="4451400" y="1438200"/>
            <a:ext cx="141552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8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定位与修复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tage-detail-3"/>
          <p:cNvSpPr/>
          <p:nvPr/>
        </p:nvSpPr>
        <p:spPr>
          <a:xfrm>
            <a:off x="4394160" y="1924200"/>
            <a:ext cx="1530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复现 </a:t>
            </a:r>
            <a:r>
              <a:rPr lang="en-US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假设 </a:t>
            </a:r>
            <a:r>
              <a:rPr lang="en-US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反证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zh-CN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确定性修复优先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tage-number-4"/>
          <p:cNvSpPr/>
          <p:nvPr/>
        </p:nvSpPr>
        <p:spPr>
          <a:xfrm>
            <a:off x="6248520" y="1447920"/>
            <a:ext cx="3045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C7C67"/>
                </a:solidFill>
                <a:effectLst/>
                <a:uFillTx/>
                <a:latin typeface="Microsoft YaHei"/>
                <a:ea typeface="Microsoft YaHei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tage-title-4"/>
          <p:cNvSpPr/>
          <p:nvPr/>
        </p:nvSpPr>
        <p:spPr>
          <a:xfrm>
            <a:off x="6324480" y="1438200"/>
            <a:ext cx="141552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8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独立验证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tage-detail-4"/>
          <p:cNvSpPr/>
          <p:nvPr/>
        </p:nvSpPr>
        <p:spPr>
          <a:xfrm>
            <a:off x="6267600" y="1924200"/>
            <a:ext cx="1530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原失败 </a:t>
            </a:r>
            <a:r>
              <a:rPr lang="en-US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Task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+ </a:t>
            </a:r>
            <a:r>
              <a:rPr lang="zh-CN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完整 </a:t>
            </a:r>
            <a:r>
              <a:rPr lang="en-US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Required Checks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tage-number-5"/>
          <p:cNvSpPr/>
          <p:nvPr/>
        </p:nvSpPr>
        <p:spPr>
          <a:xfrm>
            <a:off x="8121600" y="1447920"/>
            <a:ext cx="3045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558D9"/>
                </a:solidFill>
                <a:effectLst/>
                <a:uFillTx/>
                <a:latin typeface="Microsoft YaHei"/>
                <a:ea typeface="Microsoft YaHei"/>
              </a:rPr>
              <a:t>05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tage-title-5"/>
          <p:cNvSpPr/>
          <p:nvPr/>
        </p:nvSpPr>
        <p:spPr>
          <a:xfrm>
            <a:off x="8197920" y="1438200"/>
            <a:ext cx="141552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8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放行与写回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tage-detail-5"/>
          <p:cNvSpPr/>
          <p:nvPr/>
        </p:nvSpPr>
        <p:spPr>
          <a:xfrm>
            <a:off x="8140680" y="1924200"/>
            <a:ext cx="1530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Task Pattern · Policy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PR Branch · Scoped Token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tage-number-6"/>
          <p:cNvSpPr/>
          <p:nvPr/>
        </p:nvSpPr>
        <p:spPr>
          <a:xfrm>
            <a:off x="9995040" y="1447920"/>
            <a:ext cx="30456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06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tage-title-6"/>
          <p:cNvSpPr/>
          <p:nvPr/>
        </p:nvSpPr>
        <p:spPr>
          <a:xfrm>
            <a:off x="10071000" y="1438200"/>
            <a:ext cx="1415520" cy="4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zh-CN" sz="18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观察与学习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tage-detail-6"/>
          <p:cNvSpPr/>
          <p:nvPr/>
        </p:nvSpPr>
        <p:spPr>
          <a:xfrm>
            <a:off x="10014120" y="1924200"/>
            <a:ext cx="15300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Re-run · Revert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Max Turns · </a:t>
            </a:r>
            <a:r>
              <a:rPr lang="zh-CN" sz="12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复发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mapping-label"/>
          <p:cNvSpPr/>
          <p:nvPr/>
        </p:nvSpPr>
        <p:spPr>
          <a:xfrm>
            <a:off x="533520" y="2562120"/>
            <a:ext cx="342864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600" b="1" u="none" strike="noStrike">
                <a:solidFill>
                  <a:srgbClr val="2558D9"/>
                </a:solidFill>
                <a:effectLst/>
                <a:uFillTx/>
                <a:latin typeface="Microsoft YaHei"/>
                <a:ea typeface="Microsoft YaHei"/>
              </a:rPr>
              <a:t>各阶段的代表方案与技术点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tatus-legend"/>
          <p:cNvSpPr/>
          <p:nvPr/>
        </p:nvSpPr>
        <p:spPr>
          <a:xfrm>
            <a:off x="5238720" y="2590920"/>
            <a:ext cx="641952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zh-CN" sz="101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状态：</a:t>
            </a:r>
            <a:r>
              <a:rPr lang="en-US" sz="101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GitLab GA · CircleCI Beta · GitHub Agentic Workflows TP · Harness / Nx </a:t>
            </a:r>
            <a:r>
              <a:rPr lang="zh-CN" sz="101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官方未标 </a:t>
            </a:r>
            <a:r>
              <a:rPr lang="en-US" sz="101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GA/Beta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rule-56-302"/>
          <p:cNvSpPr/>
          <p:nvPr/>
        </p:nvSpPr>
        <p:spPr>
          <a:xfrm>
            <a:off x="533160" y="2876400"/>
            <a:ext cx="1758960" cy="360"/>
          </a:xfrm>
          <a:prstGeom prst="line">
            <a:avLst/>
          </a:prstGeom>
          <a:ln w="28575">
            <a:solidFill>
              <a:srgbClr val="60708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roduct-map-1"/>
          <p:cNvSpPr/>
          <p:nvPr/>
        </p:nvSpPr>
        <p:spPr>
          <a:xfrm>
            <a:off x="533520" y="2943360"/>
            <a:ext cx="1758600" cy="17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19080" bIns="0" anchor="t">
            <a:noAutofit/>
          </a:bodyPr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GitHub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日志 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+ 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相似历史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CircleCI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跨运行 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Build / Test 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历史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Nx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Project Graph + Task 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元数据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vrule-246.66666666666666-307"/>
          <p:cNvSpPr/>
          <p:nvPr/>
        </p:nvSpPr>
        <p:spPr>
          <a:xfrm>
            <a:off x="2349360" y="2923920"/>
            <a:ext cx="360" cy="1762200"/>
          </a:xfrm>
          <a:prstGeom prst="line">
            <a:avLst/>
          </a:prstGeom>
          <a:ln w="9525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ule-252.66666666666666-302"/>
          <p:cNvSpPr/>
          <p:nvPr/>
        </p:nvSpPr>
        <p:spPr>
          <a:xfrm>
            <a:off x="2406600" y="2876400"/>
            <a:ext cx="1758960" cy="360"/>
          </a:xfrm>
          <a:prstGeom prst="line">
            <a:avLst/>
          </a:prstGeom>
          <a:ln w="28575">
            <a:solidFill>
              <a:srgbClr val="255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roduct-map-2"/>
          <p:cNvSpPr/>
          <p:nvPr/>
        </p:nvSpPr>
        <p:spPr>
          <a:xfrm>
            <a:off x="2406600" y="2943360"/>
            <a:ext cx="1758600" cy="17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19080" bIns="0" anchor="t">
            <a:noAutofit/>
          </a:bodyPr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GitHub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Code / Infra / Flaky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CircleCI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瞬态重跑 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/ 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代码修复分流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GitLab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证据不足则停止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vrule-443.3333333333333-307"/>
          <p:cNvSpPr/>
          <p:nvPr/>
        </p:nvSpPr>
        <p:spPr>
          <a:xfrm>
            <a:off x="4222440" y="2923920"/>
            <a:ext cx="360" cy="1762200"/>
          </a:xfrm>
          <a:prstGeom prst="line">
            <a:avLst/>
          </a:prstGeom>
          <a:ln w="9525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ule-449.3333333333333-302"/>
          <p:cNvSpPr/>
          <p:nvPr/>
        </p:nvSpPr>
        <p:spPr>
          <a:xfrm>
            <a:off x="4279680" y="2876400"/>
            <a:ext cx="1758960" cy="360"/>
          </a:xfrm>
          <a:prstGeom prst="line">
            <a:avLst/>
          </a:prstGeom>
          <a:ln w="28575">
            <a:solidFill>
              <a:srgbClr val="D96A2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roduct-map-3"/>
          <p:cNvSpPr/>
          <p:nvPr/>
        </p:nvSpPr>
        <p:spPr>
          <a:xfrm>
            <a:off x="4280040" y="2943360"/>
            <a:ext cx="1758600" cy="17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19080" bIns="0" anchor="t">
            <a:noAutofit/>
          </a:bodyPr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GitLab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Suggestion 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或新 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MR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Harness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双 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定位与修复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CircleCI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目标修复 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+ Draft PR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vrule-640-307"/>
          <p:cNvSpPr/>
          <p:nvPr/>
        </p:nvSpPr>
        <p:spPr>
          <a:xfrm>
            <a:off x="6095880" y="2923920"/>
            <a:ext cx="360" cy="1762200"/>
          </a:xfrm>
          <a:prstGeom prst="line">
            <a:avLst/>
          </a:prstGeom>
          <a:ln w="9525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rule-646-302"/>
          <p:cNvSpPr/>
          <p:nvPr/>
        </p:nvSpPr>
        <p:spPr>
          <a:xfrm>
            <a:off x="6153120" y="2876400"/>
            <a:ext cx="1758960" cy="360"/>
          </a:xfrm>
          <a:prstGeom prst="line">
            <a:avLst/>
          </a:prstGeom>
          <a:ln w="28575">
            <a:solidFill>
              <a:srgbClr val="1C7C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roduct-map-4"/>
          <p:cNvSpPr/>
          <p:nvPr/>
        </p:nvSpPr>
        <p:spPr>
          <a:xfrm>
            <a:off x="6153120" y="2943360"/>
            <a:ext cx="1758600" cy="17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19080" bIns="0" anchor="t">
            <a:noAutofit/>
          </a:bodyPr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Nx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失败 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Task 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复验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Snyk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Analyzer 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夹住 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Agent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Harness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Build 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重跑 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/ Max Turns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vrule-836.6666666666666-307"/>
          <p:cNvSpPr/>
          <p:nvPr/>
        </p:nvSpPr>
        <p:spPr>
          <a:xfrm>
            <a:off x="7968960" y="2923920"/>
            <a:ext cx="360" cy="1762200"/>
          </a:xfrm>
          <a:prstGeom prst="line">
            <a:avLst/>
          </a:prstGeom>
          <a:ln w="9525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ule-842.6666666666666-302"/>
          <p:cNvSpPr/>
          <p:nvPr/>
        </p:nvSpPr>
        <p:spPr>
          <a:xfrm>
            <a:off x="8026200" y="2876400"/>
            <a:ext cx="1758960" cy="360"/>
          </a:xfrm>
          <a:prstGeom prst="line">
            <a:avLst/>
          </a:prstGeom>
          <a:ln w="28575">
            <a:solidFill>
              <a:srgbClr val="255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roduct-map-5"/>
          <p:cNvSpPr/>
          <p:nvPr/>
        </p:nvSpPr>
        <p:spPr>
          <a:xfrm>
            <a:off x="8026560" y="2943360"/>
            <a:ext cx="1758600" cy="17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19080" bIns="0" anchor="t">
            <a:noAutofit/>
          </a:bodyPr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Nx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Task Pattern / Protected Branch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Harness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Scoped Token / OPA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GitHub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Safe Output 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分权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vrule-1033.3333333333333-307"/>
          <p:cNvSpPr/>
          <p:nvPr/>
        </p:nvSpPr>
        <p:spPr>
          <a:xfrm>
            <a:off x="9842400" y="2923920"/>
            <a:ext cx="360" cy="1762200"/>
          </a:xfrm>
          <a:prstGeom prst="line">
            <a:avLst/>
          </a:prstGeom>
          <a:ln w="9525">
            <a:solidFill>
              <a:srgbClr val="D7DF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ule-1039.3333333333333-302"/>
          <p:cNvSpPr/>
          <p:nvPr/>
        </p:nvSpPr>
        <p:spPr>
          <a:xfrm>
            <a:off x="9899640" y="2876400"/>
            <a:ext cx="1758960" cy="360"/>
          </a:xfrm>
          <a:prstGeom prst="line">
            <a:avLst/>
          </a:prstGeom>
          <a:ln w="28575">
            <a:solidFill>
              <a:srgbClr val="60708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roduct-map-6"/>
          <p:cNvSpPr/>
          <p:nvPr/>
        </p:nvSpPr>
        <p:spPr>
          <a:xfrm>
            <a:off x="9899640" y="2943360"/>
            <a:ext cx="1758600" cy="179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19080" bIns="0" anchor="t">
            <a:noAutofit/>
          </a:bodyPr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Nx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Revert 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与扩围建议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GitHub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zh-CN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历史模式沉淀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3"/>
              </a:spcAft>
              <a:tabLst>
                <a:tab pos="0" algn="l"/>
              </a:tabLst>
            </a:pPr>
            <a:r>
              <a:rPr lang="en-US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CircleCI</a:t>
            </a:r>
            <a:r>
              <a:rPr lang="zh-CN" sz="1600" b="1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｜</a:t>
            </a:r>
            <a:r>
              <a:rPr lang="en-US" sz="16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Pipeline History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insight-band"/>
          <p:cNvSpPr/>
          <p:nvPr/>
        </p:nvSpPr>
        <p:spPr>
          <a:xfrm>
            <a:off x="533520" y="4943520"/>
            <a:ext cx="11124720" cy="1257120"/>
          </a:xfrm>
          <a:prstGeom prst="roundRect">
            <a:avLst>
              <a:gd name="adj" fmla="val 7576"/>
            </a:avLst>
          </a:prstGeom>
          <a:solidFill>
            <a:srgbClr val="EAF0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vrule-70-534"/>
          <p:cNvSpPr/>
          <p:nvPr/>
        </p:nvSpPr>
        <p:spPr>
          <a:xfrm>
            <a:off x="666720" y="5086080"/>
            <a:ext cx="360" cy="962280"/>
          </a:xfrm>
          <a:prstGeom prst="line">
            <a:avLst/>
          </a:prstGeom>
          <a:ln w="38100">
            <a:solidFill>
              <a:srgbClr val="255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insight-label"/>
          <p:cNvSpPr/>
          <p:nvPr/>
        </p:nvSpPr>
        <p:spPr>
          <a:xfrm>
            <a:off x="819000" y="5057640"/>
            <a:ext cx="110448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1350" b="1" u="none" strike="noStrike">
                <a:solidFill>
                  <a:srgbClr val="2558D9"/>
                </a:solidFill>
                <a:effectLst/>
                <a:uFillTx/>
                <a:latin typeface="Microsoft YaHei"/>
                <a:ea typeface="Microsoft YaHei"/>
              </a:rPr>
              <a:t>三条启示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bottom-insights"/>
          <p:cNvSpPr/>
          <p:nvPr/>
        </p:nvSpPr>
        <p:spPr>
          <a:xfrm>
            <a:off x="1971720" y="5029200"/>
            <a:ext cx="9467640" cy="10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00000"/>
              </a:lnSpc>
              <a:spcAft>
                <a:spcPts val="6"/>
              </a:spcAft>
            </a:pPr>
            <a:r>
              <a:rPr lang="en-US" sz="16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① CI </a:t>
            </a:r>
            <a:r>
              <a:rPr lang="zh-CN" sz="16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自愈的分水岭，是独立复验后的有界写回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6"/>
              </a:spcAft>
            </a:pPr>
            <a:r>
              <a:rPr lang="en-US" sz="16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② 失败分类比修复 </a:t>
            </a:r>
            <a:r>
              <a:rPr lang="en-US" sz="16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Agent </a:t>
            </a:r>
            <a:r>
              <a:rPr lang="zh-CN" sz="16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更决定自愈质量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③ CI </a:t>
            </a:r>
            <a:r>
              <a:rPr lang="zh-CN" sz="16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自愈的竞争优势来自“上下文 </a:t>
            </a:r>
            <a:r>
              <a:rPr lang="en-US" sz="16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× </a:t>
            </a:r>
            <a:r>
              <a:rPr lang="zh-CN" sz="1600" b="1" u="none" strike="noStrike">
                <a:solidFill>
                  <a:srgbClr val="132238"/>
                </a:solidFill>
                <a:effectLst/>
                <a:uFillTx/>
                <a:latin typeface="Microsoft YaHei"/>
                <a:ea typeface="Microsoft YaHei"/>
              </a:rPr>
              <a:t>控制面”，而非单一模型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ource-footer"/>
          <p:cNvSpPr/>
          <p:nvPr/>
        </p:nvSpPr>
        <p:spPr>
          <a:xfrm>
            <a:off x="533520" y="6438960"/>
            <a:ext cx="11124720" cy="17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00000"/>
              </a:lnSpc>
            </a:pPr>
            <a:r>
              <a:rPr lang="zh-CN" sz="9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资料截至 </a:t>
            </a:r>
            <a:r>
              <a:rPr lang="en-US" sz="9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2026-07-24 · </a:t>
            </a:r>
            <a:r>
              <a:rPr lang="zh-CN" sz="900" b="0" u="none" strike="noStrike">
                <a:solidFill>
                  <a:srgbClr val="607089"/>
                </a:solidFill>
                <a:effectLst/>
                <a:uFillTx/>
                <a:latin typeface="Microsoft YaHei"/>
                <a:ea typeface="Microsoft YaHei"/>
              </a:rPr>
              <a:t>完整来源、产品状态与边界见演讲者备注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LibreOfficeDev/26.8.0.0.alpha0$MacOSX_AARCH64 LibreOffice_project/2c87e51eeaa2b413ff4ae097b2705eea1995d8e5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2026-07-25T03:45:58Z</dcterms:created>
  <dc:creator>Walnut Exporter</dc:creator>
  <dc:description/>
  <dc:language>zh-CN</dc:language>
  <cp:lastModifiedBy>Walnut Exporter</cp:lastModifiedBy>
  <dcterms:modified xsi:type="dcterms:W3CDTF">2026-07-25T03:45:58Z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