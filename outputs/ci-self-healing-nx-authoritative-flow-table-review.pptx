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29C3D9-9C88-4718-B14D-C9FBF8A8DE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CI: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AutoFix: https://developer.harness.io/docs/code-repository/pull-requests/ai-agents/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Code Quality Agents: https://developer.harness.io/3k-docs/platform/getting-started/agents/code-quality/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Worker Agents: https://www.harness.io/products/platform/worker-agents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GitLab Fix CI/CD Pipeline Flow: https://docs.gitlab.com/user/duo_agent_platform/flows/foundational_flows/fix_pipeline/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Chunk: https://circleci.com/docs/guides/toolkit/chunk-setup-and-overview/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pipeline validation: https://circleci.com/changelog/chunk-now-validates-changes-by-running-your-ci-pipeline/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protected-branch PRs: https://circleci.com/changelog/chunk-now-auto-creates-prs-on-protected-branches/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CI Doctor: https://github.github.com/gh-aw/blog/2026-01-13-meet-the-workflows-quality-hygiene/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CI triggering / Safe Outputs: https://github.github.com/gh-aw/reference/triggering-ci/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[Boundary]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The upper diagram compresses mechanisms publicly documented for Nx Self-Healing CI; it is not presented as an official canonical state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Rerunning the original failed Task verifies only that observed failure.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 PR branch commit triggers repository-configured PR CI and Required Checks; passing them does not prove long-term business correctness.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 is scoped to PR CI tasks in Nx Cloud and requires VCS integration.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Product scopes and maturity are not assumed equivalent; vendor descriptions are first-party claims.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[Primary source refreshed 2026-07-27]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CI: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Cloud CLI: https://nx.dev/docs/reference/nx-cloud-cli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[Facts used in the upper flow]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states that Project Graph and metadata provide workspace structure, project relationships and build-configuration context.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Auto-retry for detected flaky tasks pushes an empty commit to the PR branch.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Eligible tasks can be all failing tasks or glob-matched tasks; Never Fix patterns and protected branch prefixes exclude fixes.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PR comments expose fix reasoning, a reviewable diff and Apply or Reject actions.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Auto-apply requires task-pattern match, high agent confidence and explicit verification that the suggestion fixes the failing task.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Apply, Apply Locally and Revert are documented user controls.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[Boundary]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does not publish the flaky-detection algorithm, sample window or threshold on the cited page.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The upper diagram is an analytical compression of documented mechanisms, not an official canonical state machine.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Verification of the failed Task does not prove all Required Checks or long-term business correctness.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The lower company-comparison table was not revised in this round.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3364560"/>
            <a:ext cx="109717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/>
          <p:nvPr/>
        </p:nvSpPr>
        <p:spPr>
          <a:xfrm>
            <a:off x="533520" y="266760"/>
            <a:ext cx="11124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Nx </a:t>
            </a:r>
            <a:r>
              <a:rPr lang="zh-CN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将 </a:t>
            </a:r>
            <a:r>
              <a:rPr lang="en-US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262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自愈拆成失败路由、修复约束、验证门禁与有界写回</a:t>
            </a:r>
            <a:endParaRPr lang="en-US" sz="2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itle-rule"/>
          <p:cNvSpPr/>
          <p:nvPr/>
        </p:nvSpPr>
        <p:spPr>
          <a:xfrm>
            <a:off x="533160" y="838080"/>
            <a:ext cx="11125440" cy="360"/>
          </a:xfrm>
          <a:prstGeom prst="line">
            <a:avLst/>
          </a:prstGeom>
          <a:ln w="19050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flow-label"/>
          <p:cNvSpPr/>
          <p:nvPr/>
        </p:nvSpPr>
        <p:spPr>
          <a:xfrm>
            <a:off x="533520" y="933480"/>
            <a:ext cx="4094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Nx Self-Healing CI</a:t>
            </a:r>
            <a:r>
              <a:rPr lang="zh-CN" sz="150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：受控修复路径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flow-evidence-label"/>
          <p:cNvSpPr/>
          <p:nvPr/>
        </p:nvSpPr>
        <p:spPr>
          <a:xfrm>
            <a:off x="6667560" y="971640"/>
            <a:ext cx="49899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Project Graph · SELF_HEALING.md · Patterns · Verified Auto-apply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nx-stage-1"/>
          <p:cNvSpPr/>
          <p:nvPr/>
        </p:nvSpPr>
        <p:spPr>
          <a:xfrm>
            <a:off x="533520" y="1571760"/>
            <a:ext cx="1694520" cy="72288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nx-stage-1-number"/>
          <p:cNvSpPr/>
          <p:nvPr/>
        </p:nvSpPr>
        <p:spPr>
          <a:xfrm>
            <a:off x="61920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01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nx-stage-1-title"/>
          <p:cNvSpPr/>
          <p:nvPr/>
        </p:nvSpPr>
        <p:spPr>
          <a:xfrm>
            <a:off x="866880" y="1666800"/>
            <a:ext cx="12657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失败 </a:t>
            </a: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Task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上下文装配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nx-stage-1-detail"/>
          <p:cNvSpPr/>
          <p:nvPr/>
        </p:nvSpPr>
        <p:spPr>
          <a:xfrm>
            <a:off x="628560" y="2000160"/>
            <a:ext cx="1503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Project Graph · Metadata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nx-stage-2"/>
          <p:cNvSpPr/>
          <p:nvPr/>
        </p:nvSpPr>
        <p:spPr>
          <a:xfrm>
            <a:off x="2419200" y="1571760"/>
            <a:ext cx="1389600" cy="72288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nx-stage-2-number"/>
          <p:cNvSpPr/>
          <p:nvPr/>
        </p:nvSpPr>
        <p:spPr>
          <a:xfrm>
            <a:off x="250524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nx-stage-2-title"/>
          <p:cNvSpPr/>
          <p:nvPr/>
        </p:nvSpPr>
        <p:spPr>
          <a:xfrm>
            <a:off x="2752560" y="1666800"/>
            <a:ext cx="96084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Flaky </a:t>
            </a: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识别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与恢复路由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nx-stage-2-detail"/>
          <p:cNvSpPr/>
          <p:nvPr/>
        </p:nvSpPr>
        <p:spPr>
          <a:xfrm>
            <a:off x="2514600" y="2000160"/>
            <a:ext cx="11991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71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Empty Commit · Retry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nx-stage-3"/>
          <p:cNvSpPr/>
          <p:nvPr/>
        </p:nvSpPr>
        <p:spPr>
          <a:xfrm>
            <a:off x="4000680" y="1571760"/>
            <a:ext cx="1475280" cy="72288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nx-stage-3-number"/>
          <p:cNvSpPr/>
          <p:nvPr/>
        </p:nvSpPr>
        <p:spPr>
          <a:xfrm>
            <a:off x="408636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nx-stage-3-title"/>
          <p:cNvSpPr/>
          <p:nvPr/>
        </p:nvSpPr>
        <p:spPr>
          <a:xfrm>
            <a:off x="4334040" y="1666800"/>
            <a:ext cx="10465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修复资格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与禁区判定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nx-stage-3-detail"/>
          <p:cNvSpPr/>
          <p:nvPr/>
        </p:nvSpPr>
        <p:spPr>
          <a:xfrm>
            <a:off x="4095720" y="2000160"/>
            <a:ext cx="1284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fix-tasks · Never Fix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nx-stage-4"/>
          <p:cNvSpPr/>
          <p:nvPr/>
        </p:nvSpPr>
        <p:spPr>
          <a:xfrm>
            <a:off x="5667480" y="1571760"/>
            <a:ext cx="1475280" cy="72288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nx-stage-4-number"/>
          <p:cNvSpPr/>
          <p:nvPr/>
        </p:nvSpPr>
        <p:spPr>
          <a:xfrm>
            <a:off x="575316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nx-stage-4-title"/>
          <p:cNvSpPr/>
          <p:nvPr/>
        </p:nvSpPr>
        <p:spPr>
          <a:xfrm>
            <a:off x="6000840" y="1666800"/>
            <a:ext cx="10465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候选 </a:t>
            </a: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Diff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与定向验证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nx-stage-4-detail"/>
          <p:cNvSpPr/>
          <p:nvPr/>
        </p:nvSpPr>
        <p:spPr>
          <a:xfrm>
            <a:off x="5762520" y="2000160"/>
            <a:ext cx="1284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Reasoning · Task Rerun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nx-stage-5"/>
          <p:cNvSpPr/>
          <p:nvPr/>
        </p:nvSpPr>
        <p:spPr>
          <a:xfrm>
            <a:off x="7334280" y="1571760"/>
            <a:ext cx="1427760" cy="722880"/>
          </a:xfrm>
          <a:prstGeom prst="roundRect">
            <a:avLst>
              <a:gd name="adj" fmla="val 13158"/>
            </a:avLst>
          </a:prstGeom>
          <a:solidFill>
            <a:srgbClr val="DDF3EA"/>
          </a:solidFill>
          <a:ln w="1714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nx-stage-5-number"/>
          <p:cNvSpPr/>
          <p:nvPr/>
        </p:nvSpPr>
        <p:spPr>
          <a:xfrm>
            <a:off x="741996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nx-stage-5-title"/>
          <p:cNvSpPr/>
          <p:nvPr/>
        </p:nvSpPr>
        <p:spPr>
          <a:xfrm>
            <a:off x="7667640" y="1666800"/>
            <a:ext cx="9990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Auto-apply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三条件门禁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nx-stage-5-detail"/>
          <p:cNvSpPr/>
          <p:nvPr/>
        </p:nvSpPr>
        <p:spPr>
          <a:xfrm>
            <a:off x="7429680" y="2000160"/>
            <a:ext cx="1237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71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Pattern · Confidence · Verified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nx-stage-6"/>
          <p:cNvSpPr/>
          <p:nvPr/>
        </p:nvSpPr>
        <p:spPr>
          <a:xfrm>
            <a:off x="8953560" y="1571760"/>
            <a:ext cx="2703960" cy="722880"/>
          </a:xfrm>
          <a:prstGeom prst="roundRect">
            <a:avLst>
              <a:gd name="adj" fmla="val 13158"/>
            </a:avLst>
          </a:prstGeom>
          <a:solidFill>
            <a:srgbClr val="E7F5F0"/>
          </a:solidFill>
          <a:ln w="13335">
            <a:solidFill>
              <a:srgbClr val="087F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nx-stage-6-number"/>
          <p:cNvSpPr/>
          <p:nvPr/>
        </p:nvSpPr>
        <p:spPr>
          <a:xfrm>
            <a:off x="9039240" y="1638360"/>
            <a:ext cx="3038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790" b="1" u="none" strike="noStrike">
                <a:solidFill>
                  <a:srgbClr val="066649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nx-stage-6-title"/>
          <p:cNvSpPr/>
          <p:nvPr/>
        </p:nvSpPr>
        <p:spPr>
          <a:xfrm>
            <a:off x="9286920" y="1666800"/>
            <a:ext cx="22755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PR </a:t>
            </a: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分支写回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与外层 </a:t>
            </a:r>
            <a:r>
              <a:rPr lang="en-US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115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检查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nx-stage-6-detail"/>
          <p:cNvSpPr/>
          <p:nvPr/>
        </p:nvSpPr>
        <p:spPr>
          <a:xfrm>
            <a:off x="9048600" y="2000160"/>
            <a:ext cx="2513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Commit · Required Checks · Revert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nx-flaky-route"/>
          <p:cNvSpPr/>
          <p:nvPr/>
        </p:nvSpPr>
        <p:spPr>
          <a:xfrm>
            <a:off x="4000680" y="1200240"/>
            <a:ext cx="2094480" cy="294120"/>
          </a:xfrm>
          <a:prstGeom prst="roundRect">
            <a:avLst>
              <a:gd name="adj" fmla="val 25806"/>
            </a:avLst>
          </a:prstGeom>
          <a:solidFill>
            <a:srgbClr val="FFF7E6"/>
          </a:solidFill>
          <a:ln w="11430">
            <a:solidFill>
              <a:srgbClr val="B7791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nx-flaky-route-text"/>
          <p:cNvSpPr/>
          <p:nvPr/>
        </p:nvSpPr>
        <p:spPr>
          <a:xfrm>
            <a:off x="4076640" y="1247760"/>
            <a:ext cx="194220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B7791F"/>
                </a:solidFill>
                <a:effectLst/>
                <a:uFillTx/>
                <a:latin typeface="Microsoft YaHei"/>
                <a:ea typeface="Microsoft YaHei"/>
              </a:rPr>
              <a:t>Flaky → Empty Commit → </a:t>
            </a:r>
            <a:r>
              <a:rPr lang="zh-CN" sz="860" b="1" u="none" strike="noStrike">
                <a:solidFill>
                  <a:srgbClr val="B7791F"/>
                </a:solidFill>
                <a:effectLst/>
                <a:uFillTx/>
                <a:latin typeface="Microsoft YaHei"/>
                <a:ea typeface="Microsoft YaHei"/>
              </a:rPr>
              <a:t>重跑 </a:t>
            </a:r>
            <a:r>
              <a:rPr lang="en-US" sz="860" b="1" u="none" strike="noStrike">
                <a:solidFill>
                  <a:srgbClr val="B7791F"/>
                </a:solidFill>
                <a:effectLst/>
                <a:uFillTx/>
                <a:latin typeface="Microsoft YaHei"/>
                <a:ea typeface="Microsoft YaHei"/>
              </a:rPr>
              <a:t>PR CI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nx-stop-route"/>
          <p:cNvSpPr/>
          <p:nvPr/>
        </p:nvSpPr>
        <p:spPr>
          <a:xfrm>
            <a:off x="3943440" y="2371680"/>
            <a:ext cx="2246760" cy="342000"/>
          </a:xfrm>
          <a:prstGeom prst="roundRect">
            <a:avLst>
              <a:gd name="adj" fmla="val 22222"/>
            </a:avLst>
          </a:prstGeom>
          <a:solidFill>
            <a:srgbClr val="FBEDE9"/>
          </a:solidFill>
          <a:ln w="11430">
            <a:solidFill>
              <a:srgbClr val="8A4B3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nx-stop-route-text"/>
          <p:cNvSpPr/>
          <p:nvPr/>
        </p:nvSpPr>
        <p:spPr>
          <a:xfrm>
            <a:off x="4019400" y="2419200"/>
            <a:ext cx="2094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860" b="1" u="none" strike="noStrike">
                <a:solidFill>
                  <a:srgbClr val="8A4B3A"/>
                </a:solidFill>
                <a:effectLst/>
                <a:uFillTx/>
                <a:latin typeface="Microsoft YaHei"/>
                <a:ea typeface="Microsoft YaHei"/>
              </a:rPr>
              <a:t>Never Fix / Protected → </a:t>
            </a:r>
            <a:r>
              <a:rPr lang="zh-CN" sz="860" b="1" u="none" strike="noStrike">
                <a:solidFill>
                  <a:srgbClr val="8A4B3A"/>
                </a:solidFill>
                <a:effectLst/>
                <a:uFillTx/>
                <a:latin typeface="Microsoft YaHei"/>
                <a:ea typeface="Microsoft YaHei"/>
              </a:rPr>
              <a:t>人工处理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nx-manual-route"/>
          <p:cNvSpPr/>
          <p:nvPr/>
        </p:nvSpPr>
        <p:spPr>
          <a:xfrm>
            <a:off x="7162920" y="2371680"/>
            <a:ext cx="2151720" cy="342000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1430">
            <a:solidFill>
              <a:srgbClr val="627D9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nx-manual-route-text"/>
          <p:cNvSpPr/>
          <p:nvPr/>
        </p:nvSpPr>
        <p:spPr>
          <a:xfrm>
            <a:off x="7238880" y="2419200"/>
            <a:ext cx="19990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zh-CN" sz="860" b="1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门禁未通过 → </a:t>
            </a:r>
            <a:r>
              <a:rPr lang="en-US" sz="860" b="1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Apply / Reject / Locally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"/>
          <p:cNvCxnSpPr>
            <a:stCxn id="15" idx="3"/>
            <a:endCxn id="19" idx="1"/>
          </p:cNvCxnSpPr>
          <p:nvPr/>
        </p:nvCxnSpPr>
        <p:spPr>
          <a:xfrm>
            <a:off x="2228040" y="1933200"/>
            <a:ext cx="19152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len="sm" type="triangle" w="sm"/>
          </a:ln>
        </p:spPr>
      </p:cxnSp>
      <p:cxnSp>
        <p:nvCxnSpPr>
          <p:cNvPr id="46" name=""/>
          <p:cNvCxnSpPr>
            <a:stCxn id="19" idx="3"/>
            <a:endCxn id="23" idx="1"/>
          </p:cNvCxnSpPr>
          <p:nvPr/>
        </p:nvCxnSpPr>
        <p:spPr>
          <a:xfrm>
            <a:off x="3808800" y="1933200"/>
            <a:ext cx="19224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len="sm" type="triangle" w="sm"/>
          </a:ln>
        </p:spPr>
      </p:cxnSp>
      <p:cxnSp>
        <p:nvCxnSpPr>
          <p:cNvPr id="47" name=""/>
          <p:cNvCxnSpPr>
            <a:stCxn id="23" idx="3"/>
            <a:endCxn id="27" idx="1"/>
          </p:cNvCxnSpPr>
          <p:nvPr/>
        </p:nvCxnSpPr>
        <p:spPr>
          <a:xfrm>
            <a:off x="5475960" y="1933200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len="sm" type="triangle" w="sm"/>
          </a:ln>
        </p:spPr>
      </p:cxnSp>
      <p:cxnSp>
        <p:nvCxnSpPr>
          <p:cNvPr id="48" name=""/>
          <p:cNvCxnSpPr>
            <a:stCxn id="27" idx="3"/>
            <a:endCxn id="31" idx="1"/>
          </p:cNvCxnSpPr>
          <p:nvPr/>
        </p:nvCxnSpPr>
        <p:spPr>
          <a:xfrm>
            <a:off x="7142760" y="1933200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len="sm" type="triangle" w="sm"/>
          </a:ln>
        </p:spPr>
      </p:cxnSp>
      <p:cxnSp>
        <p:nvCxnSpPr>
          <p:cNvPr id="49" name=""/>
          <p:cNvCxnSpPr>
            <a:stCxn id="31" idx="3"/>
            <a:endCxn id="35" idx="1"/>
          </p:cNvCxnSpPr>
          <p:nvPr/>
        </p:nvCxnSpPr>
        <p:spPr>
          <a:xfrm>
            <a:off x="8762040" y="1933200"/>
            <a:ext cx="191880" cy="360"/>
          </a:xfrm>
          <a:prstGeom prst="straightConnector1">
            <a:avLst/>
          </a:prstGeom>
          <a:ln w="19050">
            <a:solidFill>
              <a:srgbClr val="087F5B"/>
            </a:solidFill>
            <a:round/>
            <a:tailEnd len="sm" type="triangle" w="sm"/>
          </a:ln>
        </p:spPr>
      </p:cxnSp>
      <p:cxnSp>
        <p:nvCxnSpPr>
          <p:cNvPr id="50" name=""/>
          <p:cNvCxnSpPr>
            <a:stCxn id="19" idx="0"/>
            <a:endCxn id="39" idx="1"/>
          </p:cNvCxnSpPr>
          <p:nvPr/>
        </p:nvCxnSpPr>
        <p:spPr>
          <a:xfrm flipH="1" flipV="1" rot="5400000">
            <a:off x="3444840" y="1016280"/>
            <a:ext cx="224640" cy="887040"/>
          </a:xfrm>
          <a:prstGeom prst="bentConnector2">
            <a:avLst/>
          </a:prstGeom>
          <a:ln w="13335">
            <a:solidFill>
              <a:srgbClr val="B7791F"/>
            </a:solidFill>
            <a:prstDash val="dash"/>
            <a:round/>
            <a:tailEnd len="sm" type="triangle" w="sm"/>
          </a:ln>
        </p:spPr>
      </p:cxnSp>
      <p:cxnSp>
        <p:nvCxnSpPr>
          <p:cNvPr id="51" name=""/>
          <p:cNvCxnSpPr>
            <a:stCxn id="23" idx="2"/>
            <a:endCxn id="41" idx="1"/>
          </p:cNvCxnSpPr>
          <p:nvPr/>
        </p:nvCxnSpPr>
        <p:spPr>
          <a:xfrm rot="5400000">
            <a:off x="4216680" y="2021040"/>
            <a:ext cx="248400" cy="795240"/>
          </a:xfrm>
          <a:prstGeom prst="bentConnector4">
            <a:avLst>
              <a:gd name="adj1" fmla="val 65747"/>
              <a:gd name="adj2" fmla="val 100045"/>
            </a:avLst>
          </a:prstGeom>
          <a:ln w="13335">
            <a:solidFill>
              <a:srgbClr val="8A4B3A"/>
            </a:solidFill>
            <a:prstDash val="dash"/>
            <a:round/>
            <a:tailEnd len="sm" type="triangle" w="sm"/>
          </a:ln>
        </p:spPr>
      </p:cxnSp>
      <p:cxnSp>
        <p:nvCxnSpPr>
          <p:cNvPr id="52" name=""/>
          <p:cNvCxnSpPr>
            <a:stCxn id="31" idx="2"/>
            <a:endCxn id="43" idx="0"/>
          </p:cNvCxnSpPr>
          <p:nvPr/>
        </p:nvCxnSpPr>
        <p:spPr>
          <a:xfrm flipH="1" rot="16200000">
            <a:off x="8105040" y="2237760"/>
            <a:ext cx="77400" cy="191160"/>
          </a:xfrm>
          <a:prstGeom prst="bentConnector3">
            <a:avLst>
              <a:gd name="adj1" fmla="val 50934"/>
            </a:avLst>
          </a:prstGeom>
          <a:ln w="13335">
            <a:solidFill>
              <a:srgbClr val="627D98"/>
            </a:solidFill>
            <a:prstDash val="dash"/>
            <a:round/>
            <a:tailEnd len="sm" type="triangle" w="sm"/>
          </a:ln>
        </p:spPr>
      </p:cxnSp>
      <p:sp>
        <p:nvSpPr>
          <p:cNvPr id="53" name="table-label"/>
          <p:cNvSpPr/>
          <p:nvPr/>
        </p:nvSpPr>
        <p:spPr>
          <a:xfrm>
            <a:off x="533520" y="2828880"/>
            <a:ext cx="619020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阶段对照：</a:t>
            </a:r>
            <a:r>
              <a:rPr lang="en-US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Nx </a:t>
            </a:r>
            <a:r>
              <a:rPr lang="zh-CN" sz="150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实际机制与业界公司实践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" name="nx-stage-company-practice-table"/>
          <p:cNvGraphicFramePr/>
          <p:nvPr/>
        </p:nvGraphicFramePr>
        <p:xfrm>
          <a:off x="533520" y="3105000"/>
          <a:ext cx="11124720" cy="2609640"/>
        </p:xfrm>
        <a:graphic>
          <a:graphicData uri="http://schemas.openxmlformats.org/drawingml/2006/table">
            <a:tbl>
              <a:tblPr/>
              <a:tblGrid>
                <a:gridCol w="1476360"/>
                <a:gridCol w="3476520"/>
                <a:gridCol w="6172200"/>
              </a:tblGrid>
              <a:tr h="285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阶段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Nx </a:t>
                      </a: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实际机制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6664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07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业界公司实践</a:t>
                      </a:r>
                      <a:endParaRPr lang="en-US" sz="107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1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失败任务与上下文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CI Task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失败后运行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fix-ci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Project Graph + Metadata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提供深度上下文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F5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Execution ID + Logs + Repo Changes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Logs + MR Diff + Repo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Failure Context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2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偶现失败分流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Flaky → Empty Commit →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重跑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；判定算法未公开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Auto Rerun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与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Chunk Fix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分离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｜证据不足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/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安全敏感时停止；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｜未公开完整分类器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3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修复范围控制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fix-tasks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决定可修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Never Fix / Protected Branch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排除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F5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RBAC / OPA / Approval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｜权限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/ Push Rule /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停止条件；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Safe Outputs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分权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4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修复与任务验证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生成候选代码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Diff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，并复跑原失败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Task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；不等于全量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CI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｜推送候选修改并运行真实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Pipeline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｜生成并验证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Fix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｜后续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Pipeline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检查修改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5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自动提交门禁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Pattern + High Confidence + Verified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三项同时满足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7F5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RBAC + OPA + Approval + Audit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GitHub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Safe Outputs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分权；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｜权限、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Push Rule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与停止条件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6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写回与 </a:t>
                      </a:r>
                      <a:r>
                        <a:rPr lang="en-US" sz="939" b="1" u="none" strike="noStrike">
                          <a:solidFill>
                            <a:srgbClr val="102A4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CI</a:t>
                      </a:r>
                      <a:endParaRPr lang="en-US" sz="93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FF3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写入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Branch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后重跑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Required Checks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；支持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Reject / Revert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A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CircleCI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｜验证后保留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/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关闭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Draft PR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Harness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PR Branch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重触发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Build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；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GitLab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｜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Suggestion / </a:t>
                      </a:r>
                      <a:r>
                        <a:rPr lang="zh-CN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新 </a:t>
                      </a:r>
                      <a:r>
                        <a:rPr lang="en-US" sz="889" b="0" u="none" strike="noStrike">
                          <a:solidFill>
                            <a:srgbClr val="243B53"/>
                          </a:solidFill>
                          <a:effectLst/>
                          <a:uFillTx/>
                          <a:latin typeface="Microsoft YaHei"/>
                          <a:ea typeface="Microsoft YaHei"/>
                        </a:rPr>
                        <a:t>MR</a:t>
                      </a:r>
                      <a:endParaRPr lang="en-US" sz="889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5" name="insight-band"/>
          <p:cNvSpPr/>
          <p:nvPr/>
        </p:nvSpPr>
        <p:spPr>
          <a:xfrm>
            <a:off x="533520" y="5819760"/>
            <a:ext cx="11124000" cy="675360"/>
          </a:xfrm>
          <a:prstGeom prst="roundRect">
            <a:avLst>
              <a:gd name="adj" fmla="val 14085"/>
            </a:avLst>
          </a:prstGeom>
          <a:solidFill>
            <a:srgbClr val="EAF1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insight-accent"/>
          <p:cNvSpPr/>
          <p:nvPr/>
        </p:nvSpPr>
        <p:spPr>
          <a:xfrm>
            <a:off x="666720" y="5924520"/>
            <a:ext cx="360" cy="466560"/>
          </a:xfrm>
          <a:prstGeom prst="line">
            <a:avLst/>
          </a:prstGeom>
          <a:ln w="28575">
            <a:solidFill>
              <a:srgbClr val="2463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insight-label"/>
          <p:cNvSpPr/>
          <p:nvPr/>
        </p:nvSpPr>
        <p:spPr>
          <a:xfrm>
            <a:off x="800280" y="5915160"/>
            <a:ext cx="1122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zh-CN" sz="1320" b="1" u="none" strike="noStrike">
                <a:solidFill>
                  <a:srgbClr val="2463D4"/>
                </a:solidFill>
                <a:effectLst/>
                <a:uFillTx/>
                <a:latin typeface="Microsoft YaHei"/>
                <a:ea typeface="Microsoft YaHei"/>
              </a:rPr>
              <a:t>三条启示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bottom-insights"/>
          <p:cNvSpPr/>
          <p:nvPr/>
        </p:nvSpPr>
        <p:spPr>
          <a:xfrm>
            <a:off x="2000160" y="5905440"/>
            <a:ext cx="93333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① CI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自愈的分水岭，是候选修复验证后的有界写回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② 失败分类比修复 </a:t>
            </a: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更决定自愈质量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③ CI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自愈的竞争优势来自“上下文 </a:t>
            </a:r>
            <a:r>
              <a:rPr lang="en-US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× </a:t>
            </a:r>
            <a:r>
              <a:rPr lang="zh-CN" sz="10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控制面”，而非单一模型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ource-footer"/>
          <p:cNvSpPr/>
          <p:nvPr/>
        </p:nvSpPr>
        <p:spPr>
          <a:xfrm>
            <a:off x="533520" y="6600960"/>
            <a:ext cx="111240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>
              <a:lnSpc>
                <a:spcPct val="100000"/>
              </a:lnSpc>
            </a:pP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Nx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机制复核 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2026-07-27 ·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下表资料截至 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2026-07-25 · </a:t>
            </a:r>
            <a:r>
              <a:rPr lang="zh-CN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适用边界：</a:t>
            </a:r>
            <a:r>
              <a:rPr lang="en-US" sz="70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Nx Cloud PR CI Task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2026-07-27T01:47:54Z</dcterms:created>
  <dc:creator>Walnut Exporter</dc:creator>
  <dc:description/>
  <dc:language>zh-CN</dc:language>
  <cp:lastModifiedBy>Walnut Exporter</cp:lastModifiedBy>
  <dcterms:modified xsi:type="dcterms:W3CDTF">2026-07-27T01:47:54Z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