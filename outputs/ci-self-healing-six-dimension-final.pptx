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73902"/>
  </p:normalViewPr>
  <p:slideViewPr>
    <p:cSldViewPr snapToGrid="0">
      <p:cViewPr varScale="1">
        <p:scale>
          <a:sx n="151" d="100"/>
          <a:sy n="151" d="100"/>
        </p:scale>
        <p:origin x="2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技术机制详解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一、上下文与证据装配（上图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①）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PR CI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的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Task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失败后，始终执行的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fix-ci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步骤进入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Self-Healing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分析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Project Graph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提供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Workspace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内项目、依赖和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Task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关系；Task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Metadata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补充构建配置与执行信息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.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SELF_HEALING.md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用于加入仓库级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CI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约束、禁止修改区域、修复偏好和额外上下文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官方材料未把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PR Diff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明确列为独立结构化上下文输入，因此页面不作更强推断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二、故障分流与修复边界（上图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②③）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当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Cloud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将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Task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标记为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Flaky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且启用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Auto-retry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时，系统向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PR Branch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推送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Empty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Commit，触发新的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PR CI。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Flaky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重跑恢复的是执行，不代表偶现失败的根因已经修复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fix-tasks /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Eligible、Never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Fix Pattern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与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Protected Branch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共同限定哪些失败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Task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可以尝试生成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Fix。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官方未公开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Flaky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判定算法、采样窗口和阈值，不能将其描述成完整公开的故障分类器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dirty="0" err="1"/>
              <a:t>三、根因诊断（上图</a:t>
            </a:r>
            <a:r>
              <a:rPr dirty="0"/>
              <a:t> ④）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会结合失败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Task、Project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Graph、Task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Metadata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和仓库约束分析失败，并输出修复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Reasoning。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官方公开材料证明其会分析并生成修复，但没有公开完整的多假设竞争、反证链或独立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RCA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报告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因此页面将“根因诊断”作为技术维度，同时保留这一事实边界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dirty="0" err="1"/>
              <a:t>四、候选修复生成（上图</a:t>
            </a:r>
            <a:r>
              <a:rPr dirty="0"/>
              <a:t> ④）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Agent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仅针对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Eligible Task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生成修复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Reasoning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和可审阅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Diff。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用户可以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Apply、Reject，也可以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Apply Locally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后继续本地审阅和修改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Reasoning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与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Diff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是候选方案，不是正确性证明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dirty="0" err="1"/>
              <a:t>五、任务级验证</a:t>
            </a:r>
            <a:r>
              <a:rPr dirty="0"/>
              <a:t> </a:t>
            </a:r>
            <a:r>
              <a:rPr dirty="0" err="1"/>
              <a:t>Oracle（上图</a:t>
            </a:r>
            <a:r>
              <a:rPr dirty="0"/>
              <a:t> ④）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将候选变更用于重新执行原失败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Task；观察到该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Task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被修复后，候选形成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Explicitly Verified。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Task Rerun 只回答“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候选是否消除原失败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”，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不能替代全部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Required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Checks、业务语义或长期运行验证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Oracle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负责产出验证证据；是否允许写回由下一层策略门禁决定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dirty="0" err="1"/>
              <a:t>六、写回准入与回退控制（上图</a:t>
            </a:r>
            <a:r>
              <a:rPr dirty="0"/>
              <a:t> ⑤⑥）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Auto-apply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必须同时满足：Task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命中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Auto-apply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Pattern、Agent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为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High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Confidence、候选已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Explicitly Verified。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三项缺一时转人工；最终写入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PR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Branch，不代表自动合并主干或自动部署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Protected Branch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不生成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Fix；写回后继续运行仓库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Required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Checks，并保留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Reject / Revert。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Auto-apply Suggestions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只向管理员建议扩大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Task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范围，最终配置权仍在管理员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行业机制解释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上下文：GitLab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强调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Logs + MR Diff +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Repository；CircleCI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引入跨运行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Build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History；Harness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扩展到组织级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Knowledge Graph。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分流：GitHub、GitLab、CircleCI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均设置“不修、转人工或有限重跑”的出口，避免所有红灯都进入改码路径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诊断：GitHub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使用相似历史，Harness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拆分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Remediation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与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Coding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Agent，AWS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以拓扑和多源证据做多假设推理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dirty="0"/>
              <a:t>- </a:t>
            </a:r>
            <a:r>
              <a:rPr dirty="0" err="1"/>
              <a:t>生成：GitHub</a:t>
            </a:r>
            <a:r>
              <a:rPr dirty="0"/>
              <a:t> </a:t>
            </a:r>
            <a:r>
              <a:rPr dirty="0" err="1"/>
              <a:t>Dependabot</a:t>
            </a:r>
            <a:r>
              <a:rPr dirty="0"/>
              <a:t> </a:t>
            </a:r>
            <a:r>
              <a:rPr dirty="0" err="1"/>
              <a:t>优先确定性升级，GitLab</a:t>
            </a:r>
            <a:r>
              <a:rPr dirty="0"/>
              <a:t> </a:t>
            </a:r>
            <a:r>
              <a:rPr dirty="0" err="1"/>
              <a:t>按</a:t>
            </a:r>
            <a:r>
              <a:rPr dirty="0"/>
              <a:t> Diff </a:t>
            </a:r>
            <a:r>
              <a:rPr dirty="0" err="1"/>
              <a:t>范围选择</a:t>
            </a:r>
            <a:r>
              <a:rPr dirty="0"/>
              <a:t> Suggestion/</a:t>
            </a:r>
            <a:r>
              <a:rPr dirty="0" err="1"/>
              <a:t>MR，Snyk</a:t>
            </a:r>
            <a:r>
              <a:rPr dirty="0"/>
              <a:t> </a:t>
            </a:r>
            <a:r>
              <a:rPr dirty="0" err="1"/>
              <a:t>用</a:t>
            </a:r>
            <a:r>
              <a:rPr dirty="0"/>
              <a:t> Analyzer </a:t>
            </a:r>
            <a:r>
              <a:rPr dirty="0" err="1"/>
              <a:t>约束多候选搜索</a:t>
            </a:r>
            <a:r>
              <a:rPr dirty="0"/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验证：CircleCI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区分内外环，Snyk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使用同一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Analyzer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复验，Spotify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通过独立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Verifier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分离生成与验收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写回：GitHub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使用独立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Safe Output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Job，Harness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使用身份、OPA、Approval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与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Max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Turns，Akuity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用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Tool Policy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和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Audit Trail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约束动作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讲解结论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自建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CI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自愈的核心，是打通“证据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分流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诊断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修复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验证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写回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回退”的受控闭环，而非只生成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Diff。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dirty="0"/>
              <a:t>2. Agent </a:t>
            </a:r>
            <a:r>
              <a:rPr dirty="0" err="1"/>
              <a:t>负责诊断与生成，原</a:t>
            </a:r>
            <a:r>
              <a:rPr dirty="0"/>
              <a:t> CI </a:t>
            </a:r>
            <a:r>
              <a:rPr dirty="0" err="1"/>
              <a:t>负责复验，策略与权限负责准入，避免修改、验收与放行权集中</a:t>
            </a:r>
            <a:r>
              <a:rPr dirty="0"/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以“故障类型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×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范围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×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动作”为最小授权单元，从低风险、可验证、可回退的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PR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任务逐步扩围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适用边界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上图是对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公开机制的分析性压缩，不是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官方发布的标准状态机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Self-Healing CI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的范围是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Cloud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中的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PR CI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Task，并依赖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VCS Integration。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原失败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Task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复验不等于全部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PR Required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Checks，更不证明长期业务正确或生产安全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各家公司案例只证明对应机制，不代表产品范围、成熟度和授权模型等价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Harness Scoped Token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的完整委托链主要适用于存在触发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Principal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的场景，事件触发仍需单独验证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Self-Healing CI: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nx.dev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/docs/features/ci-features/self-healing-ci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Auto-apply Suggestions: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nx.dev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/blog/self-healing-ci-auto-apply-suggestions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GitLab Fix CI/CD Pipeline Flow: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docs.gitlab.com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/user/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duo_agent_platform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/flows/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foundational_flows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fix_pipeline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CircleCI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Chunk overview: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circleci.com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/docs/guides/toolkit/chunk-setup-and-overview/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CircleCI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failure routing: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circleci.com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/blog/fix-bugs-faster-with-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circlecis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-chunk-ai-agent/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CircleCI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agentic validation: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circleci.com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/blog/agentic-validation-needs-different-infrastructure/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Harness Autonomous Worker Agents / CI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Autofix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www.harness.io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/blog/introducing-autonomous-worker-agents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Harness Code Quality Agents: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developer.harness.io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/3k-docs/platform/getting-started/agents/code-quality/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GitHub CI Doctor: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github.github.com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gh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-aw/blog/2026-01-13-meet-the-workflows-quality-hygiene/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GitHub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Dependabot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Agent Remediation: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github.blog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/changelog/2026-04-07-dependabot-alerts-are-now-assignable-to-ai-agents-for-remediation/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GitHub Safe Outputs: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github.github.com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gh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-aw/reference/safe-outputs/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AWS multi-agent RCA: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aws.amazon.com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/blogs/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devops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/how-aws-devops-agent-uses-multi-agent-reasoning-to-find-root-causes/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Snyk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Agent Fix architecture: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snyk.io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/blog/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snyk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-agent-fix-agentic-architecture/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Spotify independent verifier: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engineering.atspotify.com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/2025/12/feedback-loops-background-coding-agents-part-3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Akuity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Tool Policies: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docs.akuity.io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/intelligence/capabilities/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>
            <a:extLst>
              <a:ext uri="{FF2B5EF4-FFF2-40B4-BE49-F238E27FC236}">
                <a16:creationId xmlns:a16="http://schemas.microsoft.com/office/drawing/2014/main" id="{567DCE29-1452-4425-B17E-58CBEB7C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  <a:tabLst>
                <a:tab pos="0" algn="l"/>
              </a:tabLst>
            </a:pPr>
            <a:endParaRPr/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8ADE18C7-17E3-4E71-AF91-C208E4EED8C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3364200"/>
            <a:ext cx="1097136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B4B01B04-B950-4B74-96FC-3181CAFD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harness.io/3k-docs/platform/getting-started/agents/code-quality/" TargetMode="External"/><Relationship Id="rId13" Type="http://schemas.openxmlformats.org/officeDocument/2006/relationships/hyperlink" Target="https://engineering.atspotify.com/2025/12/feedback-loops-background-coding-agents-part-3" TargetMode="External"/><Relationship Id="rId3" Type="http://schemas.openxmlformats.org/officeDocument/2006/relationships/hyperlink" Target="https://docs.gitlab.com/user/duo_agent_platform/flows/foundational_flows/fix_pipeline/" TargetMode="External"/><Relationship Id="rId7" Type="http://schemas.openxmlformats.org/officeDocument/2006/relationships/hyperlink" Target="https://circleci.com/blog/fix-bugs-faster-with-circlecis-chunk-ai-agent/" TargetMode="External"/><Relationship Id="rId12" Type="http://schemas.openxmlformats.org/officeDocument/2006/relationships/hyperlink" Target="https://circleci.com/blog/agentic-validation-needs-different-infrastructur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github.com/gh-aw/blog/2026-01-13-meet-the-workflows-quality-hygiene/" TargetMode="External"/><Relationship Id="rId11" Type="http://schemas.openxmlformats.org/officeDocument/2006/relationships/hyperlink" Target="https://snyk.io/blog/snyk-agent-fix-agentic-architecture/" TargetMode="External"/><Relationship Id="rId5" Type="http://schemas.openxmlformats.org/officeDocument/2006/relationships/hyperlink" Target="https://www.harness.io/blog/introducing-autonomous-worker-agents" TargetMode="External"/><Relationship Id="rId15" Type="http://schemas.openxmlformats.org/officeDocument/2006/relationships/hyperlink" Target="https://docs.akuity.io/intelligence/capabilities/" TargetMode="External"/><Relationship Id="rId10" Type="http://schemas.openxmlformats.org/officeDocument/2006/relationships/hyperlink" Target="https://github.blog/changelog/2026-04-07-dependabot-alerts-are-now-assignable-to-ai-agents-for-remediation/" TargetMode="External"/><Relationship Id="rId4" Type="http://schemas.openxmlformats.org/officeDocument/2006/relationships/hyperlink" Target="https://circleci.com/docs/guides/toolkit/chunk-setup-and-overview/" TargetMode="External"/><Relationship Id="rId9" Type="http://schemas.openxmlformats.org/officeDocument/2006/relationships/hyperlink" Target="https://aws.amazon.com/blogs/devops/how-aws-devops-agent-uses-multi-agent-reasoning-to-find-root-causes/" TargetMode="External"/><Relationship Id="rId14" Type="http://schemas.openxmlformats.org/officeDocument/2006/relationships/hyperlink" Target="https://github.github.com/gh-aw/reference/safe-outpu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5D8FA555-CF7E-4FD3-B73A-8C89CE43B59B}"/>
              </a:ext>
            </a:extLst>
          </p:cNvPr>
          <p:cNvSpPr>
            <a:spLocks/>
          </p:cNvSpPr>
          <p:nvPr/>
        </p:nvSpPr>
        <p:spPr>
          <a:xfrm>
            <a:off x="423240" y="242696"/>
            <a:ext cx="1112364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11" tIns="0" rIns="90011" bIns="0" anchor="ctr">
            <a:no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CI 自愈：从故障分流、根因诊断到验证准入与有界写回</a:t>
            </a:r>
          </a:p>
        </p:txBody>
      </p:sp>
      <p:sp>
        <p:nvSpPr>
          <p:cNvPr id="13" name="flow-label">
            <a:extLst>
              <a:ext uri="{FF2B5EF4-FFF2-40B4-BE49-F238E27FC236}">
                <a16:creationId xmlns:a16="http://schemas.microsoft.com/office/drawing/2014/main" id="{B1A7B159-4D2E-46E2-BDC2-0D7D98F71A73}"/>
              </a:ext>
            </a:extLst>
          </p:cNvPr>
          <p:cNvSpPr>
            <a:spLocks/>
          </p:cNvSpPr>
          <p:nvPr/>
        </p:nvSpPr>
        <p:spPr>
          <a:xfrm>
            <a:off x="533520" y="822690"/>
            <a:ext cx="4094280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 u="none">
                <a:latin typeface="Microsoft YaHei"/>
                <a:ea typeface="Microsoft YaHei"/>
                <a:cs typeface="Microsoft YaHei"/>
              </a:rPr>
              <a:t>Nx Self-Healing CI：CI自愈技术方案</a:t>
            </a:r>
          </a:p>
        </p:txBody>
      </p:sp>
      <p:sp>
        <p:nvSpPr>
          <p:cNvPr id="15" name="nx-stage-1">
            <a:extLst>
              <a:ext uri="{FF2B5EF4-FFF2-40B4-BE49-F238E27FC236}">
                <a16:creationId xmlns:a16="http://schemas.microsoft.com/office/drawing/2014/main" id="{412F344E-7D9C-43F6-8D1F-34E5DE91D883}"/>
              </a:ext>
            </a:extLst>
          </p:cNvPr>
          <p:cNvSpPr>
            <a:spLocks/>
          </p:cNvSpPr>
          <p:nvPr/>
        </p:nvSpPr>
        <p:spPr>
          <a:xfrm>
            <a:off x="533520" y="1571760"/>
            <a:ext cx="1694160" cy="722520"/>
          </a:xfrm>
          <a:prstGeom prst="roundRect">
            <a:avLst>
              <a:gd name="adj" fmla="val 13158"/>
            </a:avLst>
          </a:prstGeom>
          <a:solidFill>
            <a:srgbClr val="E7F5F0"/>
          </a:solidFill>
          <a:ln w="13335">
            <a:solidFill>
              <a:srgbClr val="087F5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7" name="nx-stage-1-title">
            <a:extLst>
              <a:ext uri="{FF2B5EF4-FFF2-40B4-BE49-F238E27FC236}">
                <a16:creationId xmlns:a16="http://schemas.microsoft.com/office/drawing/2014/main" id="{4AB35AEB-872F-4B3E-A56A-1962F5390AF5}"/>
              </a:ext>
            </a:extLst>
          </p:cNvPr>
          <p:cNvSpPr>
            <a:spLocks/>
          </p:cNvSpPr>
          <p:nvPr/>
        </p:nvSpPr>
        <p:spPr>
          <a:xfrm>
            <a:off x="732045" y="1666800"/>
            <a:ext cx="126540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u="none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失败证据</a:t>
            </a:r>
            <a:endParaRPr sz="1200" b="1" u="none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u="none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与上下文装配</a:t>
            </a:r>
            <a:endParaRPr sz="1200" b="1" u="none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nx-stage-1-detail">
            <a:extLst>
              <a:ext uri="{FF2B5EF4-FFF2-40B4-BE49-F238E27FC236}">
                <a16:creationId xmlns:a16="http://schemas.microsoft.com/office/drawing/2014/main" id="{F3B070A6-ABE2-4C55-947C-8A130C968E97}"/>
              </a:ext>
            </a:extLst>
          </p:cNvPr>
          <p:cNvSpPr>
            <a:spLocks/>
          </p:cNvSpPr>
          <p:nvPr/>
        </p:nvSpPr>
        <p:spPr>
          <a:xfrm>
            <a:off x="630240" y="2055938"/>
            <a:ext cx="150336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860" b="0" u="none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Project Graph · Metadata</a:t>
            </a:r>
          </a:p>
        </p:txBody>
      </p:sp>
      <p:sp>
        <p:nvSpPr>
          <p:cNvPr id="19" name="nx-stage-2">
            <a:extLst>
              <a:ext uri="{FF2B5EF4-FFF2-40B4-BE49-F238E27FC236}">
                <a16:creationId xmlns:a16="http://schemas.microsoft.com/office/drawing/2014/main" id="{57B38168-9D91-43B1-8828-A9DB88B0244A}"/>
              </a:ext>
            </a:extLst>
          </p:cNvPr>
          <p:cNvSpPr>
            <a:spLocks/>
          </p:cNvSpPr>
          <p:nvPr/>
        </p:nvSpPr>
        <p:spPr>
          <a:xfrm>
            <a:off x="2419200" y="1571760"/>
            <a:ext cx="1389240" cy="722520"/>
          </a:xfrm>
          <a:prstGeom prst="roundRect">
            <a:avLst>
              <a:gd name="adj" fmla="val 13158"/>
            </a:avLst>
          </a:prstGeom>
          <a:solidFill>
            <a:srgbClr val="DDF3EA"/>
          </a:solidFill>
          <a:ln w="17145">
            <a:solidFill>
              <a:srgbClr val="087F5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1" name="nx-stage-2-title">
            <a:extLst>
              <a:ext uri="{FF2B5EF4-FFF2-40B4-BE49-F238E27FC236}">
                <a16:creationId xmlns:a16="http://schemas.microsoft.com/office/drawing/2014/main" id="{AFE239EE-CE49-4EC7-A2BC-924D8B8130B1}"/>
              </a:ext>
            </a:extLst>
          </p:cNvPr>
          <p:cNvSpPr>
            <a:spLocks/>
          </p:cNvSpPr>
          <p:nvPr/>
        </p:nvSpPr>
        <p:spPr>
          <a:xfrm>
            <a:off x="2606580" y="1659553"/>
            <a:ext cx="96048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buNone/>
              <a:defRPr sz="1148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Flaky </a:t>
            </a:r>
            <a:r>
              <a:rPr sz="1148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分流</a:t>
            </a:r>
            <a:endParaRPr sz="1148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buNone/>
              <a:defRPr sz="1148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与重跑路由</a:t>
            </a:r>
            <a:endParaRPr sz="1148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nx-stage-2-detail">
            <a:extLst>
              <a:ext uri="{FF2B5EF4-FFF2-40B4-BE49-F238E27FC236}">
                <a16:creationId xmlns:a16="http://schemas.microsoft.com/office/drawing/2014/main" id="{00351F8D-E67B-46F7-8221-513AADBEFCAC}"/>
              </a:ext>
            </a:extLst>
          </p:cNvPr>
          <p:cNvSpPr>
            <a:spLocks/>
          </p:cNvSpPr>
          <p:nvPr/>
        </p:nvSpPr>
        <p:spPr>
          <a:xfrm>
            <a:off x="2514420" y="2043772"/>
            <a:ext cx="119880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710" b="0" u="none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Empty Commit · Retry</a:t>
            </a:r>
          </a:p>
        </p:txBody>
      </p:sp>
      <p:sp>
        <p:nvSpPr>
          <p:cNvPr id="23" name="nx-stage-3">
            <a:extLst>
              <a:ext uri="{FF2B5EF4-FFF2-40B4-BE49-F238E27FC236}">
                <a16:creationId xmlns:a16="http://schemas.microsoft.com/office/drawing/2014/main" id="{DA79F832-DC49-4C25-983E-05E8FD1E0758}"/>
              </a:ext>
            </a:extLst>
          </p:cNvPr>
          <p:cNvSpPr>
            <a:spLocks/>
          </p:cNvSpPr>
          <p:nvPr/>
        </p:nvSpPr>
        <p:spPr>
          <a:xfrm>
            <a:off x="4000680" y="1571760"/>
            <a:ext cx="1474920" cy="722520"/>
          </a:xfrm>
          <a:prstGeom prst="roundRect">
            <a:avLst>
              <a:gd name="adj" fmla="val 13158"/>
            </a:avLst>
          </a:prstGeom>
          <a:solidFill>
            <a:srgbClr val="DDF3EA"/>
          </a:solidFill>
          <a:ln w="17145">
            <a:solidFill>
              <a:srgbClr val="087F5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5" name="nx-stage-3-title">
            <a:extLst>
              <a:ext uri="{FF2B5EF4-FFF2-40B4-BE49-F238E27FC236}">
                <a16:creationId xmlns:a16="http://schemas.microsoft.com/office/drawing/2014/main" id="{F44DB8BE-8BF3-4320-8D3C-80B93EAB4247}"/>
              </a:ext>
            </a:extLst>
          </p:cNvPr>
          <p:cNvSpPr>
            <a:spLocks/>
          </p:cNvSpPr>
          <p:nvPr/>
        </p:nvSpPr>
        <p:spPr>
          <a:xfrm>
            <a:off x="4206149" y="1644203"/>
            <a:ext cx="104616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buNone/>
              <a:defRPr sz="1148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修复资格</a:t>
            </a:r>
            <a:endParaRPr sz="1148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buNone/>
              <a:defRPr sz="1148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与作用域约束</a:t>
            </a:r>
            <a:endParaRPr sz="1148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nx-stage-3-detail">
            <a:extLst>
              <a:ext uri="{FF2B5EF4-FFF2-40B4-BE49-F238E27FC236}">
                <a16:creationId xmlns:a16="http://schemas.microsoft.com/office/drawing/2014/main" id="{23E72E6E-502D-40AE-A33D-4C7BB486CB20}"/>
              </a:ext>
            </a:extLst>
          </p:cNvPr>
          <p:cNvSpPr>
            <a:spLocks/>
          </p:cNvSpPr>
          <p:nvPr/>
        </p:nvSpPr>
        <p:spPr>
          <a:xfrm>
            <a:off x="4095900" y="2019600"/>
            <a:ext cx="128448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860" b="0" u="none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fix-tasks · Never Fix</a:t>
            </a:r>
          </a:p>
        </p:txBody>
      </p:sp>
      <p:sp>
        <p:nvSpPr>
          <p:cNvPr id="27" name="nx-stage-4">
            <a:extLst>
              <a:ext uri="{FF2B5EF4-FFF2-40B4-BE49-F238E27FC236}">
                <a16:creationId xmlns:a16="http://schemas.microsoft.com/office/drawing/2014/main" id="{4AF12529-2050-422C-8E12-B086E43B9A10}"/>
              </a:ext>
            </a:extLst>
          </p:cNvPr>
          <p:cNvSpPr>
            <a:spLocks/>
          </p:cNvSpPr>
          <p:nvPr/>
        </p:nvSpPr>
        <p:spPr>
          <a:xfrm>
            <a:off x="5667480" y="1571760"/>
            <a:ext cx="1474920" cy="722520"/>
          </a:xfrm>
          <a:prstGeom prst="roundRect">
            <a:avLst>
              <a:gd name="adj" fmla="val 13158"/>
            </a:avLst>
          </a:prstGeom>
          <a:solidFill>
            <a:srgbClr val="E7F5F0"/>
          </a:solidFill>
          <a:ln w="13335">
            <a:solidFill>
              <a:srgbClr val="087F5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9" name="nx-stage-4-title">
            <a:extLst>
              <a:ext uri="{FF2B5EF4-FFF2-40B4-BE49-F238E27FC236}">
                <a16:creationId xmlns:a16="http://schemas.microsoft.com/office/drawing/2014/main" id="{C9ECC0E2-AFB2-457C-A034-709E52536B89}"/>
              </a:ext>
            </a:extLst>
          </p:cNvPr>
          <p:cNvSpPr>
            <a:spLocks/>
          </p:cNvSpPr>
          <p:nvPr/>
        </p:nvSpPr>
        <p:spPr>
          <a:xfrm>
            <a:off x="5877933" y="1642674"/>
            <a:ext cx="104616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48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 u="none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根因诊断</a:t>
            </a:r>
            <a:endParaRPr sz="1148" b="1" u="none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0000"/>
              </a:lnSpc>
              <a:buNone/>
              <a:defRPr sz="1148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 u="none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与候选修复</a:t>
            </a:r>
            <a:endParaRPr sz="1148" b="1" u="none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nx-stage-4-detail">
            <a:extLst>
              <a:ext uri="{FF2B5EF4-FFF2-40B4-BE49-F238E27FC236}">
                <a16:creationId xmlns:a16="http://schemas.microsoft.com/office/drawing/2014/main" id="{9F0D9CB3-D279-41DA-99EB-1E2885BE65D7}"/>
              </a:ext>
            </a:extLst>
          </p:cNvPr>
          <p:cNvSpPr>
            <a:spLocks/>
          </p:cNvSpPr>
          <p:nvPr/>
        </p:nvSpPr>
        <p:spPr>
          <a:xfrm>
            <a:off x="5762520" y="2000160"/>
            <a:ext cx="128448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1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 u="none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Diff · Task Rerun</a:t>
            </a:r>
          </a:p>
        </p:txBody>
      </p:sp>
      <p:sp>
        <p:nvSpPr>
          <p:cNvPr id="31" name="nx-stage-5">
            <a:extLst>
              <a:ext uri="{FF2B5EF4-FFF2-40B4-BE49-F238E27FC236}">
                <a16:creationId xmlns:a16="http://schemas.microsoft.com/office/drawing/2014/main" id="{DC473411-CBF3-4373-8BC1-554946F494ED}"/>
              </a:ext>
            </a:extLst>
          </p:cNvPr>
          <p:cNvSpPr>
            <a:spLocks/>
          </p:cNvSpPr>
          <p:nvPr/>
        </p:nvSpPr>
        <p:spPr>
          <a:xfrm>
            <a:off x="7334280" y="1571760"/>
            <a:ext cx="1427400" cy="722520"/>
          </a:xfrm>
          <a:prstGeom prst="roundRect">
            <a:avLst>
              <a:gd name="adj" fmla="val 13158"/>
            </a:avLst>
          </a:prstGeom>
          <a:solidFill>
            <a:srgbClr val="DDF3EA"/>
          </a:solidFill>
          <a:ln w="17145">
            <a:solidFill>
              <a:srgbClr val="087F5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33" name="nx-stage-5-title">
            <a:extLst>
              <a:ext uri="{FF2B5EF4-FFF2-40B4-BE49-F238E27FC236}">
                <a16:creationId xmlns:a16="http://schemas.microsoft.com/office/drawing/2014/main" id="{DCEB0827-C433-45A2-957F-13A5FB610933}"/>
              </a:ext>
            </a:extLst>
          </p:cNvPr>
          <p:cNvSpPr>
            <a:spLocks/>
          </p:cNvSpPr>
          <p:nvPr/>
        </p:nvSpPr>
        <p:spPr>
          <a:xfrm>
            <a:off x="7463520" y="1601419"/>
            <a:ext cx="116820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Auto-apply</a:t>
            </a:r>
          </a:p>
          <a:p>
            <a:pPr algn="ctr">
              <a:lnSpc>
                <a:spcPct val="100000"/>
              </a:lnSpc>
              <a:buNone/>
            </a:pPr>
            <a:r>
              <a:rPr sz="1150" b="1" u="none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三条件门禁</a:t>
            </a:r>
            <a:endParaRPr sz="1150" b="1" u="none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nx-stage-5-detail">
            <a:extLst>
              <a:ext uri="{FF2B5EF4-FFF2-40B4-BE49-F238E27FC236}">
                <a16:creationId xmlns:a16="http://schemas.microsoft.com/office/drawing/2014/main" id="{3CBCAA7B-A03F-47AB-AC10-0AAC28A79DF7}"/>
              </a:ext>
            </a:extLst>
          </p:cNvPr>
          <p:cNvSpPr>
            <a:spLocks/>
          </p:cNvSpPr>
          <p:nvPr/>
        </p:nvSpPr>
        <p:spPr>
          <a:xfrm>
            <a:off x="7429500" y="2019600"/>
            <a:ext cx="123696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710" b="0" u="none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Pattern · Confidence · Verified</a:t>
            </a:r>
          </a:p>
        </p:txBody>
      </p:sp>
      <p:sp>
        <p:nvSpPr>
          <p:cNvPr id="35" name="nx-stage-6">
            <a:extLst>
              <a:ext uri="{FF2B5EF4-FFF2-40B4-BE49-F238E27FC236}">
                <a16:creationId xmlns:a16="http://schemas.microsoft.com/office/drawing/2014/main" id="{499EB998-6F93-4ADA-AF71-A0F9F3CA5C56}"/>
              </a:ext>
            </a:extLst>
          </p:cNvPr>
          <p:cNvSpPr>
            <a:spLocks/>
          </p:cNvSpPr>
          <p:nvPr/>
        </p:nvSpPr>
        <p:spPr>
          <a:xfrm>
            <a:off x="8953560" y="1571760"/>
            <a:ext cx="2703600" cy="722520"/>
          </a:xfrm>
          <a:prstGeom prst="roundRect">
            <a:avLst>
              <a:gd name="adj" fmla="val 13158"/>
            </a:avLst>
          </a:prstGeom>
          <a:solidFill>
            <a:srgbClr val="E7F5F0"/>
          </a:solidFill>
          <a:ln w="13335">
            <a:solidFill>
              <a:srgbClr val="087F5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37" name="nx-stage-6-title">
            <a:extLst>
              <a:ext uri="{FF2B5EF4-FFF2-40B4-BE49-F238E27FC236}">
                <a16:creationId xmlns:a16="http://schemas.microsoft.com/office/drawing/2014/main" id="{9069C453-2CE0-4E9D-8243-774913F043A1}"/>
              </a:ext>
            </a:extLst>
          </p:cNvPr>
          <p:cNvSpPr>
            <a:spLocks/>
          </p:cNvSpPr>
          <p:nvPr/>
        </p:nvSpPr>
        <p:spPr>
          <a:xfrm>
            <a:off x="9286920" y="1666800"/>
            <a:ext cx="227520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48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 u="none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PR 分支写回、外层检查与回退</a:t>
            </a:r>
          </a:p>
        </p:txBody>
      </p:sp>
      <p:sp>
        <p:nvSpPr>
          <p:cNvPr id="38" name="nx-stage-6-detail">
            <a:extLst>
              <a:ext uri="{FF2B5EF4-FFF2-40B4-BE49-F238E27FC236}">
                <a16:creationId xmlns:a16="http://schemas.microsoft.com/office/drawing/2014/main" id="{0C1EDB8F-BB0E-4CCE-8C9D-EA4ECD24EFC0}"/>
              </a:ext>
            </a:extLst>
          </p:cNvPr>
          <p:cNvSpPr>
            <a:spLocks/>
          </p:cNvSpPr>
          <p:nvPr/>
        </p:nvSpPr>
        <p:spPr>
          <a:xfrm>
            <a:off x="9048780" y="2039940"/>
            <a:ext cx="251316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860" b="0" u="none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Commit · Required Checks · Revert</a:t>
            </a:r>
          </a:p>
        </p:txBody>
      </p:sp>
      <p:sp>
        <p:nvSpPr>
          <p:cNvPr id="39" name="nx-flaky-route">
            <a:extLst>
              <a:ext uri="{FF2B5EF4-FFF2-40B4-BE49-F238E27FC236}">
                <a16:creationId xmlns:a16="http://schemas.microsoft.com/office/drawing/2014/main" id="{5B5C8BC6-5FCE-4CF7-87AB-DD54A388CD19}"/>
              </a:ext>
            </a:extLst>
          </p:cNvPr>
          <p:cNvSpPr>
            <a:spLocks/>
          </p:cNvSpPr>
          <p:nvPr/>
        </p:nvSpPr>
        <p:spPr>
          <a:xfrm>
            <a:off x="4000679" y="1200240"/>
            <a:ext cx="2361209" cy="293760"/>
          </a:xfrm>
          <a:prstGeom prst="roundRect">
            <a:avLst>
              <a:gd name="adj" fmla="val 25806"/>
            </a:avLst>
          </a:prstGeom>
          <a:solidFill>
            <a:srgbClr val="FFF7E6"/>
          </a:solidFill>
          <a:ln w="11430">
            <a:solidFill>
              <a:srgbClr val="B7791F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0" name="nx-flaky-route-text">
            <a:extLst>
              <a:ext uri="{FF2B5EF4-FFF2-40B4-BE49-F238E27FC236}">
                <a16:creationId xmlns:a16="http://schemas.microsoft.com/office/drawing/2014/main" id="{88CE61E8-8784-45F0-BE56-C4A6D24EBE41}"/>
              </a:ext>
            </a:extLst>
          </p:cNvPr>
          <p:cNvSpPr>
            <a:spLocks/>
          </p:cNvSpPr>
          <p:nvPr/>
        </p:nvSpPr>
        <p:spPr>
          <a:xfrm>
            <a:off x="4199225" y="1248456"/>
            <a:ext cx="194184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860" b="1" u="none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Flaky → Empty Commit → 重跑 </a:t>
            </a:r>
          </a:p>
        </p:txBody>
      </p:sp>
      <p:sp>
        <p:nvSpPr>
          <p:cNvPr id="41" name="nx-stop-route">
            <a:extLst>
              <a:ext uri="{FF2B5EF4-FFF2-40B4-BE49-F238E27FC236}">
                <a16:creationId xmlns:a16="http://schemas.microsoft.com/office/drawing/2014/main" id="{0F2EB587-B0DD-4327-81A6-FB2B8FE81D0C}"/>
              </a:ext>
            </a:extLst>
          </p:cNvPr>
          <p:cNvSpPr>
            <a:spLocks/>
          </p:cNvSpPr>
          <p:nvPr/>
        </p:nvSpPr>
        <p:spPr>
          <a:xfrm>
            <a:off x="3609982" y="2422729"/>
            <a:ext cx="2246400" cy="299951"/>
          </a:xfrm>
          <a:prstGeom prst="roundRect">
            <a:avLst>
              <a:gd name="adj" fmla="val 22222"/>
            </a:avLst>
          </a:prstGeom>
          <a:solidFill>
            <a:srgbClr val="FBEDE9"/>
          </a:solidFill>
          <a:ln w="11430">
            <a:solidFill>
              <a:srgbClr val="8A4B3A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2" name="nx-stop-route-text">
            <a:extLst>
              <a:ext uri="{FF2B5EF4-FFF2-40B4-BE49-F238E27FC236}">
                <a16:creationId xmlns:a16="http://schemas.microsoft.com/office/drawing/2014/main" id="{5894B526-BD2D-4F7D-8276-920234313CF7}"/>
              </a:ext>
            </a:extLst>
          </p:cNvPr>
          <p:cNvSpPr>
            <a:spLocks/>
          </p:cNvSpPr>
          <p:nvPr/>
        </p:nvSpPr>
        <p:spPr>
          <a:xfrm>
            <a:off x="3685942" y="2470249"/>
            <a:ext cx="2094120" cy="24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860" b="1" u="none">
                <a:solidFill>
                  <a:srgbClr val="8A4B3A"/>
                </a:solidFill>
                <a:latin typeface="Microsoft YaHei"/>
                <a:ea typeface="Microsoft YaHei"/>
                <a:cs typeface="Microsoft YaHei"/>
              </a:rPr>
              <a:t>Never Fix / Protected → 人工处理</a:t>
            </a:r>
          </a:p>
        </p:txBody>
      </p:sp>
      <p:cxnSp>
        <p:nvCxnSpPr>
          <p:cNvPr id="162" name="直线箭头连接符 44"/>
          <p:cNvCxnSpPr>
            <a:cxnSpLocks/>
            <a:stCxn id="15" idx="3"/>
            <a:endCxn id="19" idx="1"/>
          </p:cNvCxnSpPr>
          <p:nvPr/>
        </p:nvCxnSpPr>
        <p:spPr>
          <a:xfrm>
            <a:off x="2227680" y="1933200"/>
            <a:ext cx="191880" cy="360"/>
          </a:xfrm>
          <a:prstGeom prst="straightConnector1">
            <a:avLst/>
          </a:prstGeom>
          <a:ln w="19050">
            <a:solidFill>
              <a:srgbClr val="087F5B"/>
            </a:solidFill>
            <a:round/>
            <a:tailEnd type="triangle" w="sm" len="sm"/>
          </a:ln>
        </p:spPr>
      </p:cxnSp>
      <p:cxnSp>
        <p:nvCxnSpPr>
          <p:cNvPr id="163" name="直线箭头连接符 45"/>
          <p:cNvCxnSpPr>
            <a:stCxn id="19" idx="3"/>
            <a:endCxn id="23" idx="1"/>
          </p:cNvCxnSpPr>
          <p:nvPr/>
        </p:nvCxnSpPr>
        <p:spPr>
          <a:xfrm>
            <a:off x="3808440" y="1933200"/>
            <a:ext cx="192600" cy="360"/>
          </a:xfrm>
          <a:prstGeom prst="straightConnector1">
            <a:avLst/>
          </a:prstGeom>
          <a:ln w="19050">
            <a:solidFill>
              <a:srgbClr val="087F5B"/>
            </a:solidFill>
            <a:round/>
            <a:tailEnd type="triangle" w="sm" len="sm"/>
          </a:ln>
        </p:spPr>
      </p:cxnSp>
      <p:cxnSp>
        <p:nvCxnSpPr>
          <p:cNvPr id="164" name="直线箭头连接符 46"/>
          <p:cNvCxnSpPr>
            <a:stCxn id="23" idx="3"/>
            <a:endCxn id="27" idx="1"/>
          </p:cNvCxnSpPr>
          <p:nvPr/>
        </p:nvCxnSpPr>
        <p:spPr>
          <a:xfrm>
            <a:off x="5475600" y="1933200"/>
            <a:ext cx="192240" cy="360"/>
          </a:xfrm>
          <a:prstGeom prst="straightConnector1">
            <a:avLst/>
          </a:prstGeom>
          <a:ln w="19050">
            <a:solidFill>
              <a:srgbClr val="087F5B"/>
            </a:solidFill>
            <a:round/>
            <a:tailEnd type="triangle" w="sm" len="sm"/>
          </a:ln>
        </p:spPr>
      </p:cxnSp>
      <p:cxnSp>
        <p:nvCxnSpPr>
          <p:cNvPr id="165" name="直线箭头连接符 47"/>
          <p:cNvCxnSpPr>
            <a:stCxn id="27" idx="3"/>
            <a:endCxn id="31" idx="1"/>
          </p:cNvCxnSpPr>
          <p:nvPr/>
        </p:nvCxnSpPr>
        <p:spPr>
          <a:xfrm>
            <a:off x="7142400" y="1933200"/>
            <a:ext cx="192240" cy="360"/>
          </a:xfrm>
          <a:prstGeom prst="straightConnector1">
            <a:avLst/>
          </a:prstGeom>
          <a:ln w="19050">
            <a:solidFill>
              <a:srgbClr val="087F5B"/>
            </a:solidFill>
            <a:round/>
            <a:tailEnd type="triangle" w="sm" len="sm"/>
          </a:ln>
        </p:spPr>
      </p:cxnSp>
      <p:cxnSp>
        <p:nvCxnSpPr>
          <p:cNvPr id="166" name="直线箭头连接符 48"/>
          <p:cNvCxnSpPr>
            <a:stCxn id="31" idx="3"/>
            <a:endCxn id="35" idx="1"/>
          </p:cNvCxnSpPr>
          <p:nvPr/>
        </p:nvCxnSpPr>
        <p:spPr>
          <a:xfrm>
            <a:off x="8761680" y="1933200"/>
            <a:ext cx="192240" cy="360"/>
          </a:xfrm>
          <a:prstGeom prst="straightConnector1">
            <a:avLst/>
          </a:prstGeom>
          <a:ln w="19050">
            <a:solidFill>
              <a:srgbClr val="087F5B"/>
            </a:solidFill>
            <a:round/>
            <a:tailEnd type="triangle" w="sm" len="sm"/>
          </a:ln>
        </p:spPr>
      </p:cxnSp>
      <p:cxnSp>
        <p:nvCxnSpPr>
          <p:cNvPr id="167" name="肘形连接符 49"/>
          <p:cNvCxnSpPr>
            <a:stCxn id="19" idx="0"/>
            <a:endCxn id="39" idx="1"/>
          </p:cNvCxnSpPr>
          <p:nvPr/>
        </p:nvCxnSpPr>
        <p:spPr>
          <a:xfrm rot="5400000" flipH="1" flipV="1">
            <a:off x="3444929" y="1016011"/>
            <a:ext cx="224640" cy="886859"/>
          </a:xfrm>
          <a:prstGeom prst="bentConnector2">
            <a:avLst/>
          </a:prstGeom>
          <a:ln w="13335">
            <a:solidFill>
              <a:srgbClr val="B7791F"/>
            </a:solidFill>
            <a:prstDash val="dash"/>
            <a:round/>
            <a:tailEnd type="triangle" w="sm" len="sm"/>
          </a:ln>
        </p:spPr>
      </p:cxnSp>
      <p:sp>
        <p:nvSpPr>
          <p:cNvPr id="43" name="nx-manual-route">
            <a:extLst>
              <a:ext uri="{FF2B5EF4-FFF2-40B4-BE49-F238E27FC236}">
                <a16:creationId xmlns:a16="http://schemas.microsoft.com/office/drawing/2014/main" id="{D2489298-3FC5-443B-B8AE-56225681459D}"/>
              </a:ext>
            </a:extLst>
          </p:cNvPr>
          <p:cNvSpPr>
            <a:spLocks/>
          </p:cNvSpPr>
          <p:nvPr/>
        </p:nvSpPr>
        <p:spPr>
          <a:xfrm>
            <a:off x="6972300" y="2424511"/>
            <a:ext cx="2151360" cy="291978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1430">
            <a:solidFill>
              <a:srgbClr val="627D98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4" name="nx-manual-route-text">
            <a:extLst>
              <a:ext uri="{FF2B5EF4-FFF2-40B4-BE49-F238E27FC236}">
                <a16:creationId xmlns:a16="http://schemas.microsoft.com/office/drawing/2014/main" id="{31C1F6A2-FE90-43DE-B93D-11E8FACEAE12}"/>
              </a:ext>
            </a:extLst>
          </p:cNvPr>
          <p:cNvSpPr>
            <a:spLocks/>
          </p:cNvSpPr>
          <p:nvPr/>
        </p:nvSpPr>
        <p:spPr>
          <a:xfrm>
            <a:off x="7048260" y="2472031"/>
            <a:ext cx="1998720" cy="24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860" b="1" u="none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门禁未通过 → 人工处理</a:t>
            </a:r>
          </a:p>
        </p:txBody>
      </p:sp>
      <p:sp>
        <p:nvSpPr>
          <p:cNvPr id="58" name="bottom-insights">
            <a:extLst>
              <a:ext uri="{FF2B5EF4-FFF2-40B4-BE49-F238E27FC236}">
                <a16:creationId xmlns:a16="http://schemas.microsoft.com/office/drawing/2014/main" id="{984B45B5-E44A-44B7-9CF3-803E89E7B327}"/>
              </a:ext>
            </a:extLst>
          </p:cNvPr>
          <p:cNvSpPr>
            <a:spLocks/>
          </p:cNvSpPr>
          <p:nvPr/>
        </p:nvSpPr>
        <p:spPr>
          <a:xfrm>
            <a:off x="1271081" y="5909732"/>
            <a:ext cx="10367719" cy="549433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150" tIns="19050" rIns="57150" bIns="19050" anchor="ctr">
            <a:no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自建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CI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自愈的核心，是打通“证据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分流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修复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写回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回退”的受控闭环，而非只生成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Diff。</a:t>
            </a:r>
          </a:p>
          <a:p>
            <a:pPr algn="l"/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Agent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负责诊断与生成，原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CI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负责复验，策略与权限负责准入，避免修改、验收与放行权集中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cxnSp>
        <p:nvCxnSpPr>
          <p:cNvPr id="171" name="直线箭头连接符 69"/>
          <p:cNvCxnSpPr>
            <a:stCxn id="23" idx="2"/>
            <a:endCxn id="41" idx="0"/>
          </p:cNvCxnSpPr>
          <p:nvPr/>
        </p:nvCxnSpPr>
        <p:spPr>
          <a:xfrm flipH="1">
            <a:off x="4733182" y="2294280"/>
            <a:ext cx="4958" cy="128449"/>
          </a:xfrm>
          <a:prstGeom prst="straightConnector1">
            <a:avLst/>
          </a:prstGeom>
          <a:ln w="13335">
            <a:solidFill>
              <a:srgbClr val="B7791F"/>
            </a:solidFill>
            <a:prstDash val="dash"/>
            <a:round/>
            <a:tailEnd type="triangle" w="sm" len="sm"/>
          </a:ln>
        </p:spPr>
      </p:cxnSp>
      <p:cxnSp>
        <p:nvCxnSpPr>
          <p:cNvPr id="172" name="直线箭头连接符 73"/>
          <p:cNvCxnSpPr>
            <a:stCxn id="31" idx="2"/>
            <a:endCxn id="43" idx="0"/>
          </p:cNvCxnSpPr>
          <p:nvPr/>
        </p:nvCxnSpPr>
        <p:spPr>
          <a:xfrm>
            <a:off x="8047980" y="2294280"/>
            <a:ext cx="0" cy="130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线箭头连接符 75"/>
          <p:cNvCxnSpPr>
            <a:stCxn id="31" idx="2"/>
            <a:endCxn id="43" idx="0"/>
          </p:cNvCxnSpPr>
          <p:nvPr/>
        </p:nvCxnSpPr>
        <p:spPr>
          <a:xfrm>
            <a:off x="8047980" y="2294280"/>
            <a:ext cx="0" cy="130231"/>
          </a:xfrm>
          <a:prstGeom prst="straightConnector1">
            <a:avLst/>
          </a:prstGeom>
          <a:ln w="13335">
            <a:solidFill>
              <a:schemeClr val="accent1"/>
            </a:solidFill>
            <a:prstDash val="dash"/>
            <a:round/>
            <a:tailEnd type="triangle" w="sm" len="sm"/>
          </a:ln>
        </p:spPr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05B26742-28B5-80F3-529F-31C5B8846AAA}"/>
              </a:ext>
            </a:extLst>
          </p:cNvPr>
          <p:cNvSpPr>
            <a:spLocks/>
          </p:cNvSpPr>
          <p:nvPr/>
        </p:nvSpPr>
        <p:spPr>
          <a:xfrm>
            <a:off x="423240" y="1581866"/>
            <a:ext cx="6355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1" u="none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142AADA-304B-A66C-08C3-252BE41B393B}"/>
              </a:ext>
            </a:extLst>
          </p:cNvPr>
          <p:cNvSpPr>
            <a:spLocks/>
          </p:cNvSpPr>
          <p:nvPr/>
        </p:nvSpPr>
        <p:spPr>
          <a:xfrm>
            <a:off x="2355754" y="1559360"/>
            <a:ext cx="3758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buNone/>
              <a:defRPr sz="1100" b="1" u="none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r>
              <a:t>②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70F4537-411A-2036-B9E6-0BC6E498FA9C}"/>
              </a:ext>
            </a:extLst>
          </p:cNvPr>
          <p:cNvSpPr>
            <a:spLocks/>
          </p:cNvSpPr>
          <p:nvPr/>
        </p:nvSpPr>
        <p:spPr>
          <a:xfrm>
            <a:off x="4036897" y="1537208"/>
            <a:ext cx="3242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buNone/>
              <a:defRPr sz="1100" b="1" u="none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r>
              <a:t>③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B2434522-D218-435B-2670-53230DEB6C40}"/>
              </a:ext>
            </a:extLst>
          </p:cNvPr>
          <p:cNvSpPr>
            <a:spLocks/>
          </p:cNvSpPr>
          <p:nvPr/>
        </p:nvSpPr>
        <p:spPr>
          <a:xfrm>
            <a:off x="5656174" y="1548027"/>
            <a:ext cx="3150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buNone/>
              <a:defRPr sz="1100" b="1" u="none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r>
              <a:t>④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604BD73A-3C9F-6CD2-BA08-41F54515F889}"/>
              </a:ext>
            </a:extLst>
          </p:cNvPr>
          <p:cNvSpPr>
            <a:spLocks/>
          </p:cNvSpPr>
          <p:nvPr/>
        </p:nvSpPr>
        <p:spPr>
          <a:xfrm>
            <a:off x="7305754" y="1542344"/>
            <a:ext cx="2870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buNone/>
              <a:defRPr sz="1100" b="1" u="none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r>
              <a:t>⑤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8AAC308-75AE-7249-07DD-382FB704E268}"/>
              </a:ext>
            </a:extLst>
          </p:cNvPr>
          <p:cNvSpPr>
            <a:spLocks/>
          </p:cNvSpPr>
          <p:nvPr/>
        </p:nvSpPr>
        <p:spPr>
          <a:xfrm>
            <a:off x="8927327" y="1534371"/>
            <a:ext cx="2875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buNone/>
              <a:defRPr sz="1100" b="1" u="none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r>
              <a:t>⑥</a:t>
            </a:r>
          </a:p>
        </p:txBody>
      </p:sp>
      <p:sp>
        <p:nvSpPr>
          <p:cNvPr id="98" name="bottom-insights">
            <a:extLst>
              <a:ext uri="{FF2B5EF4-FFF2-40B4-BE49-F238E27FC236}">
                <a16:creationId xmlns:a16="http://schemas.microsoft.com/office/drawing/2014/main" id="{DBDE2D4E-8A80-1A22-EAC7-98CF2ECEB0CE}"/>
              </a:ext>
            </a:extLst>
          </p:cNvPr>
          <p:cNvSpPr>
            <a:spLocks/>
          </p:cNvSpPr>
          <p:nvPr/>
        </p:nvSpPr>
        <p:spPr>
          <a:xfrm>
            <a:off x="533520" y="5909732"/>
            <a:ext cx="651753" cy="549434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1" u="none" dirty="0" err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洞察</a:t>
            </a:r>
            <a:endParaRPr sz="1600" b="1" u="none" dirty="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00000"/>
              </a:lnSpc>
              <a:buNone/>
            </a:pPr>
            <a:r>
              <a:rPr sz="1600" b="1" u="none" dirty="0" err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总结</a:t>
            </a:r>
            <a:endParaRPr sz="1600" b="1" u="none" dirty="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81" name="nx-stage-company-practice-table"/>
          <p:cNvGraphicFramePr/>
          <p:nvPr>
            <p:extLst>
              <p:ext uri="{D42A27DB-BD31-4B8C-83A1-F6EECF244321}">
                <p14:modId xmlns:p14="http://schemas.microsoft.com/office/powerpoint/2010/main" val="4007098248"/>
              </p:ext>
            </p:extLst>
          </p:nvPr>
        </p:nvGraphicFramePr>
        <p:xfrm>
          <a:off x="513720" y="2763260"/>
          <a:ext cx="11125080" cy="3110976"/>
        </p:xfrm>
        <a:graphic>
          <a:graphicData uri="http://schemas.openxmlformats.org/drawingml/2006/table">
            <a:tbl>
              <a:tblPr/>
              <a:tblGrid>
                <a:gridCol w="147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技术维度</a:t>
                      </a:r>
                      <a:endParaRPr sz="1200" b="1" dirty="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57150" marR="57150" marT="19050" marB="190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Nx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技术机制</a:t>
                      </a:r>
                      <a:endParaRPr sz="1200" b="1" dirty="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57150" marR="57150" marT="19050" marB="19050"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行业机制洞察</a:t>
                      </a:r>
                      <a:endParaRPr sz="1200" b="1" dirty="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57150" marR="57150" marT="19050" marB="19050"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dirty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</a:t>
                      </a:r>
                      <a:r>
                        <a:rPr sz="1000" b="1" dirty="0" err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上下文与证据装配</a:t>
                      </a:r>
                      <a:endParaRPr sz="1000" b="1" dirty="0">
                        <a:solidFill>
                          <a:srgbClr val="10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57150" marR="57150" marT="19050" marB="190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Task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fix-ci；Project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Graph、Task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Metadata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SELF_HEALING.md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装配项目关系、构建配置和仓库约束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</a:p>
                  </a:txBody>
                  <a:tcPr marL="57150" marR="57150" marT="19050" marB="1905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GitLab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：联合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Pipeline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Logs、MR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Diff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与仓库内容，追溯失败相关代码和脚本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</a:p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CircleCI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：以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Failure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Context、Build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History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Repo Code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补足跨运行证据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</a:p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Harness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：由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Build Logs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Knowledge Graph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关联服务、Pipeline、部署、Incidents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Policies。</a:t>
                      </a:r>
                    </a:p>
                  </a:txBody>
                  <a:tcPr marL="57150" marR="57150" marT="19050" marB="19050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dirty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②③ </a:t>
                      </a:r>
                      <a:r>
                        <a:rPr sz="1000" b="1" dirty="0" err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故障分流与修复边界</a:t>
                      </a:r>
                      <a:endParaRPr sz="1000" b="1" dirty="0">
                        <a:solidFill>
                          <a:srgbClr val="10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57150" marR="57150" marT="19050" marB="190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Flaky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走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Empty Commit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重跑；fix-tasks、Never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Fix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Protected Branch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将代码修复限定在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Eligible Task。</a:t>
                      </a:r>
                    </a:p>
                  </a:txBody>
                  <a:tcPr marL="57150" marR="57150" marT="19050" marB="1905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：CI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Doctor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先输出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Diagnostic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Issue，不将所有失败直接转为代码修改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</a:p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GitLab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：上下文不足、安全敏感或不可操作时转人工，可修复项再进入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Suggestion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MR。</a:t>
                      </a:r>
                    </a:p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CircleCI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：将代码、Flaky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与基础设施失败分别路由至修复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PR、稳定性处理或有限重跑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</a:p>
                  </a:txBody>
                  <a:tcPr marL="57150" marR="57150" marT="19050" marB="19050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dirty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④ </a:t>
                      </a:r>
                      <a:r>
                        <a:rPr sz="1000" b="1" dirty="0" err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根因诊断</a:t>
                      </a:r>
                      <a:endParaRPr sz="1000" b="1" dirty="0">
                        <a:solidFill>
                          <a:srgbClr val="10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57150" marR="57150" marT="19050" marB="190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结合失败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Task、Project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Graph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Task Metadata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分析故障并输出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Reasoning；官方未公开完整的多假设竞争与反证链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</a:p>
                  </a:txBody>
                  <a:tcPr marL="57150" marR="57150" marT="19050" marB="1905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</a:t>
                      </a:r>
                      <a:r>
                        <a:rPr sz="1000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：结合失败 Workflow、Job Logs 与相似历史，输出证据化诊断和修复建议。</a:t>
                      </a:r>
                    </a:p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</a:t>
                      </a:r>
                      <a:r>
                        <a:rPr sz="1000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Harness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：Remediation Agent 先形成 Root Cause，再将诊断交给 Coding Agent。</a:t>
                      </a:r>
                    </a:p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</a:t>
                      </a:r>
                      <a:r>
                        <a:rPr sz="1000" b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AWS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：基于服务拓扑并行评估假设，用 Metric、Log、Trace、代码与部署记录寻找反证。</a:t>
                      </a:r>
                    </a:p>
                  </a:txBody>
                  <a:tcPr marL="57150" marR="57150" marT="19050" marB="19050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dirty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④ </a:t>
                      </a:r>
                      <a:r>
                        <a:rPr sz="1000" b="1" dirty="0" err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候选修复生成</a:t>
                      </a:r>
                      <a:endParaRPr sz="1000" b="1" dirty="0">
                        <a:solidFill>
                          <a:srgbClr val="10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57150" marR="57150" marT="19050" marB="190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仅对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Eligible Task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生成带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Reasoning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的可审阅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Diff；支持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Apply、Reject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Apply Locally。</a:t>
                      </a:r>
                    </a:p>
                  </a:txBody>
                  <a:tcPr marL="57150" marR="57150" marT="19050" marB="1905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</a:t>
                      </a:r>
                      <a:r>
                        <a:rPr sz="1000" b="1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Dependabot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：确定性升级优先，复杂迁移才交给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Coding Agent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Draft PR。</a:t>
                      </a:r>
                    </a:p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GitLab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：MR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Diff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内生成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Inline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Suggestion，需修改范围外文件时创建独立修复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MR。</a:t>
                      </a:r>
                    </a:p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Snyk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：Analyzer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收敛漏洞路径，模型生成多候选，静态引擎排序过滤并反馈重试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</a:p>
                  </a:txBody>
                  <a:tcPr marL="57150" marR="57150" marT="19050" marB="19050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dirty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④ </a:t>
                      </a:r>
                      <a:r>
                        <a:rPr sz="1000" b="1" dirty="0" err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任务级验证</a:t>
                      </a:r>
                      <a:r>
                        <a:rPr sz="1000" b="1" dirty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Oracle</a:t>
                      </a:r>
                    </a:p>
                  </a:txBody>
                  <a:tcPr marL="57150" marR="57150" marT="19050" marB="190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应用候选变更并复跑原失败 Task，形成 Explicitly Verified；不替代全部 Required Checks。</a:t>
                      </a:r>
                    </a:p>
                  </a:txBody>
                  <a:tcPr marL="57150" marR="57150" marT="19050" marB="1905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CircleCI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：内环执行受影响检查，外环在干净环境重跑完整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CI。</a:t>
                      </a:r>
                    </a:p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Snyk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：用原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Analyzer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复验目标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Finding；编译、回归与业务正确性由其他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Oracle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证明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</a:p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Spotify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：独立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Verifier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执行格式、构建、测试和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LLM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Judge，返回独立验证结果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</a:p>
                  </a:txBody>
                  <a:tcPr marL="57150" marR="57150" marT="19050" marB="19050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dirty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⑤⑥ </a:t>
                      </a:r>
                      <a:r>
                        <a:rPr sz="1000" b="1" dirty="0" err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写回准入与回退控制</a:t>
                      </a:r>
                      <a:endParaRPr sz="1000" b="1" dirty="0">
                        <a:solidFill>
                          <a:srgbClr val="10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57150" marR="57150" marT="19050" marB="190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Auto-apply 需 Task Pattern × High Confidence × Explicitly Verified；仅写 PR Branch，Protected Branch 不生成 Fix，并保留 Reject / Revert。</a:t>
                      </a:r>
                    </a:p>
                  </a:txBody>
                  <a:tcPr marL="57150" marR="57150" marT="19050" marB="1905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：Safe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Outputs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Schema、Threat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Detection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Policy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校验，由独立写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Job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</a:p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Harness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：Scoped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Token、OPA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Approval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决定准入，Max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Turns、Retry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Rollback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限制循环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</a:p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1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Akuity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：Tool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Policy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Tool、Argument、环境和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Runbook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决定自动执行或审批，并进入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Audit Trail</a:t>
                      </a:r>
                    </a:p>
                  </a:txBody>
                  <a:tcPr marL="57150" marR="57150" marT="19050" marB="19050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9132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1329</Words>
  <Application>Microsoft Macintosh PowerPoint</Application>
  <DocSecurity>0</DocSecurity>
  <PresentationFormat>宽屏</PresentationFormat>
  <Paragraphs>136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Zhu Jiayi</cp:lastModifiedBy>
  <cp:revision>1</cp:revision>
  <dcterms:created xsi:type="dcterms:W3CDTF">2026-07-27T08:30:15Z</dcterms:created>
  <dcterms:modified xsi:type="dcterms:W3CDTF">2026-07-27T08:43:40Z</dcterms:modified>
</cp:coreProperties>
</file>