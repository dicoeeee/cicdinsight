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3077860d764235" /><Relationship Type="http://schemas.openxmlformats.org/officeDocument/2006/relationships/extended-properties" Target="/docProps/app.xml" Id="R8abea8b61c454dc2" /><Relationship Type="http://schemas.openxmlformats.org/officeDocument/2006/relationships/officeDocument" Target="/ppt/presentation.xml" Id="Raa942493a4da40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9cb9c410774c0a"/>
  </p:sldMasterIdLst>
  <p:notesMasterIdLst>
    <p:notesMasterId xmlns:r="http://schemas.openxmlformats.org/officeDocument/2006/relationships" r:id="R88797a453e8a4342"/>
  </p:notesMasterIdLst>
  <p:sldIdLst>
    <p:sldId xmlns:r="http://schemas.openxmlformats.org/officeDocument/2006/relationships" id="256" r:id="R825fa8c66d17497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67ecbbfc2341ac" /><Relationship Type="http://schemas.openxmlformats.org/officeDocument/2006/relationships/slideMaster" Target="/ppt/slideMasters/slideMaster1.xml" Id="Rbe9cb9c410774c0a" /><Relationship Type="http://schemas.openxmlformats.org/officeDocument/2006/relationships/notesMaster" Target="/ppt/notesMasters/notesMaster1.xml" Id="R88797a453e8a4342" /><Relationship Type="http://schemas.openxmlformats.org/officeDocument/2006/relationships/presProps" Target="/ppt/presProps.xml" Id="R4dd6336f9a0a4743" /><Relationship Type="http://schemas.openxmlformats.org/officeDocument/2006/relationships/tableStyles" Target="/ppt/tableStyles.xml" Id="R0dfaf3e3d83f40f9" /><Relationship Type="http://schemas.openxmlformats.org/officeDocument/2006/relationships/slide" Target="/ppt/slides/slide1.xml" Id="R825fa8c66d1749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80e6de8d2044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97c582e0714c59" /><Relationship Type="http://schemas.openxmlformats.org/officeDocument/2006/relationships/notesMaster" Target="/ppt/notesMasters/notesMaster1.xml" Id="R571e98845ebc41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Top workflow image and its source map: outputs/cli-upper-half-c-final-light.png; outputs/cli-upper-half-c-refined-command-sources.md</a:t>
            </a:r>
          </a:p>
          <a:p xmlns:a="http://schemas.openxmlformats.org/drawingml/2006/main">
            <a:r>
              <a:t>- Representative table source map: outputs/cli-lower-left-representative-table-sources.md</a:t>
            </a:r>
          </a:p>
          <a:p xmlns:a="http://schemas.openxmlformats.org/drawingml/2006/main">
            <a:r>
              <a:t>- CLI/MCP evidence audit: 50_deepdives/cli-agent-interface/industry-mcp-evolution-and-progressive-discovery-2026-07-28.md</a:t>
            </a:r>
          </a:p>
          <a:p xmlns:a="http://schemas.openxmlformats.org/drawingml/2006/main">
            <a:r>
              <a:t>- Claude Code Tool Search: https://code.claude.com/docs/en/mcp#scale-with-mcp-tool-search</a:t>
            </a:r>
          </a:p>
          <a:p xmlns:a="http://schemas.openxmlformats.org/drawingml/2006/main">
            <a:r>
              <a:t>- MCP Client Best Practices: https://modelcontextprotocol.io/docs/develop/clients/client-best-practices</a:t>
            </a:r>
          </a:p>
          <a:p xmlns:a="http://schemas.openxmlformats.org/drawingml/2006/main">
            <a:r>
              <a:t>- Thoughtworks Technology Radar, MCP by default: https://www.thoughtworks.com/radar/techniques/mcp-by-default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boundary: Tool Search is a host/client implementation pattern, not an MCP core RPC guarantee. Thoughtworks cautions against default adoption and explicitly does not reject MCP.</a:t>
            </a:r>
          </a:p>
          <a:p xmlns:a="http://schemas.openxmlformats.org/drawingml/2006/main">
            <a:r>
              <a:t>as_of: 2026-07-28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a7a82cac345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75dfeeef134799" /><Relationship Type="http://schemas.openxmlformats.org/officeDocument/2006/relationships/slideLayout" Target="/ppt/slideLayouts/slideLayout1.xml" Id="R63cf204aaa0343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cf204aaa0343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f976d5d2b46d6" /><Relationship Type="http://schemas.openxmlformats.org/officeDocument/2006/relationships/image" Target="/ppt/media/image.png" Id="R9d0ea48a4fd340ba" /><Relationship Type="http://schemas.openxmlformats.org/officeDocument/2006/relationships/hyperlink" Target="https://cli.github.com/manual/" TargetMode="External" Id="Rf3a3b97730c94d05" /><Relationship Type="http://schemas.openxmlformats.org/officeDocument/2006/relationships/hyperlink" Target="https://docs.snyk.io/developer-tools/snyk-cli" TargetMode="External" Id="Rb3c3043165f4425f" /><Relationship Type="http://schemas.openxmlformats.org/officeDocument/2006/relationships/hyperlink" Target="https://circleci.com/docs/guides/toolkit/local-cli/" TargetMode="External" Id="R5a7a08c5c8024528" /><Relationship Type="http://schemas.openxmlformats.org/officeDocument/2006/relationships/hyperlink" Target="https://docs.jfrog.com/integrations/docs/jfrog-cli-command-reference" TargetMode="External" Id="Re57b0b2a441440e0" /><Relationship Type="http://schemas.openxmlformats.org/officeDocument/2006/relationships/hyperlink" Target="https://developer.hashicorp.com/terraform/cli/commands" TargetMode="External" Id="R6b7492d165b14d2a" /><Relationship Type="http://schemas.openxmlformats.org/officeDocument/2006/relationships/hyperlink" Target="https://github.com/getsentry/sentry-cli" TargetMode="External" Id="Rf903c1bec0cf4d31" /><Relationship Type="http://schemas.openxmlformats.org/officeDocument/2006/relationships/notesSlide" Target="/ppt/notesSlides/notesSlide1.xml" Id="R04dff8828e7249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CE9413-7B3F-4C4B-8A5D-F4E11896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1676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CLI 贯穿软件交付作业链，直接执行与标准接入协同演进</a:t>
            </a:r>
          </a:p>
        </p:txBody>
      </p:sp>
      <p:sp>
        <p:nvSpPr>
          <p:cNvPr id="2" name="as-of">
            <a:extLst xmlns:a="http://schemas.openxmlformats.org/drawingml/2006/main">
              <a:ext uri="{FF2B5EF4-FFF2-40B4-BE49-F238E27FC236}">
                <a16:creationId xmlns:a16="http://schemas.microsoft.com/office/drawing/2014/main" id="{7E861201-C1B8-4169-9262-CEDD3663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2952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技术洞察 · 2026-07-28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942B81B-A663-493A-B89D-C908E2D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42950"/>
            <a:ext cx="1104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04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ea48a4fd340ba"/>
          <a:stretch xmlns:a="http://schemas.openxmlformats.org/drawingml/2006/main"/>
        </p:blipFill>
        <p:spPr>
          <a:xfrm xmlns:a="http://schemas.openxmlformats.org/drawingml/2006/main">
            <a:off x="381000" y="897731"/>
            <a:ext cx="17526000" cy="4929188"/>
          </a:xfrm>
          <a:prstGeom xmlns:a="http://schemas.openxmlformats.org/drawingml/2006/main" prst="rect">
            <a:avLst/>
          </a:prstGeom>
        </p:spPr>
      </p:pic>
      <p:graphicFrame>
        <p:nvGraphicFramePr>
          <p:cNvPr id="29" name=""/>
          <p:cNvGraphicFramePr/>
          <p:nvPr/>
        </p:nvGraphicFramePr>
        <p:xfrm>
          <a:off xmlns:a="http://schemas.openxmlformats.org/drawingml/2006/main" x="381000" y="60007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"/>
                <a:gridCol w="1333500"/>
                <a:gridCol w="2533650"/>
                <a:gridCol w="1657350"/>
                <a:gridCol w="1924050"/>
              </a:tblGrid>
              <a:tr h="514350"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作业阶段</a:t>
                      </a:r>
                    </a:p>
                  </a:txBody>
                  <a:tcPr marL="91440" marR="91440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 / CLI</a:t>
                      </a:r>
                    </a:p>
                  </a:txBody>
                  <a:tcPr marL="91440" marR="91440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功能方向</a:t>
                      </a:r>
                    </a:p>
                  </a:txBody>
                  <a:tcPr marL="91440" marR="91440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接入方式</a:t>
                      </a:r>
                    </a:p>
                  </a:txBody>
                  <a:tcPr marL="91440" marR="91440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形态 / 成熟度</a:t>
                      </a:r>
                    </a:p>
                  </a:txBody>
                  <a:tcPr marL="91440" marR="91440" marT="45720" marB="45720">
                    <a:solidFill>
                      <a:srgbClr val="E9EDF2"/>
                    </a:solidFill>
                  </a:tcPr>
                </a:tc>
              </a:tr>
              <a:tr h="564833">
                <a:tc>
                  <a:txBody>
                    <a:bodyPr lIns="38100" tIns="47625" rIns="38100" bIns="47625"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变更协同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f3a3b97730c94d05"/>
                        </a:rPr>
                        <a:t>GitHub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 / PR / Review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/ Actions / Release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Remote 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远程托管 / 可本地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4833">
                <a:tc>
                  <a:txBody>
                    <a:bodyPr lIns="38100" tIns="47625" rIns="38100" bIns="47625"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检查与门禁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b3c3043165f4425f"/>
                        </a:rPr>
                        <a:t>Snyk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snyk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 / 代码 / 容器 / IaC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 / 忽略 / 修复建议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snyk mcp -t stdio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EA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  <a:tr h="564833">
                <a:tc>
                  <a:txBody>
                    <a:bodyPr lIns="38100" tIns="47625" rIns="38100" bIns="47625"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5a7a08c5c8024528"/>
                        </a:rPr>
                        <a:t>CircleCI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circleci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validate / process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execute / diagnostic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circleci mcp 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CLI v1 Preview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4833">
                <a:tc>
                  <a:txBody>
                    <a:bodyPr lIns="38100" tIns="47625" rIns="38100" bIns="47625"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制品与供应链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e57b0b2a441440e0"/>
                        </a:rPr>
                        <a:t>JFrog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jf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 / 复制 / 发布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Xray / SBOM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Remote MCP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/ 自托管 Beta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  <a:tr h="564833">
                <a:tc>
                  <a:txBody>
                    <a:bodyPr lIns="38100" tIns="47625" rIns="38100" bIns="47625"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部署与发布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6b7492d165b14d2a"/>
                        </a:rPr>
                        <a:t>HashiCorp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init / plan / apply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workspace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terraform-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mcp-server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Server · v1.0.x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4833">
                <a:tc>
                  <a:txBody>
                    <a:bodyPr lIns="38100" tIns="47625" rIns="38100" bIns="47625"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观测与恢复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xmlns:r="http://schemas.openxmlformats.org/officeDocument/2006/relationships" r:id="Rf903c1bec0cf4d31"/>
                        </a:rPr>
                        <a:t>Sentry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sentry-cli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 / Deploy / Commit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 Map / Event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mcp.sentry.dev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远程可用 / stdio 开发中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"/>
          <p:cNvGraphicFramePr/>
          <p:nvPr/>
        </p:nvGraphicFramePr>
        <p:xfrm>
          <a:off xmlns:a="http://schemas.openxmlformats.org/drawingml/2006/main" x="9182100" y="6000750"/>
          <a:ext xmlns:a="http://schemas.openxmlformats.org/drawingml/2006/main" cx="87249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"/>
                <a:gridCol w="3800475"/>
                <a:gridCol w="3800475"/>
              </a:tblGrid>
              <a:tr h="476250"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 marL="91440" marR="91440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lIns="114300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CLI｜直接执行面</a:t>
                      </a:r>
                    </a:p>
                  </a:txBody>
                  <a:tcPr marL="91440" marR="91440" marT="45720" marB="45720">
                    <a:solidFill>
                      <a:srgbClr val="E9EDF2"/>
                    </a:solidFill>
                  </a:tcPr>
                </a:tc>
                <a:tc>
                  <a:txBody>
                    <a:bodyPr lIns="114300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MCP｜标准接入面</a:t>
                      </a:r>
                    </a:p>
                  </a:txBody>
                  <a:tcPr marL="91440" marR="91440" marT="45720" marB="45720">
                    <a:solidFill>
                      <a:srgbClr val="E9EDF2"/>
                    </a:solidFill>
                  </a:tcPr>
                </a:tc>
              </a:tr>
              <a:tr h="452438">
                <a:tc>
                  <a:txBody>
                    <a:bodyPr lIns="38100" tIns="38100" rIns="38100" bIns="38100" anchor="ctr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复用成熟工具的完整执行语义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命令、文件、进程进入 Agent 工作循环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统一能力发现与调用契约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 接入本地或远程服务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38100" tIns="38100" rIns="38100" bIns="38100" anchor="ctr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核心优势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能力保真、易重放，Shell 组合成本低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复用脚本、Runner、权限与运维经验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跨客户端互操作，支持远程鉴权与集中治理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能力描述与 OAuth 边界更易标准化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  <a:tr h="452438">
                <a:tc>
                  <a:txBody>
                    <a:bodyPr lIns="38100" tIns="38100" rIns="38100" bIns="38100" anchor="ctr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主要代价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接口与版本差异由 Agent / Skill 消化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输出不稳会降低自动化可靠性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Server、协议生命周期与权限治理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全量注入工具定义会占用上下文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38100" tIns="38100" rIns="38100" bIns="38100" anchor="ctr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本地工程动作、CI Runner、已有成熟 CLI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lIns="66675" tIns="47625" rIns="66675" bIns="47625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远程系统、多客户端共享、企业身份治理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cli-trend-surface">
            <a:extLst xmlns:a="http://schemas.openxmlformats.org/drawingml/2006/main">
              <a:ext uri="{FF2B5EF4-FFF2-40B4-BE49-F238E27FC236}">
                <a16:creationId xmlns:a16="http://schemas.microsoft.com/office/drawing/2014/main" id="{0EF34881-3EB6-43BE-8257-D2EBBEA8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420100"/>
            <a:ext cx="872490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E2"/>
            </a:solidFill>
            <a:prstDash val="solid"/>
          </a:ln>
        </p:spPr>
      </p:sp>
      <p:sp>
        <p:nvSpPr>
          <p:cNvPr id="8" name="cli-trend-edge">
            <a:extLst xmlns:a="http://schemas.openxmlformats.org/drawingml/2006/main">
              <a:ext uri="{FF2B5EF4-FFF2-40B4-BE49-F238E27FC236}">
                <a16:creationId xmlns:a16="http://schemas.microsoft.com/office/drawing/2014/main" id="{7DD4E14F-2BE6-43C3-97DC-EC77E061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4201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i-trend-label-bg">
            <a:extLst xmlns:a="http://schemas.openxmlformats.org/drawingml/2006/main">
              <a:ext uri="{FF2B5EF4-FFF2-40B4-BE49-F238E27FC236}">
                <a16:creationId xmlns:a16="http://schemas.microsoft.com/office/drawing/2014/main" id="{00B7D69A-1B08-42F3-BFA4-AFAD429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496300"/>
            <a:ext cx="87630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i-trend-label">
            <a:extLst xmlns:a="http://schemas.openxmlformats.org/drawingml/2006/main">
              <a:ext uri="{FF2B5EF4-FFF2-40B4-BE49-F238E27FC236}">
                <a16:creationId xmlns:a16="http://schemas.microsoft.com/office/drawing/2014/main" id="{89DEDDBE-0280-4C10-8F81-F7F1EAF8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49630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rPr>
              <a:t>CLI 趋势</a:t>
            </a:r>
          </a:p>
        </p:txBody>
      </p:sp>
      <p:sp>
        <p:nvSpPr>
          <p:cNvPr id="11" name="cli-trend-sentence">
            <a:extLst xmlns:a="http://schemas.openxmlformats.org/drawingml/2006/main">
              <a:ext uri="{FF2B5EF4-FFF2-40B4-BE49-F238E27FC236}">
                <a16:creationId xmlns:a16="http://schemas.microsoft.com/office/drawing/2014/main" id="{6E4004F2-97C4-4209-BFC7-B8CC95D1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467725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114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Agent CLI 从交互命令走向 Headless、结构化输出与 Skill，成为可重放的高保真执行面。</a:t>
            </a:r>
          </a:p>
        </p:txBody>
      </p:sp>
      <p:sp>
        <p:nvSpPr>
          <p:cNvPr id="12" name="cli-trend-evidence">
            <a:extLst xmlns:a="http://schemas.openxmlformats.org/drawingml/2006/main">
              <a:ext uri="{FF2B5EF4-FFF2-40B4-BE49-F238E27FC236}">
                <a16:creationId xmlns:a16="http://schemas.microsoft.com/office/drawing/2014/main" id="{274DD7B9-CD7C-43F5-A1AC-34056E52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848677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066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Codex · Claude Code · Copilot</a:t>
            </a:r>
          </a:p>
        </p:txBody>
      </p:sp>
      <p:sp>
        <p:nvSpPr>
          <p:cNvPr id="13" name="mcp-trend-surface">
            <a:extLst xmlns:a="http://schemas.openxmlformats.org/drawingml/2006/main">
              <a:ext uri="{FF2B5EF4-FFF2-40B4-BE49-F238E27FC236}">
                <a16:creationId xmlns:a16="http://schemas.microsoft.com/office/drawing/2014/main" id="{971C6D1C-FD2F-40D4-B88F-B580FAD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943975"/>
            <a:ext cx="872490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E2"/>
            </a:solidFill>
            <a:prstDash val="solid"/>
          </a:ln>
        </p:spPr>
      </p:sp>
      <p:sp>
        <p:nvSpPr>
          <p:cNvPr id="14" name="mcp-trend-edge">
            <a:extLst xmlns:a="http://schemas.openxmlformats.org/drawingml/2006/main">
              <a:ext uri="{FF2B5EF4-FFF2-40B4-BE49-F238E27FC236}">
                <a16:creationId xmlns:a16="http://schemas.microsoft.com/office/drawing/2014/main" id="{8CFD810E-F6F5-4DBD-A2BC-2F8075A2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943975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cp-trend-label-bg">
            <a:extLst xmlns:a="http://schemas.openxmlformats.org/drawingml/2006/main">
              <a:ext uri="{FF2B5EF4-FFF2-40B4-BE49-F238E27FC236}">
                <a16:creationId xmlns:a16="http://schemas.microsoft.com/office/drawing/2014/main" id="{7E6F2D82-3765-4194-A9B1-DBE6DEDE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020175"/>
            <a:ext cx="87630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cp-trend-label">
            <a:extLst xmlns:a="http://schemas.openxmlformats.org/drawingml/2006/main">
              <a:ext uri="{FF2B5EF4-FFF2-40B4-BE49-F238E27FC236}">
                <a16:creationId xmlns:a16="http://schemas.microsoft.com/office/drawing/2014/main" id="{09C95972-CB08-4CA2-8A5C-F6FA0EA9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020175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rPr>
              <a:t>MCP 趋势</a:t>
            </a:r>
          </a:p>
        </p:txBody>
      </p:sp>
      <p:sp>
        <p:nvSpPr>
          <p:cNvPr id="17" name="mcp-trend-sentence">
            <a:extLst xmlns:a="http://schemas.openxmlformats.org/drawingml/2006/main">
              <a:ext uri="{FF2B5EF4-FFF2-40B4-BE49-F238E27FC236}">
                <a16:creationId xmlns:a16="http://schemas.microsoft.com/office/drawing/2014/main" id="{58E20B63-BA43-4F34-84A2-00337797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991600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114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MCP 以 Tool Search、渐进发现和程序化调用转向按需加载，并强化远程鉴权与治理。</a:t>
            </a:r>
          </a:p>
        </p:txBody>
      </p:sp>
      <p:sp>
        <p:nvSpPr>
          <p:cNvPr id="18" name="mcp-trend-evidence">
            <a:extLst xmlns:a="http://schemas.openxmlformats.org/drawingml/2006/main">
              <a:ext uri="{FF2B5EF4-FFF2-40B4-BE49-F238E27FC236}">
                <a16:creationId xmlns:a16="http://schemas.microsoft.com/office/drawing/2014/main" id="{A132E078-3F6B-4C17-ADA2-21BF158C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010650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Claude Code · MCP 官方</a:t>
            </a:r>
          </a:p>
        </p:txBody>
      </p:sp>
      <p:sp>
        <p:nvSpPr>
          <p:cNvPr id="19" name="overall-trend-surface">
            <a:extLst xmlns:a="http://schemas.openxmlformats.org/drawingml/2006/main">
              <a:ext uri="{FF2B5EF4-FFF2-40B4-BE49-F238E27FC236}">
                <a16:creationId xmlns:a16="http://schemas.microsoft.com/office/drawing/2014/main" id="{641D4434-E070-49D4-9C44-351C9D7F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467850"/>
            <a:ext cx="872490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E2"/>
            </a:solidFill>
            <a:prstDash val="solid"/>
          </a:ln>
        </p:spPr>
      </p:sp>
      <p:sp>
        <p:nvSpPr>
          <p:cNvPr id="20" name="overall-trend-edge">
            <a:extLst xmlns:a="http://schemas.openxmlformats.org/drawingml/2006/main">
              <a:ext uri="{FF2B5EF4-FFF2-40B4-BE49-F238E27FC236}">
                <a16:creationId xmlns:a16="http://schemas.microsoft.com/office/drawing/2014/main" id="{9319E973-9EC7-4D43-BF12-03497BCC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46785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verall-trend-label-bg">
            <a:extLst xmlns:a="http://schemas.openxmlformats.org/drawingml/2006/main">
              <a:ext uri="{FF2B5EF4-FFF2-40B4-BE49-F238E27FC236}">
                <a16:creationId xmlns:a16="http://schemas.microsoft.com/office/drawing/2014/main" id="{F33FFD3F-2309-41F6-9495-A5F843C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87630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193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verall-trend-label">
            <a:extLst xmlns:a="http://schemas.openxmlformats.org/drawingml/2006/main">
              <a:ext uri="{FF2B5EF4-FFF2-40B4-BE49-F238E27FC236}">
                <a16:creationId xmlns:a16="http://schemas.microsoft.com/office/drawing/2014/main" id="{4657B609-2E67-4516-BC64-A30D5498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整体趋势</a:t>
            </a:r>
          </a:p>
        </p:txBody>
      </p:sp>
      <p:sp>
        <p:nvSpPr>
          <p:cNvPr id="23" name="overall-trend-sentence">
            <a:extLst xmlns:a="http://schemas.openxmlformats.org/drawingml/2006/main">
              <a:ext uri="{FF2B5EF4-FFF2-40B4-BE49-F238E27FC236}">
                <a16:creationId xmlns:a16="http://schemas.microsoft.com/office/drawing/2014/main" id="{4504F17C-06F9-4C93-95C2-6301C6FC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515475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114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主流终端 Agent 同时保留 CLI 与 MCP，界面选择趋向按任务组合，而非默认封装所有能力。</a:t>
            </a:r>
          </a:p>
        </p:txBody>
      </p:sp>
      <p:sp>
        <p:nvSpPr>
          <p:cNvPr id="24" name="overall-trend-evidence">
            <a:extLst xmlns:a="http://schemas.openxmlformats.org/drawingml/2006/main">
              <a:ext uri="{FF2B5EF4-FFF2-40B4-BE49-F238E27FC236}">
                <a16:creationId xmlns:a16="http://schemas.microsoft.com/office/drawing/2014/main" id="{F60E88DC-5760-4240-834E-45361E74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534525"/>
            <a:ext cx="2019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Thoughtworks · Caution</a:t>
            </a:r>
          </a:p>
        </p:txBody>
      </p:sp>
    </p:spTree>
    <p:extLst>
      <p:ext uri="{BB962C8B-B14F-4D97-AF65-F5344CB8AC3E}">
        <p14:creationId xmlns:p14="http://schemas.microsoft.com/office/powerpoint/2010/main" val="1696667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2026-07-28T13:19:43.8940000Z</dcterms:created>
  <dcterms:modified xsi:type="dcterms:W3CDTF">2026-07-28T13:19:43.8940000Z</dcterms:modified>
</coreProperties>
</file>