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60"/>
  </p:normalViewPr>
  <p:slideViewPr>
    <p:cSldViewPr snapToGrid="0">
      <p:cViewPr varScale="1">
        <p:scale>
          <a:sx n="196" d="100"/>
          <a:sy n="196" d="100"/>
        </p:scale>
        <p:origin x="4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DD7D571-989B-4F00-B808-5BD39AEC5A5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[Nx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技术机制详解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一、失败触发与上下文装配（上图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→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上下文建模）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PR CI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中的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失败后，始终执行的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fix-ci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步骤进入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Self-Healing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分析。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Project Graph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提供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Workspace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内项目、依赖与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关系；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Metadata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补充构建配置和当前执行信息。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.nx/SELF_HEALING.md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用于加入仓库级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约束、禁止修改区域、修复偏好和额外上下文。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这意味着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不是只读取一段错误日志，而是在“失败证据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代码结构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构建关系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仓库约束”上形成候选判断。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二、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Flaky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恢复路由与修复资格（上图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03 →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故障路由与修复边界）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Nx Cloud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识别为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Flaky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且启用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Auto-retry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时，系统向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Branch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推送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Empty Commit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，触发新的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CI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Flaky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路径恢复的是执行，不代表偶现失败的根因已经修复。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Workspace Settings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--fix-tasks Glob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决定哪些失败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可以尝试生成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Fix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Never Fix Pattern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Protected Branch Prefix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以及默认保护分支共同构成排除规则；不在范围内的失败退出自动修复路径。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官方公开页面没有披露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Flaky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识别算法、采样窗口和阈值，因此不能把该步骤描述成已公开的完整故障分类器。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三、候选修复生成（上图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04 →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候选修复生成）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针对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Eligible 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生成修复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Reasoning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和可审阅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Diff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用户可以在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评论或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Nx Cloud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中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Apply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Reject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，也可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Apply Locally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后在本地继续审阅和修改。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Reasoning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与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Diff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是候选方案，不是正确性证明；生成范围仍受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Eligible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Never Fix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和仓库约束控制。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四、定向验证（上图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04 →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验证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Oracle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将候选变更用于重新执行原失败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；只有观察到该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被修复，候选才可称为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Explicitly Verified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这个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Oracle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只回答“候选修改是否解决了刚才观察到的失败”，不能证明全部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Required Checks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、业务语义或长期运行都正确。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因此，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Rerun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是内层定向验证，写回后的仓库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CI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是外层门禁，两层不能混写为一次“完整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验证”。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五、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Auto-apply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门禁（上图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05 →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写回控制与恢复）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自动写回必须同时满足三个条件：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命中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Auto-apply Pattern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给出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 Confidence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、候选已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Explicitly Verified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三项缺一时，系统保留人工审阅出口，不应描述为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自主决定扩大写权限。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Auto-apply Suggestions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可以依据历史修复次数、验证率和置信度建议管理员扩大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范围，但最终配置权仍在管理员。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六、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分支写回与恢复（上图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06 →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写回控制与恢复）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通过门禁的修改写入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Branch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，而不是自动合并主干或自动部署。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新提交继续触发仓库配置的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Required Checks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；这些外层检查仍由原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系统提供确定性约束。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用户保留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Reject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Apply Locally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Revert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等恢复动作，形成可审阅、可拒绝、可回退的写回路径。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讲解结论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五类技术能力并非新的第二套流程，而是上图六个阶段运行时依赖的横切机制。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的差异不是“模型更会写代码”，而是把图结构上下文、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级范围、外部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Oracle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与可逆写回组合成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微域闭环。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行业共同方向是：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负责概率性诊断和候选生成，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Pipeline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Policy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与权限系统掌握确定性验证和写权限。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适用边界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上图是对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公开机制的分析性压缩，不是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官方发布的标准状态机。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Self-Healing CI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的范围是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Nx Cloud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中的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CI Task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，并依赖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VCS Integration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原失败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复验不等于全部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 Required Checks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，更不证明长期业务正确或生产安全。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不把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Nx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Harness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GitLab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CircleCI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GitHub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的产品范围、成熟度和授权模型视为等价。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Self-Healing CI: https://nx.dev/docs/features/ci-features/self-healing-ci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Cloud CLI: https://nx.dev/docs/reference/nx-cloud-cli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Auto-apply Suggestions: https://nx.dev/blog/self-healing-ci-auto-apply-suggestions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Harness Autonomous Worker Agents / CI Autofix: https://www.harness.io/blog/introducing-autonomous-worker-agents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GitLab Fix CI/CD Pipeline Flow: https://docs.gitlab.com/user/duo_agent_platform/flows/foundational_flows/fix_pipeline/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Chunk overview: https://circleci.com/docs/guides/toolkit/chunk-setup-and-overview/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Pipeline validation: https://circleci.com/changelog/chunk-now-validates-changes-by-running-your-ci-pipeline/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protected-branch Draft PR: https://circleci.com/changelog/chunk-now-auto-creates-prs-on-protected-branches/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GitHub Agentic Workflows / CI Doctor: https://github.github.com/gh-aw/blog/2026-01-13-meet-the-workflows-quality-hygiene/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GitHub Safe Outputs and CI triggering: https://github.github.com/gh-aw/reference/triggering-ci/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3364200"/>
            <a:ext cx="109713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/>
          <p:cNvSpPr/>
          <p:nvPr/>
        </p:nvSpPr>
        <p:spPr>
          <a:xfrm>
            <a:off x="423240" y="242696"/>
            <a:ext cx="1112364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u="none" strike="noStrike" dirty="0" err="1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rPr>
              <a:t>CI自愈</a:t>
            </a:r>
            <a:r>
              <a:rPr lang="zh-CN" altLang="en-US" sz="2400" b="1" u="none" strike="noStrike" dirty="0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rPr>
              <a:t>：</a:t>
            </a:r>
            <a:r>
              <a:rPr lang="en-US" sz="2400" b="1" u="none" strike="noStrike" dirty="0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zh-CN" sz="2400" b="1" u="none" strike="noStrike" dirty="0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rPr>
              <a:t>将 </a:t>
            </a:r>
            <a:r>
              <a:rPr lang="en-US" sz="2400" b="1" u="none" strike="noStrike" dirty="0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rPr>
              <a:t>CI </a:t>
            </a:r>
            <a:r>
              <a:rPr lang="zh-CN" sz="2400" b="1" u="none" strike="noStrike" dirty="0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rPr>
              <a:t>自愈拆成失败路由、修复约束、验证门禁与有界写回</a:t>
            </a:r>
            <a:endParaRPr lang="en-US" sz="2400" b="0" u="none" strike="noStrike" dirty="0">
              <a:solidFill>
                <a:srgbClr val="C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flow-label"/>
          <p:cNvSpPr/>
          <p:nvPr/>
        </p:nvSpPr>
        <p:spPr>
          <a:xfrm>
            <a:off x="533520" y="822690"/>
            <a:ext cx="409428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1" u="none" strike="noStrike" dirty="0" err="1"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en-US" sz="1500" b="1" u="none" strike="noStrike" dirty="0">
                <a:effectLst/>
                <a:uFillTx/>
                <a:latin typeface="Microsoft YaHei"/>
                <a:ea typeface="Microsoft YaHei"/>
              </a:rPr>
              <a:t> Self-Healing CI</a:t>
            </a:r>
            <a:r>
              <a:rPr lang="zh-CN" sz="1500" b="1" u="none" strike="noStrike" dirty="0">
                <a:effectLst/>
                <a:uFillTx/>
                <a:latin typeface="Microsoft YaHei"/>
                <a:ea typeface="Microsoft YaHei"/>
              </a:rPr>
              <a:t>：</a:t>
            </a:r>
            <a:r>
              <a:rPr lang="en-US" altLang="zh-CN" sz="1500" b="1" u="none" strike="noStrike" dirty="0">
                <a:effectLst/>
                <a:uFillTx/>
                <a:latin typeface="Microsoft YaHei"/>
                <a:ea typeface="Microsoft YaHei"/>
              </a:rPr>
              <a:t>CI</a:t>
            </a:r>
            <a:r>
              <a:rPr lang="zh-CN" altLang="en-US" sz="1500" b="1" u="none" strike="noStrike" dirty="0">
                <a:effectLst/>
                <a:uFillTx/>
                <a:latin typeface="Microsoft YaHei"/>
                <a:ea typeface="Microsoft YaHei"/>
              </a:rPr>
              <a:t>自愈技术方案</a:t>
            </a:r>
            <a:endParaRPr lang="en-US" sz="15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5" name="nx-stage-1"/>
          <p:cNvSpPr/>
          <p:nvPr/>
        </p:nvSpPr>
        <p:spPr>
          <a:xfrm>
            <a:off x="533520" y="1571760"/>
            <a:ext cx="1694160" cy="72252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nx-stage-1-title"/>
          <p:cNvSpPr/>
          <p:nvPr/>
        </p:nvSpPr>
        <p:spPr>
          <a:xfrm>
            <a:off x="728820" y="1596938"/>
            <a:ext cx="126540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200" b="1" u="none" strike="noStrike" dirty="0"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失败 </a:t>
            </a:r>
            <a:r>
              <a:rPr lang="en-US" sz="1200" b="1" u="none" strike="noStrike" dirty="0"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Task</a:t>
            </a:r>
            <a:endParaRPr lang="en-US" sz="1200" b="0" u="none" strike="noStrike" dirty="0"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sz="1200" b="1" u="none" strike="noStrike" dirty="0"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上下文装配</a:t>
            </a:r>
            <a:endParaRPr lang="en-US" sz="1200" b="0" u="none" strike="noStrike" dirty="0"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nx-stage-1-detail"/>
          <p:cNvSpPr/>
          <p:nvPr/>
        </p:nvSpPr>
        <p:spPr>
          <a:xfrm>
            <a:off x="630240" y="2055938"/>
            <a:ext cx="150336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60" b="0" u="none" strike="noStrike" dirty="0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Project Graph · Metadata</a:t>
            </a:r>
            <a:endParaRPr lang="en-US" sz="8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nx-stage-2"/>
          <p:cNvSpPr/>
          <p:nvPr/>
        </p:nvSpPr>
        <p:spPr>
          <a:xfrm>
            <a:off x="2419200" y="1571760"/>
            <a:ext cx="1389240" cy="72252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nx-stage-2-title"/>
          <p:cNvSpPr/>
          <p:nvPr/>
        </p:nvSpPr>
        <p:spPr>
          <a:xfrm>
            <a:off x="2615760" y="1615192"/>
            <a:ext cx="96048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Flaky 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识别</a:t>
            </a:r>
            <a:endParaRPr 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与恢复路由</a:t>
            </a:r>
            <a:endParaRPr 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nx-stage-2-detail"/>
          <p:cNvSpPr/>
          <p:nvPr/>
        </p:nvSpPr>
        <p:spPr>
          <a:xfrm>
            <a:off x="2514420" y="2043772"/>
            <a:ext cx="119880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710" b="0" u="none" strike="noStrike" dirty="0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Empty Commit · Retry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nx-stage-3"/>
          <p:cNvSpPr/>
          <p:nvPr/>
        </p:nvSpPr>
        <p:spPr>
          <a:xfrm>
            <a:off x="4000680" y="1571760"/>
            <a:ext cx="1474920" cy="72252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nx-stage-3-title"/>
          <p:cNvSpPr/>
          <p:nvPr/>
        </p:nvSpPr>
        <p:spPr>
          <a:xfrm>
            <a:off x="4199205" y="1609176"/>
            <a:ext cx="104616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102A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修复资格</a:t>
            </a:r>
            <a:endParaRPr lang="en-US" sz="1200" b="1" dirty="0">
              <a:solidFill>
                <a:srgbClr val="102A4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rgbClr val="102A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与禁区判定</a:t>
            </a:r>
            <a:endParaRPr lang="en-US" sz="1200" b="1" dirty="0">
              <a:solidFill>
                <a:srgbClr val="102A4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nx-stage-3-detail"/>
          <p:cNvSpPr/>
          <p:nvPr/>
        </p:nvSpPr>
        <p:spPr>
          <a:xfrm>
            <a:off x="4095900" y="2019600"/>
            <a:ext cx="128448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60" b="0" u="none" strike="noStrike" dirty="0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fix-tasks · Never Fix</a:t>
            </a:r>
            <a:endParaRPr lang="en-US" sz="8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nx-stage-4"/>
          <p:cNvSpPr/>
          <p:nvPr/>
        </p:nvSpPr>
        <p:spPr>
          <a:xfrm>
            <a:off x="5667480" y="1571760"/>
            <a:ext cx="1474920" cy="72252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nx-stage-4-title"/>
          <p:cNvSpPr/>
          <p:nvPr/>
        </p:nvSpPr>
        <p:spPr>
          <a:xfrm>
            <a:off x="5858640" y="1609176"/>
            <a:ext cx="104616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150" b="1" u="none" strike="noStrike" dirty="0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候选 </a:t>
            </a:r>
            <a:r>
              <a:rPr lang="en-US" sz="1150" b="1" u="none" strike="noStrike" dirty="0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Diff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150" b="1" u="none" strike="noStrike" dirty="0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与定向</a:t>
            </a:r>
            <a:r>
              <a:rPr lang="zh-CN" altLang="en-US" sz="1200" b="1" dirty="0">
                <a:solidFill>
                  <a:srgbClr val="102A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</a:t>
            </a:r>
            <a:endParaRPr lang="en-US" sz="1200" b="1" dirty="0">
              <a:solidFill>
                <a:srgbClr val="102A4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nx-stage-4-detail"/>
          <p:cNvSpPr/>
          <p:nvPr/>
        </p:nvSpPr>
        <p:spPr>
          <a:xfrm>
            <a:off x="5762520" y="2000160"/>
            <a:ext cx="128448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60" b="0" u="none" strike="noStrike" dirty="0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Reasoning · Task Rerun</a:t>
            </a:r>
            <a:endParaRPr lang="en-US" sz="8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nx-stage-5"/>
          <p:cNvSpPr/>
          <p:nvPr/>
        </p:nvSpPr>
        <p:spPr>
          <a:xfrm>
            <a:off x="7334280" y="1571760"/>
            <a:ext cx="1427400" cy="72252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nx-stage-5-title"/>
          <p:cNvSpPr/>
          <p:nvPr/>
        </p:nvSpPr>
        <p:spPr>
          <a:xfrm>
            <a:off x="7475400" y="1566000"/>
            <a:ext cx="116820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02A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Auto-apply</a:t>
            </a:r>
          </a:p>
          <a:p>
            <a:pPr algn="ctr">
              <a:lnSpc>
                <a:spcPct val="100000"/>
              </a:lnSpc>
            </a:pPr>
            <a:r>
              <a:rPr lang="zh-CN" sz="1150" b="1" u="none" strike="noStrike" dirty="0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三条件门禁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nx-stage-5-detail"/>
          <p:cNvSpPr/>
          <p:nvPr/>
        </p:nvSpPr>
        <p:spPr>
          <a:xfrm>
            <a:off x="7429500" y="2019600"/>
            <a:ext cx="123696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710" b="0" u="none" strike="noStrike" dirty="0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Pattern · Confidence · Verified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nx-stage-6"/>
          <p:cNvSpPr/>
          <p:nvPr/>
        </p:nvSpPr>
        <p:spPr>
          <a:xfrm>
            <a:off x="8953560" y="1571760"/>
            <a:ext cx="2703600" cy="72252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nx-stage-6-title"/>
          <p:cNvSpPr/>
          <p:nvPr/>
        </p:nvSpPr>
        <p:spPr>
          <a:xfrm>
            <a:off x="9286920" y="1666800"/>
            <a:ext cx="227520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50" b="1" u="none" strike="noStrike" dirty="0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PR </a:t>
            </a:r>
            <a:r>
              <a:rPr lang="zh-CN" altLang="en-US" sz="1200" b="1" dirty="0">
                <a:solidFill>
                  <a:srgbClr val="102A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分支</a:t>
            </a:r>
            <a:r>
              <a:rPr lang="zh-CN" sz="1150" b="1" u="none" strike="noStrike" dirty="0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写回与外层 </a:t>
            </a:r>
            <a:r>
              <a:rPr lang="en-US" sz="1150" b="1" u="none" strike="noStrike" dirty="0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CI </a:t>
            </a:r>
            <a:r>
              <a:rPr lang="zh-CN" sz="1150" b="1" u="none" strike="noStrike" dirty="0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检查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nx-stage-6-detail"/>
          <p:cNvSpPr/>
          <p:nvPr/>
        </p:nvSpPr>
        <p:spPr>
          <a:xfrm>
            <a:off x="9048780" y="2039940"/>
            <a:ext cx="251316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60" b="0" u="none" strike="noStrike" dirty="0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Commit · Required Checks · Revert</a:t>
            </a:r>
            <a:endParaRPr lang="en-US" sz="8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nx-flaky-route"/>
          <p:cNvSpPr/>
          <p:nvPr/>
        </p:nvSpPr>
        <p:spPr>
          <a:xfrm>
            <a:off x="4000679" y="1200240"/>
            <a:ext cx="2361209" cy="293760"/>
          </a:xfrm>
          <a:prstGeom prst="roundRect">
            <a:avLst>
              <a:gd name="adj" fmla="val 25806"/>
            </a:avLst>
          </a:prstGeom>
          <a:solidFill>
            <a:srgbClr val="FFF7E6"/>
          </a:solidFill>
          <a:ln w="11430">
            <a:solidFill>
              <a:srgbClr val="B7791F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nx-flaky-route-text"/>
          <p:cNvSpPr/>
          <p:nvPr/>
        </p:nvSpPr>
        <p:spPr>
          <a:xfrm>
            <a:off x="4199225" y="1248456"/>
            <a:ext cx="19418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60" b="1" u="none" strike="noStrike" dirty="0">
                <a:solidFill>
                  <a:srgbClr val="B7791F"/>
                </a:solidFill>
                <a:effectLst/>
                <a:uFillTx/>
                <a:latin typeface="Microsoft YaHei"/>
                <a:ea typeface="Microsoft YaHei"/>
              </a:rPr>
              <a:t>Flaky → Empty Commit → </a:t>
            </a:r>
            <a:r>
              <a:rPr lang="zh-CN" sz="860" b="1" u="none" strike="noStrike" dirty="0">
                <a:solidFill>
                  <a:srgbClr val="B7791F"/>
                </a:solidFill>
                <a:effectLst/>
                <a:uFillTx/>
                <a:latin typeface="Microsoft YaHei"/>
                <a:ea typeface="Microsoft YaHei"/>
              </a:rPr>
              <a:t>重跑 </a:t>
            </a:r>
            <a:endParaRPr lang="en-US" sz="8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AF1F472-BAE8-231F-B734-4E0D6DF2A66F}"/>
              </a:ext>
            </a:extLst>
          </p:cNvPr>
          <p:cNvGrpSpPr/>
          <p:nvPr/>
        </p:nvGrpSpPr>
        <p:grpSpPr>
          <a:xfrm>
            <a:off x="3609982" y="2422729"/>
            <a:ext cx="2246400" cy="299951"/>
            <a:chOff x="3943440" y="2371680"/>
            <a:chExt cx="2246400" cy="299951"/>
          </a:xfrm>
        </p:grpSpPr>
        <p:sp>
          <p:nvSpPr>
            <p:cNvPr id="41" name="nx-stop-route"/>
            <p:cNvSpPr/>
            <p:nvPr/>
          </p:nvSpPr>
          <p:spPr>
            <a:xfrm>
              <a:off x="3943440" y="2371680"/>
              <a:ext cx="2246400" cy="299951"/>
            </a:xfrm>
            <a:prstGeom prst="roundRect">
              <a:avLst>
                <a:gd name="adj" fmla="val 22222"/>
              </a:avLst>
            </a:prstGeom>
            <a:solidFill>
              <a:srgbClr val="FBEDE9"/>
            </a:solidFill>
            <a:ln w="11430">
              <a:solidFill>
                <a:srgbClr val="8A4B3A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2" name="nx-stop-route-text"/>
            <p:cNvSpPr/>
            <p:nvPr/>
          </p:nvSpPr>
          <p:spPr>
            <a:xfrm>
              <a:off x="4019400" y="2419200"/>
              <a:ext cx="209412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60" b="1" u="none" strike="noStrike">
                  <a:solidFill>
                    <a:srgbClr val="8A4B3A"/>
                  </a:solidFill>
                  <a:effectLst/>
                  <a:uFillTx/>
                  <a:latin typeface="Microsoft YaHei"/>
                  <a:ea typeface="Microsoft YaHei"/>
                </a:rPr>
                <a:t>Never Fix / Protected → </a:t>
              </a:r>
              <a:r>
                <a:rPr lang="zh-CN" sz="860" b="1" u="none" strike="noStrike">
                  <a:solidFill>
                    <a:srgbClr val="8A4B3A"/>
                  </a:solidFill>
                  <a:effectLst/>
                  <a:uFillTx/>
                  <a:latin typeface="Microsoft YaHei"/>
                  <a:ea typeface="Microsoft YaHei"/>
                </a:rPr>
                <a:t>人工处理</a:t>
              </a:r>
              <a:endParaRPr lang="en-US" sz="8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5" name="直线箭头连接符 44"/>
          <p:cNvCxnSpPr>
            <a:cxnSpLocks/>
            <a:stCxn id="15" idx="3"/>
            <a:endCxn id="19" idx="1"/>
          </p:cNvCxnSpPr>
          <p:nvPr/>
        </p:nvCxnSpPr>
        <p:spPr>
          <a:xfrm>
            <a:off x="2227680" y="1933200"/>
            <a:ext cx="19188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46" name="直线箭头连接符 45"/>
          <p:cNvCxnSpPr>
            <a:cxnSpLocks/>
            <a:stCxn id="19" idx="3"/>
            <a:endCxn id="23" idx="1"/>
          </p:cNvCxnSpPr>
          <p:nvPr/>
        </p:nvCxnSpPr>
        <p:spPr>
          <a:xfrm>
            <a:off x="3808440" y="1933200"/>
            <a:ext cx="19260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47" name="直线箭头连接符 46"/>
          <p:cNvCxnSpPr>
            <a:cxnSpLocks/>
            <a:stCxn id="23" idx="3"/>
            <a:endCxn id="27" idx="1"/>
          </p:cNvCxnSpPr>
          <p:nvPr/>
        </p:nvCxnSpPr>
        <p:spPr>
          <a:xfrm>
            <a:off x="5475600" y="1933200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48" name="直线箭头连接符 47"/>
          <p:cNvCxnSpPr>
            <a:stCxn id="27" idx="3"/>
            <a:endCxn id="31" idx="1"/>
          </p:cNvCxnSpPr>
          <p:nvPr/>
        </p:nvCxnSpPr>
        <p:spPr>
          <a:xfrm>
            <a:off x="7142400" y="1933200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49" name="直线箭头连接符 48"/>
          <p:cNvCxnSpPr>
            <a:stCxn id="31" idx="3"/>
            <a:endCxn id="35" idx="1"/>
          </p:cNvCxnSpPr>
          <p:nvPr/>
        </p:nvCxnSpPr>
        <p:spPr>
          <a:xfrm>
            <a:off x="8761680" y="1933200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50" name="肘形连接符 49"/>
          <p:cNvCxnSpPr>
            <a:cxnSpLocks/>
            <a:stCxn id="19" idx="0"/>
            <a:endCxn id="39" idx="1"/>
          </p:cNvCxnSpPr>
          <p:nvPr/>
        </p:nvCxnSpPr>
        <p:spPr>
          <a:xfrm rot="5400000" flipH="1" flipV="1">
            <a:off x="3444929" y="1016011"/>
            <a:ext cx="224640" cy="886859"/>
          </a:xfrm>
          <a:prstGeom prst="bentConnector2">
            <a:avLst/>
          </a:prstGeom>
          <a:ln w="13335">
            <a:solidFill>
              <a:srgbClr val="B7791F"/>
            </a:solidFill>
            <a:prstDash val="dash"/>
            <a:round/>
            <a:tailEnd type="triangle" w="sm" len="sm"/>
          </a:ln>
        </p:spPr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6796F5C-A4CA-0025-3818-ED2C4441452F}"/>
              </a:ext>
            </a:extLst>
          </p:cNvPr>
          <p:cNvGrpSpPr/>
          <p:nvPr/>
        </p:nvGrpSpPr>
        <p:grpSpPr>
          <a:xfrm>
            <a:off x="6972300" y="2424511"/>
            <a:ext cx="2151360" cy="293760"/>
            <a:chOff x="7162920" y="2371680"/>
            <a:chExt cx="2151360" cy="293760"/>
          </a:xfrm>
        </p:grpSpPr>
        <p:sp>
          <p:nvSpPr>
            <p:cNvPr id="43" name="nx-manual-route"/>
            <p:cNvSpPr/>
            <p:nvPr/>
          </p:nvSpPr>
          <p:spPr>
            <a:xfrm>
              <a:off x="7162920" y="2371680"/>
              <a:ext cx="2151360" cy="291978"/>
            </a:xfrm>
            <a:prstGeom prst="roundRect">
              <a:avLst>
                <a:gd name="adj" fmla="val 22222"/>
              </a:avLst>
            </a:prstGeom>
            <a:solidFill>
              <a:srgbClr val="F3F4F6"/>
            </a:solidFill>
            <a:ln w="11430">
              <a:solidFill>
                <a:srgbClr val="627D9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4" name="nx-manual-route-text"/>
            <p:cNvSpPr/>
            <p:nvPr/>
          </p:nvSpPr>
          <p:spPr>
            <a:xfrm>
              <a:off x="7238880" y="2419200"/>
              <a:ext cx="199872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60" b="1" u="none" strike="noStrike" dirty="0">
                  <a:solidFill>
                    <a:srgbClr val="627D98"/>
                  </a:solidFill>
                  <a:effectLst/>
                  <a:uFillTx/>
                  <a:latin typeface="Microsoft YaHei"/>
                  <a:ea typeface="Microsoft YaHei"/>
                </a:rPr>
                <a:t>门禁未通过 → </a:t>
              </a:r>
              <a:r>
                <a:rPr lang="en-US" sz="860" b="1" u="none" strike="noStrike" dirty="0" err="1">
                  <a:solidFill>
                    <a:srgbClr val="627D98"/>
                  </a:solidFill>
                  <a:effectLst/>
                  <a:uFillTx/>
                  <a:latin typeface="Microsoft YaHei"/>
                  <a:ea typeface="Microsoft YaHei"/>
                </a:rPr>
                <a:t>人工处理</a:t>
              </a:r>
              <a:endParaRPr lang="en-US" sz="86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54" name="nx-stage-company-practice-table"/>
          <p:cNvGraphicFramePr/>
          <p:nvPr>
            <p:extLst>
              <p:ext uri="{D42A27DB-BD31-4B8C-83A1-F6EECF244321}">
                <p14:modId xmlns:p14="http://schemas.microsoft.com/office/powerpoint/2010/main" val="739832956"/>
              </p:ext>
            </p:extLst>
          </p:nvPr>
        </p:nvGraphicFramePr>
        <p:xfrm>
          <a:off x="533520" y="2920305"/>
          <a:ext cx="11125080" cy="2609640"/>
        </p:xfrm>
        <a:graphic>
          <a:graphicData uri="http://schemas.openxmlformats.org/drawingml/2006/table">
            <a:tbl>
              <a:tblPr/>
              <a:tblGrid>
                <a:gridCol w="147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2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技术维度</a:t>
                      </a:r>
                      <a:endParaRPr lang="en-US" sz="1200" b="0" u="none" strike="noStrike" dirty="0">
                        <a:solidFill>
                          <a:schemeClr val="tx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anchorCtr="1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Nx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 </a:t>
                      </a:r>
                      <a:r>
                        <a:rPr lang="zh-CN" sz="12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技术机制</a:t>
                      </a:r>
                      <a:endParaRPr lang="en-US" sz="1200" b="0" u="none" strike="noStrike" dirty="0">
                        <a:solidFill>
                          <a:schemeClr val="tx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anchorCtr="1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行业机制洞察</a:t>
                      </a:r>
                      <a:endParaRPr lang="en-US" sz="1200" b="0" u="none" strike="noStrike" dirty="0">
                        <a:solidFill>
                          <a:schemeClr val="tx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anchorCtr="1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 dirty="0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上下文建模</a:t>
                      </a:r>
                      <a:endParaRPr lang="en-US" sz="93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anchorCtr="1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Project Graph + Metadata + </a:t>
                      </a:r>
                      <a:r>
                        <a:rPr lang="en-US" sz="889" b="0" u="none" strike="noStrike" dirty="0" err="1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SELF_HEALING.md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：装配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Task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、依赖、配置与修复约束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共识｜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、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、</a:t>
                      </a:r>
                      <a:r>
                        <a:rPr lang="en-US" sz="889" b="0" u="none" strike="noStrike" dirty="0" err="1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均组合运行证据与代码上下文；</a:t>
                      </a:r>
                      <a:r>
                        <a:rPr lang="en-US" sz="889" b="0" u="none" strike="noStrike" dirty="0" err="1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Nx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更强调图结构上下文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 dirty="0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故障路由与修复边界</a:t>
                      </a:r>
                      <a:endParaRPr lang="en-US" sz="93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anchorCtr="1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Flaky → Empty Commit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重跑；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fix-tasks / Never Fix / Protected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划定可修范围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分化｜</a:t>
                      </a:r>
                      <a:r>
                        <a:rPr lang="en-US" sz="889" b="0" u="none" strike="noStrike" dirty="0" err="1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分离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Auto Rerun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与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Fix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用停止条件控风险；公开资料无统一分类器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 dirty="0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候选修复生成</a:t>
                      </a:r>
                      <a:endParaRPr lang="en-US" sz="93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anchorCtr="1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对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Eligible Task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输出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Reasoning +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可审阅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Diff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；支持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Apply / Reject / Apply Locally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形态｜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用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Agent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分工；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用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Suggestion /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新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MR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889" b="0" u="none" strike="noStrike" dirty="0" err="1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按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Error / Job / Workflow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修复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 dirty="0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验证 </a:t>
                      </a:r>
                      <a:r>
                        <a:rPr lang="en-US" sz="939" b="1" u="none" strike="noStrike" dirty="0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Oracle</a:t>
                      </a:r>
                      <a:endParaRPr lang="en-US" sz="93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anchorCtr="1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候选变更复跑原失败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Task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，形成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Explicitly Verified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；不替代全部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Required Checks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共识｜</a:t>
                      </a:r>
                      <a:r>
                        <a:rPr lang="en-US" sz="889" b="0" u="none" strike="noStrike" dirty="0" err="1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、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、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都回到真实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Pipeline / Build / Test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作为外部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Oracle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6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 dirty="0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写回控制与恢复</a:t>
                      </a:r>
                      <a:endParaRPr lang="en-US" sz="93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anchorCtr="1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Auto-apply = Pattern × High Confidence × Verified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；三项缺一即转人工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趋势｜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、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GitHub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、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将写权限放在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RBAC / Policy / Safe Outputs / Push Rule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60">
                <a:tc v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仅写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Branch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；外层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Required Checks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继续校验；保留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Reject / Revert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趋势｜</a:t>
                      </a:r>
                      <a:r>
                        <a:rPr lang="en-US" sz="889" b="0" u="none" strike="noStrike" dirty="0" err="1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用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Draft PR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承载候选；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重触发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Build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用 </a:t>
                      </a:r>
                      <a:r>
                        <a:rPr lang="en-US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Suggestion / MR </a:t>
                      </a:r>
                      <a:r>
                        <a:rPr lang="zh-CN" sz="889" b="0" u="none" strike="noStrike" dirty="0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隔离写回</a:t>
                      </a:r>
                      <a:endParaRPr lang="en-US" sz="889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" name="bottom-insights"/>
          <p:cNvSpPr/>
          <p:nvPr/>
        </p:nvSpPr>
        <p:spPr>
          <a:xfrm>
            <a:off x="1271081" y="5758774"/>
            <a:ext cx="10367719" cy="700392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0">
            <a:noAutofit/>
          </a:bodyPr>
          <a:lstStyle/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1400" b="1" u="none" strike="noStrike" dirty="0" err="1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技术复杂度不在生成</a:t>
            </a: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 Diff</a:t>
            </a: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，而在“上下文—路由—</a:t>
            </a: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Oracle—</a:t>
            </a: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写回”的受控闭环</a:t>
            </a:r>
            <a:endParaRPr lang="en-US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1400" b="1" u="none" strike="noStrike" dirty="0" err="1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Nx</a:t>
            </a: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以 </a:t>
            </a: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 Graph </a:t>
            </a: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定位影响、以 </a:t>
            </a: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Task </a:t>
            </a: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复验收窄正确性、以三条件门禁限制写权</a:t>
            </a:r>
            <a:endParaRPr lang="en-US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1400" b="1" u="none" strike="noStrike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行业方向是</a:t>
            </a: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 Agent </a:t>
            </a: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做概率性判断，</a:t>
            </a: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Pipeline</a:t>
            </a: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Policy </a:t>
            </a: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与权限系统守确定性边界</a:t>
            </a:r>
            <a:endParaRPr lang="en-US" sz="1400" b="1" u="none" strike="noStrike" dirty="0">
              <a:solidFill>
                <a:schemeClr val="bg1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C3843BA-2836-BD14-6425-AE1A003A4450}"/>
              </a:ext>
            </a:extLst>
          </p:cNvPr>
          <p:cNvCxnSpPr>
            <a:cxnSpLocks/>
            <a:stCxn id="23" idx="2"/>
            <a:endCxn id="41" idx="0"/>
          </p:cNvCxnSpPr>
          <p:nvPr/>
        </p:nvCxnSpPr>
        <p:spPr>
          <a:xfrm flipH="1">
            <a:off x="4733182" y="2294280"/>
            <a:ext cx="4958" cy="128449"/>
          </a:xfrm>
          <a:prstGeom prst="straightConnector1">
            <a:avLst/>
          </a:prstGeom>
          <a:ln w="13335">
            <a:solidFill>
              <a:srgbClr val="B7791F"/>
            </a:solidFill>
            <a:prstDash val="dash"/>
            <a:round/>
            <a:tailEnd type="triangle" w="sm" len="sm"/>
          </a:ln>
        </p:spPr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C7BC1871-A6F3-27E8-0DE5-BC2EE954BF92}"/>
              </a:ext>
            </a:extLst>
          </p:cNvPr>
          <p:cNvCxnSpPr>
            <a:cxnSpLocks/>
            <a:stCxn id="31" idx="2"/>
            <a:endCxn id="43" idx="0"/>
          </p:cNvCxnSpPr>
          <p:nvPr/>
        </p:nvCxnSpPr>
        <p:spPr>
          <a:xfrm>
            <a:off x="8047980" y="2294280"/>
            <a:ext cx="0" cy="130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3E4CE55D-F1FD-9D89-A4AF-B096F32BC179}"/>
              </a:ext>
            </a:extLst>
          </p:cNvPr>
          <p:cNvCxnSpPr>
            <a:cxnSpLocks/>
            <a:stCxn id="31" idx="2"/>
            <a:endCxn id="43" idx="0"/>
          </p:cNvCxnSpPr>
          <p:nvPr/>
        </p:nvCxnSpPr>
        <p:spPr>
          <a:xfrm>
            <a:off x="8047980" y="2294280"/>
            <a:ext cx="0" cy="130231"/>
          </a:xfrm>
          <a:prstGeom prst="straightConnector1">
            <a:avLst/>
          </a:prstGeom>
          <a:ln w="13335">
            <a:solidFill>
              <a:schemeClr val="accent1"/>
            </a:solidFill>
            <a:prstDash val="dash"/>
            <a:round/>
            <a:tailEnd type="triangle" w="sm" len="sm"/>
          </a:ln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7E73A542-88C7-CEA6-AC48-0C9CC2C8BB9F}"/>
              </a:ext>
            </a:extLst>
          </p:cNvPr>
          <p:cNvSpPr txBox="1"/>
          <p:nvPr/>
        </p:nvSpPr>
        <p:spPr>
          <a:xfrm>
            <a:off x="445032" y="3181493"/>
            <a:ext cx="3758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100" b="1" u="none" strike="noStrike" dirty="0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rPr>
              <a:t>①</a:t>
            </a:r>
            <a:endParaRPr lang="en-US" altLang="zh-CN" sz="1100" b="1" u="none" strike="noStrike" dirty="0">
              <a:solidFill>
                <a:srgbClr val="C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5B26742-28B5-80F3-529F-31C5B8846AAA}"/>
              </a:ext>
            </a:extLst>
          </p:cNvPr>
          <p:cNvSpPr txBox="1"/>
          <p:nvPr/>
        </p:nvSpPr>
        <p:spPr>
          <a:xfrm>
            <a:off x="423240" y="1581866"/>
            <a:ext cx="635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100" b="1" u="none" strike="noStrike" dirty="0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rPr>
              <a:t>①</a:t>
            </a:r>
            <a:endParaRPr lang="en-US" altLang="zh-CN" sz="1100" b="1" u="none" strike="noStrike" dirty="0">
              <a:solidFill>
                <a:srgbClr val="C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D6FBFC5-C505-28FB-2BD5-4EF50FBA98D7}"/>
              </a:ext>
            </a:extLst>
          </p:cNvPr>
          <p:cNvSpPr txBox="1"/>
          <p:nvPr/>
        </p:nvSpPr>
        <p:spPr>
          <a:xfrm>
            <a:off x="437032" y="3588010"/>
            <a:ext cx="3758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②</a:t>
            </a:r>
            <a:endParaRPr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E2291A3-ABA5-3861-810F-527D759BDA78}"/>
              </a:ext>
            </a:extLst>
          </p:cNvPr>
          <p:cNvSpPr txBox="1"/>
          <p:nvPr/>
        </p:nvSpPr>
        <p:spPr>
          <a:xfrm>
            <a:off x="470823" y="3742164"/>
            <a:ext cx="3242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③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142AADA-304B-A66C-08C3-252BE41B393B}"/>
              </a:ext>
            </a:extLst>
          </p:cNvPr>
          <p:cNvSpPr txBox="1"/>
          <p:nvPr/>
        </p:nvSpPr>
        <p:spPr>
          <a:xfrm>
            <a:off x="2355754" y="1559360"/>
            <a:ext cx="3758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②</a:t>
            </a:r>
            <a:endParaRPr lang="zh-CN" altLang="en-US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70F4537-411A-2036-B9E6-0BC6E498FA9C}"/>
              </a:ext>
            </a:extLst>
          </p:cNvPr>
          <p:cNvSpPr txBox="1"/>
          <p:nvPr/>
        </p:nvSpPr>
        <p:spPr>
          <a:xfrm>
            <a:off x="4036897" y="1537208"/>
            <a:ext cx="3242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③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CB05FE7-4588-6C6B-46A4-65FD2472FC51}"/>
              </a:ext>
            </a:extLst>
          </p:cNvPr>
          <p:cNvSpPr txBox="1"/>
          <p:nvPr/>
        </p:nvSpPr>
        <p:spPr>
          <a:xfrm>
            <a:off x="475420" y="4055025"/>
            <a:ext cx="3150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④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68B97BF-CE63-9459-8267-73CA4A1B3F62}"/>
              </a:ext>
            </a:extLst>
          </p:cNvPr>
          <p:cNvSpPr txBox="1"/>
          <p:nvPr/>
        </p:nvSpPr>
        <p:spPr>
          <a:xfrm>
            <a:off x="477853" y="4401150"/>
            <a:ext cx="3150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④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BF1C0F8-A671-5896-62F1-DDB3743D455A}"/>
              </a:ext>
            </a:extLst>
          </p:cNvPr>
          <p:cNvSpPr txBox="1"/>
          <p:nvPr/>
        </p:nvSpPr>
        <p:spPr>
          <a:xfrm>
            <a:off x="470823" y="4759767"/>
            <a:ext cx="2870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⑤</a:t>
            </a:r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D553855F-3D05-86F9-D576-90B2C4F00A62}"/>
              </a:ext>
            </a:extLst>
          </p:cNvPr>
          <p:cNvSpPr txBox="1"/>
          <p:nvPr/>
        </p:nvSpPr>
        <p:spPr>
          <a:xfrm>
            <a:off x="666720" y="4759767"/>
            <a:ext cx="2875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/>
              <a:t>⑥</a:t>
            </a:r>
            <a:endParaRPr lang="en-US" altLang="zh-CN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2434522-D218-435B-2670-53230DEB6C40}"/>
              </a:ext>
            </a:extLst>
          </p:cNvPr>
          <p:cNvSpPr txBox="1"/>
          <p:nvPr/>
        </p:nvSpPr>
        <p:spPr>
          <a:xfrm>
            <a:off x="5656174" y="1548027"/>
            <a:ext cx="3150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④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604BD73A-3C9F-6CD2-BA08-41F54515F889}"/>
              </a:ext>
            </a:extLst>
          </p:cNvPr>
          <p:cNvSpPr txBox="1"/>
          <p:nvPr/>
        </p:nvSpPr>
        <p:spPr>
          <a:xfrm>
            <a:off x="7305754" y="1542344"/>
            <a:ext cx="2870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 dirty="0"/>
              <a:t>⑤</a:t>
            </a:r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8AAC308-75AE-7249-07DD-382FB704E268}"/>
              </a:ext>
            </a:extLst>
          </p:cNvPr>
          <p:cNvSpPr txBox="1"/>
          <p:nvPr/>
        </p:nvSpPr>
        <p:spPr>
          <a:xfrm>
            <a:off x="8927327" y="1534371"/>
            <a:ext cx="2875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defRPr sz="1100" b="1" u="none" strike="noStrike">
                <a:solidFill>
                  <a:srgbClr val="C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r>
              <a:rPr lang="en-US" altLang="zh-CN"/>
              <a:t>⑥</a:t>
            </a:r>
            <a:endParaRPr lang="en-US" altLang="zh-CN" dirty="0"/>
          </a:p>
        </p:txBody>
      </p:sp>
      <p:sp>
        <p:nvSpPr>
          <p:cNvPr id="98" name="bottom-insights">
            <a:extLst>
              <a:ext uri="{FF2B5EF4-FFF2-40B4-BE49-F238E27FC236}">
                <a16:creationId xmlns:a16="http://schemas.microsoft.com/office/drawing/2014/main" id="{DBDE2D4E-8A80-1A22-EAC7-98CF2ECEB0CE}"/>
              </a:ext>
            </a:extLst>
          </p:cNvPr>
          <p:cNvSpPr/>
          <p:nvPr/>
        </p:nvSpPr>
        <p:spPr>
          <a:xfrm>
            <a:off x="533520" y="5758774"/>
            <a:ext cx="651753" cy="700392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洞察</a:t>
            </a:r>
            <a:endParaRPr lang="en-US" altLang="zh-CN" sz="1600" b="1" u="none" strike="noStrike" dirty="0">
              <a:solidFill>
                <a:schemeClr val="bg1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b="1" u="none" strike="noStrike" dirty="0"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总结</a:t>
            </a:r>
            <a:endParaRPr lang="en-US" sz="1600" b="1" u="none" strike="noStrike" dirty="0">
              <a:solidFill>
                <a:schemeClr val="bg1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1447</Words>
  <Application>Microsoft Macintosh PowerPoint</Application>
  <PresentationFormat>宽屏</PresentationFormat>
  <Paragraphs>117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</vt:lpstr>
      <vt:lpstr>Arial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Zhu Jiayi</cp:lastModifiedBy>
  <cp:revision>2</cp:revision>
  <dcterms:created xsi:type="dcterms:W3CDTF">2026-07-27T02:14:32Z</dcterms:created>
  <dcterms:modified xsi:type="dcterms:W3CDTF">2026-07-27T04:01:24Z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