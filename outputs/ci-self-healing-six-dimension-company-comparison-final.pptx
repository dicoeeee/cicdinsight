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" name="Shape 2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[Nx 技术机制详解]</a:t>
            </a:r>
          </a:p>
          <a:p>
            <a:endParaRPr/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一、上下文与证据装配（上图 ①）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PR CI 的 Task 失败后，始终执行的 fix-ci 步骤进入 Self-Healing 分析。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Project Graph 提供 Workspace 内项目、依赖和 Task 关系；Task Metadata 补充构建配置与执行信息。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.nx/SELF_HEALING.md 用于加入仓库级 CI 约束、禁止修改区域、修复偏好和额外上下文。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Nx 官方材料未把 PR Diff 明确列为独立结构化上下文输入，因此页面不作更强推断。</a:t>
            </a:r>
          </a:p>
          <a:p>
            <a:endParaRPr/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二、故障分流与修复边界（上图 ②③）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当 Nx Cloud 将 Task 标记为 Flaky 且启用 Auto-retry 时，系统向 PR Branch 推送 Empty Commit，触发新的 PR CI。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Flaky 重跑恢复的是执行，不代表偶现失败的根因已经修复。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fix-tasks / Eligible、Never Fix Pattern 与 Protected Branch 共同限定哪些失败 Task 可以尝试生成 Fix。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官方未公开 Flaky 判定算法、采样窗口和阈值，不能将其描述成完整公开的故障分类器。</a:t>
            </a:r>
          </a:p>
          <a:p>
            <a:endParaRPr/>
          </a:p>
          <a:p>
            <a:r>
              <a:t>三、根因诊断（上图 ④）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Nx 会结合失败 Task、Project Graph、Task Metadata 和仓库约束分析失败，并输出修复 Reasoning。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官方公开材料证明其会分析并生成修复，但没有公开完整的多假设竞争、反证链或独立 RCA 报告。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因此页面将“根因诊断”作为技术维度，同时保留这一事实边界。</a:t>
            </a:r>
          </a:p>
          <a:p>
            <a:endParaRPr/>
          </a:p>
          <a:p>
            <a:r>
              <a:t>四、候选修复生成（上图 ④）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Agent 仅针对 Eligible Task 生成修复 Reasoning 和可审阅 Diff。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用户可以 Apply、Reject，也可以 Apply Locally 后继续本地审阅和修改。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Reasoning 与 Diff 是候选方案，不是正确性证明。</a:t>
            </a:r>
          </a:p>
          <a:p>
            <a:endParaRPr/>
          </a:p>
          <a:p>
            <a:r>
              <a:t>五、任务级验证 Oracle（上图 ④）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Nx 将候选变更用于重新执行原失败 Task；观察到该 Task 被修复后，候选形成 Explicitly Verified。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Task Rerun 只回答“候选是否消除原失败”，不能替代全部 Required Checks、业务语义或长期运行验证。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Oracle 负责产出验证证据；是否允许写回由下一层策略门禁决定。</a:t>
            </a:r>
          </a:p>
          <a:p>
            <a:endParaRPr/>
          </a:p>
          <a:p>
            <a:r>
              <a:t>六、写回准入与回退控制（上图 ⑤⑥）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Auto-apply 必须同时满足：Task 命中 Auto-apply Pattern、Agent 为 High Confidence、候选已 Explicitly Verified。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三项缺一时转人工；最终写入 PR Branch，不代表自动合并主干或自动部署。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Protected Branch 不生成 Fix；写回后继续运行仓库 Required Checks，并保留 Reject / Revert。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Auto-apply Suggestions 只向管理员建议扩大 Task 范围，最终配置权仍在管理员。</a:t>
            </a:r>
          </a:p>
          <a:p>
            <a:endParaRPr/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[行业机制解释]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上下文：GitLab 强调 Logs + MR Diff + Repository；CircleCI 引入跨运行 Build History；Harness 扩展到组织级 Knowledge Graph。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分流：GitHub、GitLab、CircleCI 均设置“不修、转人工或有限重跑”的出口，避免所有红灯都进入改码路径。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诊断：GitHub 使用相似历史，Harness 拆分 Remediation 与 Coding Agent，AWS 以拓扑和多源证据做多假设推理。</a:t>
            </a:r>
          </a:p>
          <a:p>
            <a:r>
              <a:t>- 生成：GitHub Dependabot 优先确定性升级，GitLab 按 Diff 范围选择 Suggestion/MR，Snyk 用 Analyzer 约束多候选搜索。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验证：CircleCI 区分内外环，Snyk 使用同一 Analyzer 复验，Spotify 通过独立 Verifier 分离生成与验收。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写回：GitHub 使用独立 Safe Output Job，Harness 使用身份、OPA、Approval 与 Max Turns，Akuity 用 Tool Policy 和 Audit Trail 约束动作。</a:t>
            </a:r>
          </a:p>
          <a:p>
            <a:endParaRPr/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[讲解结论]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1. 自建 CI 自愈的核心，是打通“证据—分流—诊断—修复—验证—写回—回退”的受控闭环，而非只生成 Diff。</a:t>
            </a:r>
          </a:p>
          <a:p>
            <a:r>
              <a:t>2. Agent 负责诊断与生成，原 CI 负责复验，策略与权限负责准入，避免修改、验收与放行权集中。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3. 以“故障类型 × 范围 × 动作”为最小授权单元，从低风险、可验证、可回退的 PR 任务逐步扩围。</a:t>
            </a:r>
          </a:p>
          <a:p>
            <a:endParaRPr/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[适用边界]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上图是对 Nx 公开机制的分析性压缩，不是 Nx 官方发布的标准状态机。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Nx Self-Healing CI 的范围是 Nx Cloud 中的 PR CI Task，并依赖 VCS Integration。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原失败 Task 复验不等于全部 PR Required Checks，更不证明长期业务正确或生产安全。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各家公司案例只证明对应机制，不代表产品范围、成熟度和授权模型等价。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Harness Scoped Token 的完整委托链主要适用于存在触发 Principal 的场景，事件触发仍需单独验证。</a:t>
            </a:r>
          </a:p>
          <a:p>
            <a:endParaRPr/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[Sources]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Nx Self-Healing CI: https://nx.dev/docs/features/ci-features/self-healing-ci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Nx Auto-apply Suggestions: https://nx.dev/blog/self-healing-ci-auto-apply-suggestions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GitLab Fix CI/CD Pipeline Flow: https://docs.gitlab.com/user/duo_agent_platform/flows/foundational_flows/fix_pipeline/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CircleCI Chunk overview: https://circleci.com/docs/guides/toolkit/chunk-setup-and-overview/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CircleCI failure routing: https://circleci.com/blog/fix-bugs-faster-with-circlecis-chunk-ai-agent/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CircleCI agentic validation: https://circleci.com/blog/agentic-validation-needs-different-infrastructure/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Harness Autonomous Worker Agents / CI Autofix: https://www.harness.io/blog/introducing-autonomous-worker-agents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Harness Code Quality Agents: https://developer.harness.io/3k-docs/platform/getting-started/agents/code-quality/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GitHub CI Doctor: https://github.github.com/gh-aw/blog/2026-01-13-meet-the-workflows-quality-hygiene/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GitHub Dependabot Agent Remediation: https://github.blog/changelog/2026-04-07-dependabot-alerts-are-now-assignable-to-ai-agents-for-remediation/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GitHub Safe Outputs: https://github.github.com/gh-aw/reference/safe-outputs/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AWS multi-agent RCA: https://aws.amazon.com/blogs/devops/how-aws-devops-agent-uses-multi-agent-reasoning-to-find-root-causes/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Snyk Agent Fix architecture: https://snyk.io/blog/snyk-agent-fix-agentic-architecture/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Spotify independent verifier: https://engineering.atspotify.com/2025/12/feedback-loops-background-coding-agents-part-3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Akuity Tool Policies: https://docs.akuity.io/intelligence/capabilities/</a:t>
            </a:r>
          </a:p>
          <a:p>
            <a:endParaRPr/>
          </a:p>
          <a:p>
            <a:endParaRPr/>
          </a:p>
          <a:p>
            <a:r>
              <a:t>[本版行业案例筛选]</a:t>
            </a:r>
          </a:p>
          <a:p>
            <a:r>
              <a:t>- 上下文与证据装配保留 GitLab、CircleCI、Harness：分别代表仓库级证据、跨运行历史和组织级知识图谱。</a:t>
            </a:r>
          </a:p>
          <a:p>
            <a:r>
              <a:t>- 故障分流与修复边界保留 GitHub、CircleCI：分别体现“先诊断不改码”和按任务类型前置限定。</a:t>
            </a:r>
          </a:p>
          <a:p>
            <a:r>
              <a:t>- 根因诊断保留 Harness、AWS：分别体现诊断/编码角色分离和多假设反证推理。</a:t>
            </a:r>
          </a:p>
          <a:p>
            <a:r>
              <a:t>- 候选修复生成保留 GitLab、Snyk：分别体现 Diff 范围控制和领域 Analyzer 约束候选搜索。</a:t>
            </a:r>
          </a:p>
          <a:p>
            <a:r>
              <a:t>- 任务级验证保留 CircleCI、Spotify：分别体现内外环验证和独立 Verifier。</a:t>
            </a:r>
          </a:p>
          <a:p>
            <a:r>
              <a:t>- 写回准入与回退控制保留 GitHub、Harness、Akuity：分别体现输出净化、身份与策略准入、工具级动作策略。</a:t>
            </a:r>
          </a:p>
          <a:p>
            <a:r>
              <a:t>- as_of: 2026-07-27。</a:t>
            </a:r>
          </a:p>
          <a:p>
            <a:endParaRPr/>
          </a:p>
          <a:p>
            <a:r>
              <a:t>[Sources]</a:t>
            </a:r>
          </a:p>
          <a:p>
            <a:r>
              <a:t>- Company icons: Simple Icons CDN, official Harness favicon, official AWS favicon, official Akuity Docs favicon.</a:t>
            </a:r>
          </a:p>
          <a:p>
            <a:r>
              <a:t>- Official mechanism documents are linked directly from each company name in the table.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09479" y="708120"/>
            <a:ext cx="10971361" cy="274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09479" y="3364200"/>
            <a:ext cx="10971361" cy="456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harness.io/3k-docs/platform/getting-started/agents/code-quality/" TargetMode="External"/><Relationship Id="rId13" Type="http://schemas.openxmlformats.org/officeDocument/2006/relationships/hyperlink" Target="https://github.github.com/gh-aw/reference/safe-outputs/" TargetMode="External"/><Relationship Id="rId18" Type="http://schemas.openxmlformats.org/officeDocument/2006/relationships/image" Target="../media/image4.png"/><Relationship Id="rId3" Type="http://schemas.openxmlformats.org/officeDocument/2006/relationships/hyperlink" Target="https://docs.gitlab.com/user/duo_agent_platform/flows/foundational_flows/fix_pipeline/" TargetMode="External"/><Relationship Id="rId21" Type="http://schemas.openxmlformats.org/officeDocument/2006/relationships/image" Target="../media/image7.png"/><Relationship Id="rId7" Type="http://schemas.openxmlformats.org/officeDocument/2006/relationships/hyperlink" Target="https://circleci.com/blog/fix-bugs-faster-with-circlecis-chunk-ai-agent/" TargetMode="External"/><Relationship Id="rId12" Type="http://schemas.openxmlformats.org/officeDocument/2006/relationships/hyperlink" Target="https://engineering.atspotify.com/2025/12/feedback-loops-background-coding-agents-part-3" TargetMode="External"/><Relationship Id="rId1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github.com/gh-aw/blog/2026-01-13-meet-the-workflows-quality-hygiene/" TargetMode="External"/><Relationship Id="rId11" Type="http://schemas.openxmlformats.org/officeDocument/2006/relationships/hyperlink" Target="https://circleci.com/blog/agentic-validation-needs-different-infrastructure/" TargetMode="External"/><Relationship Id="rId5" Type="http://schemas.openxmlformats.org/officeDocument/2006/relationships/hyperlink" Target="https://www.harness.io/blog/introducing-autonomous-worker-agents" TargetMode="External"/><Relationship Id="rId15" Type="http://schemas.openxmlformats.org/officeDocument/2006/relationships/image" Target="../media/image1.png"/><Relationship Id="rId10" Type="http://schemas.openxmlformats.org/officeDocument/2006/relationships/hyperlink" Target="https://snyk.io/blog/snyk-agent-fix-agentic-architecture/" TargetMode="External"/><Relationship Id="rId19" Type="http://schemas.openxmlformats.org/officeDocument/2006/relationships/image" Target="../media/image5.png"/><Relationship Id="rId4" Type="http://schemas.openxmlformats.org/officeDocument/2006/relationships/hyperlink" Target="https://circleci.com/docs/guides/toolkit/chunk-setup-and-overview/" TargetMode="External"/><Relationship Id="rId9" Type="http://schemas.openxmlformats.org/officeDocument/2006/relationships/hyperlink" Target="https://aws.amazon.com/blogs/devops/how-aws-devops-agent-uses-multi-agent-reasoning-to-find-root-causes/" TargetMode="External"/><Relationship Id="rId14" Type="http://schemas.openxmlformats.org/officeDocument/2006/relationships/hyperlink" Target="https://docs.akuity.io/intelligence/capabilities/" TargetMode="External"/><Relationship Id="rId2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/>
          <p:cNvSpPr txBox="1"/>
          <p:nvPr/>
        </p:nvSpPr>
        <p:spPr>
          <a:xfrm>
            <a:off x="513251" y="261025"/>
            <a:ext cx="1094361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CI 自愈：从故障分流、根因诊断到验证准入与有界写回</a:t>
            </a:r>
          </a:p>
        </p:txBody>
      </p:sp>
      <p:sp>
        <p:nvSpPr>
          <p:cNvPr id="23" name="flow-label"/>
          <p:cNvSpPr txBox="1"/>
          <p:nvPr/>
        </p:nvSpPr>
        <p:spPr>
          <a:xfrm>
            <a:off x="578520" y="822689"/>
            <a:ext cx="4004280" cy="35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500" b="1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Nx Self-Healing CI：CI自愈技术方案</a:t>
            </a:r>
          </a:p>
        </p:txBody>
      </p:sp>
      <p:sp>
        <p:nvSpPr>
          <p:cNvPr id="24" name="nx-stage-1"/>
          <p:cNvSpPr/>
          <p:nvPr/>
        </p:nvSpPr>
        <p:spPr>
          <a:xfrm>
            <a:off x="533520" y="1571759"/>
            <a:ext cx="1694160" cy="722521"/>
          </a:xfrm>
          <a:prstGeom prst="roundRect">
            <a:avLst>
              <a:gd name="adj" fmla="val 13158"/>
            </a:avLst>
          </a:prstGeom>
          <a:solidFill>
            <a:srgbClr val="E7F5F0"/>
          </a:solidFill>
          <a:ln w="13334">
            <a:solidFill>
              <a:srgbClr val="087F5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nx-stage-1-title"/>
          <p:cNvSpPr txBox="1"/>
          <p:nvPr/>
        </p:nvSpPr>
        <p:spPr>
          <a:xfrm>
            <a:off x="732045" y="1612180"/>
            <a:ext cx="12654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失败证据</a:t>
            </a:r>
          </a:p>
          <a:p>
            <a: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与上下文装配</a:t>
            </a:r>
          </a:p>
        </p:txBody>
      </p:sp>
      <p:sp>
        <p:nvSpPr>
          <p:cNvPr id="26" name="nx-stage-1-detail"/>
          <p:cNvSpPr txBox="1"/>
          <p:nvPr/>
        </p:nvSpPr>
        <p:spPr>
          <a:xfrm>
            <a:off x="675240" y="2055938"/>
            <a:ext cx="1413361" cy="21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sz="800">
                <a:solidFill>
                  <a:srgbClr val="48658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Project Graph · Metadata</a:t>
            </a:r>
          </a:p>
        </p:txBody>
      </p:sp>
      <p:sp>
        <p:nvSpPr>
          <p:cNvPr id="27" name="nx-stage-2"/>
          <p:cNvSpPr/>
          <p:nvPr/>
        </p:nvSpPr>
        <p:spPr>
          <a:xfrm>
            <a:off x="2419200" y="1571759"/>
            <a:ext cx="1389241" cy="722521"/>
          </a:xfrm>
          <a:prstGeom prst="roundRect">
            <a:avLst>
              <a:gd name="adj" fmla="val 13158"/>
            </a:avLst>
          </a:prstGeom>
          <a:solidFill>
            <a:srgbClr val="DDF3EA"/>
          </a:solidFill>
          <a:ln w="17145">
            <a:solidFill>
              <a:srgbClr val="087F5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nx-stage-2-title"/>
          <p:cNvSpPr txBox="1"/>
          <p:nvPr/>
        </p:nvSpPr>
        <p:spPr>
          <a:xfrm>
            <a:off x="2606580" y="1617632"/>
            <a:ext cx="96048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Flaky 分流</a:t>
            </a:r>
          </a:p>
          <a:p>
            <a:pPr algn="ctr">
              <a:defRPr sz="1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与重跑路由</a:t>
            </a:r>
          </a:p>
        </p:txBody>
      </p:sp>
      <p:sp>
        <p:nvSpPr>
          <p:cNvPr id="29" name="nx-stage-2-detail"/>
          <p:cNvSpPr txBox="1"/>
          <p:nvPr/>
        </p:nvSpPr>
        <p:spPr>
          <a:xfrm>
            <a:off x="2559419" y="2043771"/>
            <a:ext cx="1108801" cy="19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sz="700">
                <a:solidFill>
                  <a:srgbClr val="48658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Empty Commit · Retry</a:t>
            </a:r>
          </a:p>
        </p:txBody>
      </p:sp>
      <p:sp>
        <p:nvSpPr>
          <p:cNvPr id="30" name="nx-stage-3"/>
          <p:cNvSpPr/>
          <p:nvPr/>
        </p:nvSpPr>
        <p:spPr>
          <a:xfrm>
            <a:off x="4000679" y="1571759"/>
            <a:ext cx="1474921" cy="722521"/>
          </a:xfrm>
          <a:prstGeom prst="roundRect">
            <a:avLst>
              <a:gd name="adj" fmla="val 13158"/>
            </a:avLst>
          </a:prstGeom>
          <a:solidFill>
            <a:srgbClr val="DDF3EA"/>
          </a:solidFill>
          <a:ln w="17145">
            <a:solidFill>
              <a:srgbClr val="087F5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nx-stage-3-title"/>
          <p:cNvSpPr txBox="1"/>
          <p:nvPr/>
        </p:nvSpPr>
        <p:spPr>
          <a:xfrm>
            <a:off x="4206149" y="1602282"/>
            <a:ext cx="104616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修复资格</a:t>
            </a:r>
          </a:p>
          <a:p>
            <a:pPr algn="ctr">
              <a:defRPr sz="1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与作用域约束</a:t>
            </a:r>
          </a:p>
        </p:txBody>
      </p:sp>
      <p:sp>
        <p:nvSpPr>
          <p:cNvPr id="32" name="nx-stage-3-detail"/>
          <p:cNvSpPr txBox="1"/>
          <p:nvPr/>
        </p:nvSpPr>
        <p:spPr>
          <a:xfrm>
            <a:off x="4140899" y="2019599"/>
            <a:ext cx="1194482" cy="21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sz="800">
                <a:solidFill>
                  <a:srgbClr val="48658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fix-tasks · Never Fix</a:t>
            </a:r>
          </a:p>
        </p:txBody>
      </p:sp>
      <p:sp>
        <p:nvSpPr>
          <p:cNvPr id="33" name="nx-stage-4"/>
          <p:cNvSpPr/>
          <p:nvPr/>
        </p:nvSpPr>
        <p:spPr>
          <a:xfrm>
            <a:off x="5667480" y="1571759"/>
            <a:ext cx="1474920" cy="722521"/>
          </a:xfrm>
          <a:prstGeom prst="roundRect">
            <a:avLst>
              <a:gd name="adj" fmla="val 13158"/>
            </a:avLst>
          </a:prstGeom>
          <a:solidFill>
            <a:srgbClr val="E7F5F0"/>
          </a:solidFill>
          <a:ln w="13334">
            <a:solidFill>
              <a:srgbClr val="087F5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4" name="nx-stage-4-title"/>
          <p:cNvSpPr txBox="1"/>
          <p:nvPr/>
        </p:nvSpPr>
        <p:spPr>
          <a:xfrm>
            <a:off x="5877933" y="1600753"/>
            <a:ext cx="104616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根因诊断</a:t>
            </a:r>
          </a:p>
          <a:p>
            <a:pPr algn="ctr">
              <a:defRPr sz="1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与候选修复</a:t>
            </a:r>
          </a:p>
        </p:txBody>
      </p:sp>
      <p:sp>
        <p:nvSpPr>
          <p:cNvPr id="35" name="nx-stage-4-detail"/>
          <p:cNvSpPr txBox="1"/>
          <p:nvPr/>
        </p:nvSpPr>
        <p:spPr>
          <a:xfrm>
            <a:off x="5762519" y="2054920"/>
            <a:ext cx="1284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627D9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Diff · Task Rerun</a:t>
            </a:r>
          </a:p>
        </p:txBody>
      </p:sp>
      <p:sp>
        <p:nvSpPr>
          <p:cNvPr id="36" name="nx-stage-5"/>
          <p:cNvSpPr/>
          <p:nvPr/>
        </p:nvSpPr>
        <p:spPr>
          <a:xfrm>
            <a:off x="7334280" y="1571759"/>
            <a:ext cx="1427401" cy="722521"/>
          </a:xfrm>
          <a:prstGeom prst="roundRect">
            <a:avLst>
              <a:gd name="adj" fmla="val 13158"/>
            </a:avLst>
          </a:prstGeom>
          <a:solidFill>
            <a:srgbClr val="DDF3EA"/>
          </a:solidFill>
          <a:ln w="17145">
            <a:solidFill>
              <a:srgbClr val="087F5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" name="nx-stage-5-title"/>
          <p:cNvSpPr txBox="1"/>
          <p:nvPr/>
        </p:nvSpPr>
        <p:spPr>
          <a:xfrm>
            <a:off x="7508519" y="1601419"/>
            <a:ext cx="1078201" cy="47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Auto-apply</a:t>
            </a:r>
          </a:p>
          <a:p>
            <a:pPr algn="ctr">
              <a:defRPr sz="1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三条件门禁</a:t>
            </a:r>
          </a:p>
        </p:txBody>
      </p:sp>
      <p:sp>
        <p:nvSpPr>
          <p:cNvPr id="38" name="nx-stage-5-detail"/>
          <p:cNvSpPr txBox="1"/>
          <p:nvPr/>
        </p:nvSpPr>
        <p:spPr>
          <a:xfrm>
            <a:off x="7474499" y="2019599"/>
            <a:ext cx="1146962" cy="29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sz="700">
                <a:solidFill>
                  <a:srgbClr val="48658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Pattern · Confidence · Verified</a:t>
            </a:r>
          </a:p>
        </p:txBody>
      </p:sp>
      <p:sp>
        <p:nvSpPr>
          <p:cNvPr id="39" name="nx-stage-6"/>
          <p:cNvSpPr/>
          <p:nvPr/>
        </p:nvSpPr>
        <p:spPr>
          <a:xfrm>
            <a:off x="8953559" y="1571759"/>
            <a:ext cx="2703601" cy="722521"/>
          </a:xfrm>
          <a:prstGeom prst="roundRect">
            <a:avLst>
              <a:gd name="adj" fmla="val 13158"/>
            </a:avLst>
          </a:prstGeom>
          <a:solidFill>
            <a:srgbClr val="E7F5F0"/>
          </a:solidFill>
          <a:ln w="13334">
            <a:solidFill>
              <a:srgbClr val="087F5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" name="nx-stage-6-title"/>
          <p:cNvSpPr txBox="1"/>
          <p:nvPr/>
        </p:nvSpPr>
        <p:spPr>
          <a:xfrm>
            <a:off x="9286919" y="1726480"/>
            <a:ext cx="22752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PR 分支写回、外层检查与回退</a:t>
            </a:r>
          </a:p>
        </p:txBody>
      </p:sp>
      <p:sp>
        <p:nvSpPr>
          <p:cNvPr id="41" name="nx-stage-6-detail"/>
          <p:cNvSpPr txBox="1"/>
          <p:nvPr/>
        </p:nvSpPr>
        <p:spPr>
          <a:xfrm>
            <a:off x="9093780" y="2039940"/>
            <a:ext cx="2423161" cy="21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sz="800">
                <a:solidFill>
                  <a:srgbClr val="48658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Commit · Required Checks · Revert</a:t>
            </a:r>
          </a:p>
        </p:txBody>
      </p:sp>
      <p:sp>
        <p:nvSpPr>
          <p:cNvPr id="42" name="nx-flaky-route"/>
          <p:cNvSpPr/>
          <p:nvPr/>
        </p:nvSpPr>
        <p:spPr>
          <a:xfrm>
            <a:off x="4000679" y="1200240"/>
            <a:ext cx="2361210" cy="293761"/>
          </a:xfrm>
          <a:prstGeom prst="roundRect">
            <a:avLst>
              <a:gd name="adj" fmla="val 25806"/>
            </a:avLst>
          </a:prstGeom>
          <a:solidFill>
            <a:srgbClr val="FFF7E6"/>
          </a:solidFill>
          <a:ln w="11430">
            <a:solidFill>
              <a:srgbClr val="B7791F"/>
            </a:solidFill>
            <a:prstDash val="dash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" name="nx-flaky-route-text"/>
          <p:cNvSpPr txBox="1"/>
          <p:nvPr/>
        </p:nvSpPr>
        <p:spPr>
          <a:xfrm>
            <a:off x="4244225" y="1248455"/>
            <a:ext cx="1851841" cy="230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sz="8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Flaky → Empty Commit → 重跑 </a:t>
            </a:r>
          </a:p>
        </p:txBody>
      </p:sp>
      <p:sp>
        <p:nvSpPr>
          <p:cNvPr id="44" name="nx-stop-route"/>
          <p:cNvSpPr/>
          <p:nvPr/>
        </p:nvSpPr>
        <p:spPr>
          <a:xfrm>
            <a:off x="3609981" y="2422729"/>
            <a:ext cx="2246402" cy="299952"/>
          </a:xfrm>
          <a:prstGeom prst="roundRect">
            <a:avLst>
              <a:gd name="adj" fmla="val 22222"/>
            </a:avLst>
          </a:prstGeom>
          <a:solidFill>
            <a:srgbClr val="FBEDE9"/>
          </a:solidFill>
          <a:ln w="11430">
            <a:solidFill>
              <a:srgbClr val="8A4B3A"/>
            </a:solidFill>
            <a:prstDash val="dash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" name="nx-stop-route-text"/>
          <p:cNvSpPr txBox="1"/>
          <p:nvPr/>
        </p:nvSpPr>
        <p:spPr>
          <a:xfrm>
            <a:off x="3730942" y="2470249"/>
            <a:ext cx="2004121" cy="230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sz="800" b="1">
                <a:solidFill>
                  <a:srgbClr val="8A4B3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Never Fix / Protected → 人工处理</a:t>
            </a:r>
          </a:p>
        </p:txBody>
      </p:sp>
      <p:cxnSp>
        <p:nvCxnSpPr>
          <p:cNvPr id="46" name="直线箭头连接符 44"/>
          <p:cNvCxnSpPr>
            <a:cxnSpLocks/>
          </p:cNvCxnSpPr>
          <p:nvPr/>
        </p:nvCxnSpPr>
        <p:spPr>
          <a:xfrm>
            <a:off x="2227680" y="1933199"/>
            <a:ext cx="191880" cy="360"/>
          </a:xfrm>
          <a:prstGeom prst="straightConnector1">
            <a:avLst/>
          </a:prstGeom>
          <a:ln w="19050">
            <a:solidFill>
              <a:srgbClr val="087F5B"/>
            </a:solidFill>
            <a:tailEnd type="triangle"/>
          </a:ln>
        </p:spPr>
      </p:cxnSp>
      <p:cxnSp>
        <p:nvCxnSpPr>
          <p:cNvPr id="47" name="直线箭头连接符 45"/>
          <p:cNvCxnSpPr>
            <a:cxnSpLocks/>
          </p:cNvCxnSpPr>
          <p:nvPr/>
        </p:nvCxnSpPr>
        <p:spPr>
          <a:xfrm>
            <a:off x="3808440" y="1933199"/>
            <a:ext cx="192600" cy="360"/>
          </a:xfrm>
          <a:prstGeom prst="straightConnector1">
            <a:avLst/>
          </a:prstGeom>
          <a:ln w="19050">
            <a:solidFill>
              <a:srgbClr val="087F5B"/>
            </a:solidFill>
            <a:tailEnd type="triangle"/>
          </a:ln>
        </p:spPr>
      </p:cxnSp>
      <p:cxnSp>
        <p:nvCxnSpPr>
          <p:cNvPr id="48" name="直线箭头连接符 46"/>
          <p:cNvCxnSpPr>
            <a:cxnSpLocks/>
          </p:cNvCxnSpPr>
          <p:nvPr/>
        </p:nvCxnSpPr>
        <p:spPr>
          <a:xfrm>
            <a:off x="5475600" y="1933199"/>
            <a:ext cx="192240" cy="360"/>
          </a:xfrm>
          <a:prstGeom prst="straightConnector1">
            <a:avLst/>
          </a:prstGeom>
          <a:ln w="19050">
            <a:solidFill>
              <a:srgbClr val="087F5B"/>
            </a:solidFill>
            <a:tailEnd type="triangle"/>
          </a:ln>
        </p:spPr>
      </p:cxnSp>
      <p:cxnSp>
        <p:nvCxnSpPr>
          <p:cNvPr id="49" name="直线箭头连接符 47"/>
          <p:cNvCxnSpPr>
            <a:cxnSpLocks/>
          </p:cNvCxnSpPr>
          <p:nvPr/>
        </p:nvCxnSpPr>
        <p:spPr>
          <a:xfrm>
            <a:off x="7142400" y="1933199"/>
            <a:ext cx="192240" cy="360"/>
          </a:xfrm>
          <a:prstGeom prst="straightConnector1">
            <a:avLst/>
          </a:prstGeom>
          <a:ln w="19050">
            <a:solidFill>
              <a:srgbClr val="087F5B"/>
            </a:solidFill>
            <a:tailEnd type="triangle"/>
          </a:ln>
        </p:spPr>
      </p:cxnSp>
      <p:cxnSp>
        <p:nvCxnSpPr>
          <p:cNvPr id="50" name="直线箭头连接符 48"/>
          <p:cNvCxnSpPr>
            <a:cxnSpLocks/>
          </p:cNvCxnSpPr>
          <p:nvPr/>
        </p:nvCxnSpPr>
        <p:spPr>
          <a:xfrm>
            <a:off x="8761680" y="1933199"/>
            <a:ext cx="192240" cy="360"/>
          </a:xfrm>
          <a:prstGeom prst="straightConnector1">
            <a:avLst/>
          </a:prstGeom>
          <a:ln w="19050">
            <a:solidFill>
              <a:srgbClr val="087F5B"/>
            </a:solidFill>
            <a:tailEnd type="triangle"/>
          </a:ln>
        </p:spPr>
      </p:cxnSp>
      <p:cxnSp>
        <p:nvCxnSpPr>
          <p:cNvPr id="51" name="肘形连接符 49"/>
          <p:cNvCxnSpPr>
            <a:cxnSpLocks/>
            <a:stCxn id="27" idx="3"/>
            <a:endCxn id="42" idx="1"/>
          </p:cNvCxnSpPr>
          <p:nvPr/>
        </p:nvCxnSpPr>
        <p:spPr>
          <a:xfrm flipV="1">
            <a:off x="3808441" y="1347121"/>
            <a:ext cx="192238" cy="585899"/>
          </a:xfrm>
          <a:prstGeom prst="bentConnector3">
            <a:avLst>
              <a:gd name="adj1" fmla="val 50000"/>
            </a:avLst>
          </a:prstGeom>
          <a:ln w="13334">
            <a:solidFill>
              <a:srgbClr val="B7791F"/>
            </a:solidFill>
            <a:prstDash val="dash"/>
            <a:tailEnd type="triangle"/>
          </a:ln>
        </p:spPr>
      </p:cxnSp>
      <p:sp>
        <p:nvSpPr>
          <p:cNvPr id="52" name="nx-manual-route"/>
          <p:cNvSpPr/>
          <p:nvPr/>
        </p:nvSpPr>
        <p:spPr>
          <a:xfrm>
            <a:off x="6972300" y="2424510"/>
            <a:ext cx="2151360" cy="291979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1430">
            <a:solidFill>
              <a:srgbClr val="627D98"/>
            </a:solidFill>
            <a:prstDash val="dash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" name="nx-manual-route-text"/>
          <p:cNvSpPr txBox="1"/>
          <p:nvPr/>
        </p:nvSpPr>
        <p:spPr>
          <a:xfrm>
            <a:off x="7093259" y="2472031"/>
            <a:ext cx="1908721" cy="230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sz="800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门禁未通过 → 人工处理</a:t>
            </a:r>
          </a:p>
        </p:txBody>
      </p:sp>
      <p:grpSp>
        <p:nvGrpSpPr>
          <p:cNvPr id="56" name="bottom-insights"/>
          <p:cNvGrpSpPr/>
          <p:nvPr/>
        </p:nvGrpSpPr>
        <p:grpSpPr>
          <a:xfrm>
            <a:off x="1271080" y="5909731"/>
            <a:ext cx="10367721" cy="549434"/>
            <a:chOff x="0" y="0"/>
            <a:chExt cx="10367719" cy="549432"/>
          </a:xfrm>
        </p:grpSpPr>
        <p:sp>
          <p:nvSpPr>
            <p:cNvPr id="54" name="矩形"/>
            <p:cNvSpPr/>
            <p:nvPr/>
          </p:nvSpPr>
          <p:spPr>
            <a:xfrm>
              <a:off x="-1" y="0"/>
              <a:ext cx="10367721" cy="549433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/>
            </a:p>
          </p:txBody>
        </p:sp>
        <p:sp>
          <p:nvSpPr>
            <p:cNvPr id="55" name="1. 自建 CI 自愈的核心，是打通“证据—分流—诊断—修复—验证—写回—回退”的受控闭环，而非只生成 Diff。…"/>
            <p:cNvSpPr txBox="1"/>
            <p:nvPr/>
          </p:nvSpPr>
          <p:spPr>
            <a:xfrm>
              <a:off x="38099" y="1666"/>
              <a:ext cx="10291521" cy="546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9050" tIns="19050" rIns="19050" bIns="19050" numCol="1" anchor="ctr">
              <a:spAutoFit/>
            </a:bodyPr>
            <a:lstStyle/>
            <a:p>
              <a:pPr>
                <a:defRPr sz="140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1. 自建 CI 自愈的核心，是打通“证据—分流—诊断—修复—验证—写回—回退”的受控闭环，而非只生成 Diff。</a:t>
              </a:r>
            </a:p>
            <a:p>
              <a:pPr>
                <a:defRPr sz="140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2. Agent 负责诊断与生成，原 CI 负责复验，策略与权限负责准入，避免修改、验收与放行权集中。</a:t>
              </a:r>
            </a:p>
          </p:txBody>
        </p:sp>
      </p:grpSp>
      <p:cxnSp>
        <p:nvCxnSpPr>
          <p:cNvPr id="57" name="直线箭头连接符 69"/>
          <p:cNvCxnSpPr>
            <a:cxnSpLocks/>
          </p:cNvCxnSpPr>
          <p:nvPr/>
        </p:nvCxnSpPr>
        <p:spPr>
          <a:xfrm flipH="1">
            <a:off x="4733182" y="2294281"/>
            <a:ext cx="4958" cy="128449"/>
          </a:xfrm>
          <a:prstGeom prst="straightConnector1">
            <a:avLst/>
          </a:prstGeom>
          <a:ln w="13334">
            <a:solidFill>
              <a:srgbClr val="B7791F"/>
            </a:solidFill>
            <a:prstDash val="dash"/>
            <a:tailEnd type="triangle"/>
          </a:ln>
        </p:spPr>
      </p:cxnSp>
      <p:cxnSp>
        <p:nvCxnSpPr>
          <p:cNvPr id="58" name="直线箭头连接符 75"/>
          <p:cNvCxnSpPr>
            <a:cxnSpLocks/>
          </p:cNvCxnSpPr>
          <p:nvPr/>
        </p:nvCxnSpPr>
        <p:spPr>
          <a:xfrm flipH="1">
            <a:off x="8047980" y="2294280"/>
            <a:ext cx="0" cy="130231"/>
          </a:xfrm>
          <a:prstGeom prst="straightConnector1">
            <a:avLst/>
          </a:prstGeom>
          <a:ln w="13334">
            <a:solidFill>
              <a:schemeClr val="accent1"/>
            </a:solidFill>
            <a:prstDash val="dash"/>
            <a:tailEnd type="triangle"/>
          </a:ln>
        </p:spPr>
      </p:cxnSp>
      <p:sp>
        <p:nvSpPr>
          <p:cNvPr id="59" name="文本框 78"/>
          <p:cNvSpPr txBox="1"/>
          <p:nvPr/>
        </p:nvSpPr>
        <p:spPr>
          <a:xfrm>
            <a:off x="468960" y="1581866"/>
            <a:ext cx="5441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①</a:t>
            </a:r>
          </a:p>
        </p:txBody>
      </p:sp>
      <p:sp>
        <p:nvSpPr>
          <p:cNvPr id="60" name="文本框 85"/>
          <p:cNvSpPr txBox="1"/>
          <p:nvPr/>
        </p:nvSpPr>
        <p:spPr>
          <a:xfrm>
            <a:off x="2401474" y="1559359"/>
            <a:ext cx="284396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②</a:t>
            </a:r>
          </a:p>
        </p:txBody>
      </p:sp>
      <p:sp>
        <p:nvSpPr>
          <p:cNvPr id="61" name="文本框 86"/>
          <p:cNvSpPr txBox="1"/>
          <p:nvPr/>
        </p:nvSpPr>
        <p:spPr>
          <a:xfrm>
            <a:off x="4082616" y="1537208"/>
            <a:ext cx="23281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③</a:t>
            </a:r>
          </a:p>
        </p:txBody>
      </p:sp>
      <p:sp>
        <p:nvSpPr>
          <p:cNvPr id="62" name="文本框 94"/>
          <p:cNvSpPr txBox="1"/>
          <p:nvPr/>
        </p:nvSpPr>
        <p:spPr>
          <a:xfrm>
            <a:off x="5701894" y="1548027"/>
            <a:ext cx="22362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④</a:t>
            </a:r>
          </a:p>
        </p:txBody>
      </p:sp>
      <p:sp>
        <p:nvSpPr>
          <p:cNvPr id="63" name="文本框 95"/>
          <p:cNvSpPr txBox="1"/>
          <p:nvPr/>
        </p:nvSpPr>
        <p:spPr>
          <a:xfrm>
            <a:off x="7351474" y="1542344"/>
            <a:ext cx="195614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⑤</a:t>
            </a:r>
          </a:p>
        </p:txBody>
      </p:sp>
      <p:sp>
        <p:nvSpPr>
          <p:cNvPr id="64" name="文本框 96"/>
          <p:cNvSpPr txBox="1"/>
          <p:nvPr/>
        </p:nvSpPr>
        <p:spPr>
          <a:xfrm>
            <a:off x="8973047" y="1534370"/>
            <a:ext cx="196108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⑥</a:t>
            </a:r>
          </a:p>
        </p:txBody>
      </p:sp>
      <p:grpSp>
        <p:nvGrpSpPr>
          <p:cNvPr id="67" name="bottom-insights"/>
          <p:cNvGrpSpPr/>
          <p:nvPr/>
        </p:nvGrpSpPr>
        <p:grpSpPr>
          <a:xfrm>
            <a:off x="533520" y="5860048"/>
            <a:ext cx="651754" cy="648801"/>
            <a:chOff x="0" y="0"/>
            <a:chExt cx="651752" cy="648799"/>
          </a:xfrm>
        </p:grpSpPr>
        <p:sp>
          <p:nvSpPr>
            <p:cNvPr id="65" name="矩形"/>
            <p:cNvSpPr/>
            <p:nvPr/>
          </p:nvSpPr>
          <p:spPr>
            <a:xfrm>
              <a:off x="0" y="49683"/>
              <a:ext cx="651753" cy="549435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/>
            </a:p>
          </p:txBody>
        </p:sp>
        <p:sp>
          <p:nvSpPr>
            <p:cNvPr id="66" name="洞察…"/>
            <p:cNvSpPr txBox="1"/>
            <p:nvPr/>
          </p:nvSpPr>
          <p:spPr>
            <a:xfrm>
              <a:off x="44999" y="0"/>
              <a:ext cx="561754" cy="648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>
                <a:defRPr sz="160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洞察</a:t>
              </a:r>
            </a:p>
            <a:p>
              <a:pPr>
                <a:defRPr sz="160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总结</a:t>
              </a:r>
            </a:p>
          </p:txBody>
        </p:sp>
      </p:grpSp>
      <p:graphicFrame>
        <p:nvGraphicFramePr>
          <p:cNvPr id="68" name="nx-stage-company-practice-table"/>
          <p:cNvGraphicFramePr/>
          <p:nvPr/>
        </p:nvGraphicFramePr>
        <p:xfrm>
          <a:off x="513719" y="2763260"/>
          <a:ext cx="11125080" cy="278894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7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技术维度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Nx 技术机制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行业机制洞察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① </a:t>
                      </a:r>
                      <a:r>
                        <a:rPr>
                          <a:solidFill>
                            <a:srgbClr val="102A43"/>
                          </a:solidFill>
                        </a:rPr>
                        <a:t>上下文与证据装配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6000"/>
                        </a:lnSpc>
                        <a:defRPr sz="1800"/>
                      </a:pPr>
                      <a:r>
                        <a:rPr sz="1000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失败 Task 触发 fix-ci；Project Graph、Task Metadata 与 SELF_HEALING.md 装配项目关系、构建配置和仓库约束。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4000"/>
                        </a:lnSpc>
                        <a:defRPr sz="80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　</a:t>
                      </a:r>
                      <a:r>
                        <a:rPr b="1" u="sng">
                          <a:solidFill>
                            <a:srgbClr val="467886"/>
                          </a:solidFill>
                          <a:uFill>
                            <a:solidFill>
                              <a:srgbClr val="467886"/>
                            </a:solidFill>
                          </a:uFill>
                          <a:hlinkClick r:id="rId3"/>
                        </a:rPr>
                        <a:t>GitLab</a:t>
                      </a:r>
                      <a:r>
                        <a:t>：联合 Pipeline Logs、MR Diff 与仓库内容，定位失败相关代码和脚本。</a:t>
                      </a:r>
                    </a:p>
                    <a:p>
                      <a:pPr algn="l">
                        <a:lnSpc>
                          <a:spcPct val="94000"/>
                        </a:lnSpc>
                        <a:defRPr sz="80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　</a:t>
                      </a:r>
                      <a:r>
                        <a:rPr b="1" u="sng">
                          <a:solidFill>
                            <a:srgbClr val="467886"/>
                          </a:solidFill>
                          <a:uFill>
                            <a:solidFill>
                              <a:srgbClr val="467886"/>
                            </a:solidFill>
                          </a:uFill>
                          <a:hlinkClick r:id="rId4"/>
                        </a:rPr>
                        <a:t>CircleCI</a:t>
                      </a:r>
                      <a:r>
                        <a:t>：结合 Failure Context、Build History 与 Repo Code，补足跨运行证据。</a:t>
                      </a:r>
                    </a:p>
                    <a:p>
                      <a:pPr algn="l">
                        <a:lnSpc>
                          <a:spcPct val="94000"/>
                        </a:lnSpc>
                        <a:defRPr sz="80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　</a:t>
                      </a:r>
                      <a:r>
                        <a:rPr b="1" u="sng">
                          <a:solidFill>
                            <a:srgbClr val="467886"/>
                          </a:solidFill>
                          <a:uFill>
                            <a:solidFill>
                              <a:srgbClr val="467886"/>
                            </a:solidFill>
                          </a:uFill>
                          <a:hlinkClick r:id="rId5"/>
                        </a:rPr>
                        <a:t>Harness</a:t>
                      </a:r>
                      <a:r>
                        <a:t>：以 Build Logs 和 Knowledge Graph 关联服务、Pipeline、部署、Incidents 与 Policies。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②③ </a:t>
                      </a:r>
                      <a:r>
                        <a:rPr>
                          <a:solidFill>
                            <a:srgbClr val="102A43"/>
                          </a:solidFill>
                        </a:rPr>
                        <a:t>故障分流与修复边界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6000"/>
                        </a:lnSpc>
                        <a:defRPr sz="1800"/>
                      </a:pPr>
                      <a:r>
                        <a:rPr sz="1000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Flaky 走 Empty Commit 重跑；fix-tasks、Never Fix 与 Protected Branch 将代码修复限定在 Eligible Task。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4000"/>
                        </a:lnSpc>
                        <a:defRPr sz="80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　</a:t>
                      </a:r>
                      <a:r>
                        <a:rPr b="1" u="sng">
                          <a:solidFill>
                            <a:srgbClr val="467886"/>
                          </a:solidFill>
                          <a:uFill>
                            <a:solidFill>
                              <a:srgbClr val="467886"/>
                            </a:solidFill>
                          </a:uFill>
                          <a:hlinkClick r:id="rId6"/>
                        </a:rPr>
                        <a:t>GitHub</a:t>
                      </a:r>
                      <a:r>
                        <a:t>：CI Doctor 先生成 Diagnostic Issue，避免所有失败直接进入改码路径。</a:t>
                      </a:r>
                    </a:p>
                    <a:p>
                      <a:pPr algn="l">
                        <a:lnSpc>
                          <a:spcPct val="94000"/>
                        </a:lnSpc>
                        <a:defRPr sz="80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　</a:t>
                      </a:r>
                      <a:r>
                        <a:rPr b="1" u="sng">
                          <a:solidFill>
                            <a:srgbClr val="467886"/>
                          </a:solidFill>
                          <a:uFill>
                            <a:solidFill>
                              <a:srgbClr val="467886"/>
                            </a:solidFill>
                          </a:uFill>
                          <a:hlinkClick r:id="rId7"/>
                        </a:rPr>
                        <a:t>CircleCI</a:t>
                      </a:r>
                      <a:r>
                        <a:t>：提供仅诊断、Flaky 与指定错误模式入口，先限定处理类型和范围。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④ </a:t>
                      </a:r>
                      <a:r>
                        <a:rPr>
                          <a:solidFill>
                            <a:srgbClr val="102A43"/>
                          </a:solidFill>
                        </a:rPr>
                        <a:t>根因诊断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6000"/>
                        </a:lnSpc>
                        <a:defRPr sz="1800"/>
                      </a:pPr>
                      <a:r>
                        <a:rPr sz="1000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结合失败 Task、Project Graph 与 Task Metadata 分析故障并输出 Reasoning；官方未公开完整的多假设竞争与反证链。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4000"/>
                        </a:lnSpc>
                        <a:defRPr sz="80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　</a:t>
                      </a:r>
                      <a:r>
                        <a:rPr b="1" u="sng">
                          <a:solidFill>
                            <a:srgbClr val="467886"/>
                          </a:solidFill>
                          <a:uFill>
                            <a:solidFill>
                              <a:srgbClr val="467886"/>
                            </a:solidFill>
                          </a:uFill>
                          <a:hlinkClick r:id="rId8"/>
                        </a:rPr>
                        <a:t>Harness</a:t>
                      </a:r>
                      <a:r>
                        <a:t>：Remediation Agent 先形成 Root Cause，再将诊断交给 Coding Agent。</a:t>
                      </a:r>
                    </a:p>
                    <a:p>
                      <a:pPr algn="l">
                        <a:lnSpc>
                          <a:spcPct val="94000"/>
                        </a:lnSpc>
                        <a:defRPr sz="80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　</a:t>
                      </a:r>
                      <a:r>
                        <a:rPr b="1" u="sng">
                          <a:solidFill>
                            <a:srgbClr val="467886"/>
                          </a:solidFill>
                          <a:uFill>
                            <a:solidFill>
                              <a:srgbClr val="467886"/>
                            </a:solidFill>
                          </a:uFill>
                          <a:hlinkClick r:id="rId9"/>
                        </a:rPr>
                        <a:t>AWS</a:t>
                      </a:r>
                      <a:r>
                        <a:t>：基于拓扑并行评估多假设，用 Metric、Log、Trace、代码与部署记录寻找反证。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④ </a:t>
                      </a:r>
                      <a:r>
                        <a:rPr>
                          <a:solidFill>
                            <a:srgbClr val="102A43"/>
                          </a:solidFill>
                        </a:rPr>
                        <a:t>候选修复生成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6000"/>
                        </a:lnSpc>
                        <a:defRPr sz="1800"/>
                      </a:pPr>
                      <a:r>
                        <a:rPr sz="1000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仅对 Eligible Task 生成带 Reasoning 的可审阅 Diff；支持 Apply、Reject 与 Apply Locally。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4000"/>
                        </a:lnSpc>
                        <a:defRPr sz="80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　</a:t>
                      </a:r>
                      <a:r>
                        <a:rPr b="1" u="sng">
                          <a:solidFill>
                            <a:srgbClr val="467886"/>
                          </a:solidFill>
                          <a:uFill>
                            <a:solidFill>
                              <a:srgbClr val="467886"/>
                            </a:solidFill>
                          </a:uFill>
                          <a:hlinkClick r:id="rId3"/>
                        </a:rPr>
                        <a:t>GitLab</a:t>
                      </a:r>
                      <a:r>
                        <a:t>：在 MR Diff 内生成 Inline Suggestion；需跨出 Diff 时另建修复 MR。</a:t>
                      </a:r>
                    </a:p>
                    <a:p>
                      <a:pPr algn="l">
                        <a:lnSpc>
                          <a:spcPct val="94000"/>
                        </a:lnSpc>
                        <a:defRPr sz="80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　</a:t>
                      </a:r>
                      <a:r>
                        <a:rPr b="1" u="sng">
                          <a:solidFill>
                            <a:srgbClr val="467886"/>
                          </a:solidFill>
                          <a:uFill>
                            <a:solidFill>
                              <a:srgbClr val="467886"/>
                            </a:solidFill>
                          </a:uFill>
                          <a:hlinkClick r:id="rId10"/>
                        </a:rPr>
                        <a:t>Snyk</a:t>
                      </a:r>
                      <a:r>
                        <a:t>：以安全情报约束候选生成，将失败原因反馈给 Agent 重试并过滤不安全答案。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④ </a:t>
                      </a:r>
                      <a:r>
                        <a:rPr>
                          <a:solidFill>
                            <a:srgbClr val="102A43"/>
                          </a:solidFill>
                        </a:rPr>
                        <a:t>任务级验证 Oracle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6000"/>
                        </a:lnSpc>
                        <a:defRPr sz="1800"/>
                      </a:pPr>
                      <a:r>
                        <a:rPr sz="1000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应用候选变更并复跑原失败 Task，形成 Explicitly Verified；不替代全部 Required Checks。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4000"/>
                        </a:lnSpc>
                        <a:defRPr sz="80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　</a:t>
                      </a:r>
                      <a:r>
                        <a:rPr b="1" u="sng">
                          <a:solidFill>
                            <a:srgbClr val="467886"/>
                          </a:solidFill>
                          <a:uFill>
                            <a:solidFill>
                              <a:srgbClr val="467886"/>
                            </a:solidFill>
                          </a:uFill>
                          <a:hlinkClick r:id="rId11"/>
                        </a:rPr>
                        <a:t>CircleCI</a:t>
                      </a:r>
                      <a:r>
                        <a:t>：Sidecar / Microbuild 执行内环精简检查，外层 CI 在干净环境完成准入复验。</a:t>
                      </a:r>
                    </a:p>
                    <a:p>
                      <a:pPr algn="l">
                        <a:lnSpc>
                          <a:spcPct val="94000"/>
                        </a:lnSpc>
                        <a:defRPr sz="80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　</a:t>
                      </a:r>
                      <a:r>
                        <a:rPr b="1" u="sng">
                          <a:solidFill>
                            <a:srgbClr val="467886"/>
                          </a:solidFill>
                          <a:uFill>
                            <a:solidFill>
                              <a:srgbClr val="467886"/>
                            </a:solidFill>
                          </a:uFill>
                          <a:hlinkClick r:id="rId12"/>
                        </a:rPr>
                        <a:t>Spotify</a:t>
                      </a:r>
                      <a:r>
                        <a:t>：独立 Verifier 执行格式、构建、测试与 LLM Judge，未通过则不创建 PR。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⑤⑥ </a:t>
                      </a:r>
                      <a:r>
                        <a:rPr>
                          <a:solidFill>
                            <a:srgbClr val="102A43"/>
                          </a:solidFill>
                        </a:rPr>
                        <a:t>写回准入与回退控制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6000"/>
                        </a:lnSpc>
                        <a:defRPr sz="1800"/>
                      </a:pPr>
                      <a:r>
                        <a:rPr sz="1000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Auto-apply 需 Task Pattern × High Confidence × Explicitly Verified；仅写 PR Branch，Protected Branch 不生成 Fix，并保留 Reject / Revert。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4000"/>
                        </a:lnSpc>
                        <a:defRPr sz="80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　</a:t>
                      </a:r>
                      <a:r>
                        <a:rPr b="1" u="sng">
                          <a:solidFill>
                            <a:srgbClr val="467886"/>
                          </a:solidFill>
                          <a:uFill>
                            <a:solidFill>
                              <a:srgbClr val="467886"/>
                            </a:solidFill>
                          </a:uFill>
                          <a:hlinkClick r:id="rId13"/>
                        </a:rPr>
                        <a:t>GitHub</a:t>
                      </a:r>
                      <a:r>
                        <a:t>：Safe Outputs 经 Schema、Threat Detection 与 Policy 校验，由独立写 Job 写入。</a:t>
                      </a:r>
                    </a:p>
                    <a:p>
                      <a:pPr algn="l">
                        <a:lnSpc>
                          <a:spcPct val="94000"/>
                        </a:lnSpc>
                        <a:defRPr sz="80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　</a:t>
                      </a:r>
                      <a:r>
                        <a:rPr b="1" u="sng">
                          <a:solidFill>
                            <a:srgbClr val="467886"/>
                          </a:solidFill>
                          <a:uFill>
                            <a:solidFill>
                              <a:srgbClr val="467886"/>
                            </a:solidFill>
                          </a:uFill>
                          <a:hlinkClick r:id="rId5"/>
                        </a:rPr>
                        <a:t>Harness</a:t>
                      </a:r>
                      <a:r>
                        <a:t>：Scoped Token、OPA 与 Approval 决定准入，Max Turns、Retry / Rollback 限制循环。</a:t>
                      </a:r>
                    </a:p>
                    <a:p>
                      <a:pPr algn="l">
                        <a:lnSpc>
                          <a:spcPct val="94000"/>
                        </a:lnSpc>
                        <a:defRPr sz="80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　</a:t>
                      </a:r>
                      <a:r>
                        <a:rPr b="1" u="sng">
                          <a:solidFill>
                            <a:srgbClr val="467886"/>
                          </a:solidFill>
                          <a:uFill>
                            <a:solidFill>
                              <a:srgbClr val="467886"/>
                            </a:solidFill>
                          </a:uFill>
                          <a:hlinkClick r:id="rId14"/>
                        </a:rPr>
                        <a:t>Akuity</a:t>
                      </a:r>
                      <a:r>
                        <a:t>：Tool Policy 按 Tool、Argument、环境和 Runbook 决定自动执行或审批，并进入 Audit Trail。</a:t>
                      </a:r>
                    </a:p>
                  </a:txBody>
                  <a:tcPr marL="19050" marR="19050" marT="19050" marB="1905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9" name="industry-logo-1-1-gitlab" descr="industry-logo-1-1-gitlab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25642" y="3071813"/>
            <a:ext cx="90489" cy="9048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industry-logo-1-2-circleci" descr="industry-logo-1-2-circleci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25642" y="3193732"/>
            <a:ext cx="90489" cy="90489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industry-logo-1-3-harness" descr="industry-logo-1-3-harness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25642" y="3315653"/>
            <a:ext cx="90489" cy="90489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industry-logo-2-1-github" descr="industry-logo-2-1-github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25642" y="3559492"/>
            <a:ext cx="90489" cy="90489"/>
          </a:xfrm>
          <a:prstGeom prst="rect">
            <a:avLst/>
          </a:prstGeom>
          <a:ln w="12700">
            <a:miter lim="400000"/>
          </a:ln>
        </p:spPr>
      </p:pic>
      <p:pic>
        <p:nvPicPr>
          <p:cNvPr id="73" name="industry-logo-2-2-circleci" descr="industry-logo-2-2-circleci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25642" y="3681412"/>
            <a:ext cx="90489" cy="90489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industry-logo-3-1-harness" descr="industry-logo-3-1-harness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25642" y="3993832"/>
            <a:ext cx="90489" cy="90489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industry-logo-3-2-aws" descr="industry-logo-3-2-aws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25642" y="4123373"/>
            <a:ext cx="90489" cy="90489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industry-logo-4-1-gitlab" descr="industry-logo-4-1-gitlab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25642" y="4428173"/>
            <a:ext cx="90489" cy="90489"/>
          </a:xfrm>
          <a:prstGeom prst="rect">
            <a:avLst/>
          </a:prstGeom>
          <a:ln w="12700">
            <a:miter lim="400000"/>
          </a:ln>
        </p:spPr>
      </p:pic>
      <p:pic>
        <p:nvPicPr>
          <p:cNvPr id="77" name="industry-logo-4-2-snyk" descr="industry-logo-4-2-snyk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25642" y="4553903"/>
            <a:ext cx="90489" cy="90489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industry-logo-5-1-circleci" descr="industry-logo-5-1-circleci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25642" y="4797742"/>
            <a:ext cx="90489" cy="9048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industry-logo-5-2-spotify" descr="industry-logo-5-2-spotify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25642" y="4927282"/>
            <a:ext cx="90489" cy="9048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industry-logo-6-1-github" descr="industry-logo-6-1-github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25642" y="5190173"/>
            <a:ext cx="90489" cy="90489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industry-logo-6-2-harness" descr="industry-logo-6-2-harness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25642" y="5323523"/>
            <a:ext cx="90489" cy="90489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industry-logo-6-3-akuity" descr="industry-logo-6-3-akuity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25642" y="5456873"/>
            <a:ext cx="90489" cy="904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1386</Words>
  <Application>Microsoft Macintosh PowerPoint</Application>
  <PresentationFormat>宽屏</PresentationFormat>
  <Paragraphs>146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Microsoft YaHei</vt:lpstr>
      <vt:lpstr>Arial</vt:lpstr>
      <vt:lpstr>Calibri</vt:lpstr>
      <vt:lpstr>Helvetica</vt:lpstr>
      <vt:lpstr>Helvetica Neue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Zhu Jiayi</cp:lastModifiedBy>
  <cp:revision>3</cp:revision>
  <dcterms:modified xsi:type="dcterms:W3CDTF">2026-07-27T09:33:35Z</dcterms:modified>
</cp:coreProperties>
</file>