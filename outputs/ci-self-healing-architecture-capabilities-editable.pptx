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a8581796f4287" /><Relationship Type="http://schemas.openxmlformats.org/officeDocument/2006/relationships/extended-properties" Target="/docProps/app.xml" Id="R9f0f21a52a1745f5" /><Relationship Type="http://schemas.openxmlformats.org/officeDocument/2006/relationships/officeDocument" Target="/ppt/presentation.xml" Id="R5775bd16570b43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93e89d41db4373"/>
  </p:sldMasterIdLst>
  <p:notesMasterIdLst>
    <p:notesMasterId xmlns:r="http://schemas.openxmlformats.org/officeDocument/2006/relationships" r:id="R02278fdf95bb4034"/>
  </p:notesMasterIdLst>
  <p:sldIdLst>
    <p:sldId xmlns:r="http://schemas.openxmlformats.org/officeDocument/2006/relationships" id="256" r:id="Re2460f02e6a542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f155f4ae04552" /><Relationship Type="http://schemas.openxmlformats.org/officeDocument/2006/relationships/slideMaster" Target="/ppt/slideMasters/slideMaster1.xml" Id="R9893e89d41db4373" /><Relationship Type="http://schemas.openxmlformats.org/officeDocument/2006/relationships/notesMaster" Target="/ppt/notesMasters/notesMaster1.xml" Id="R02278fdf95bb4034" /><Relationship Type="http://schemas.openxmlformats.org/officeDocument/2006/relationships/presProps" Target="/ppt/presProps.xml" Id="Rb2f59d847e1a4361" /><Relationship Type="http://schemas.openxmlformats.org/officeDocument/2006/relationships/viewProps" Target="/ppt/viewProps.xml" Id="R78f3a349b4124fba" /><Relationship Type="http://schemas.openxmlformats.org/officeDocument/2006/relationships/tableStyles" Target="/ppt/tableStyles.xml" Id="R7dcaafaabe414a2a" /><Relationship Type="http://schemas.openxmlformats.org/officeDocument/2006/relationships/slide" Target="/ppt/slides/slide1.xml" Id="Re2460f02e6a542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1388d0921d42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80e9226084273" /><Relationship Type="http://schemas.openxmlformats.org/officeDocument/2006/relationships/notesMaster" Target="/ppt/notesMasters/notesMaster1.xml" Id="R6cd0f038e65640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[Sources]</a:t>
            </a:r>
          </a:p>
          <a:p xmlns:a="http://schemas.openxmlformats.org/drawingml/2006/main">
            <a:r>
              <a:t>- 50_deepdives/cicd-self-healing/README.md (presentation_ready: true; as_of: 2026-07-15)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- 50_deepdives/cicd-self-healing/90_report.md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- 50_deepdives/cicd-self-healing/50_findings.md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>This slide is an architecture synthesis of the verified CI/CD self-healing deep dive and the page contract approved in the current conversation. No external visual assets are used.</a:t>
            </a:r>
          </a:p>
          <a:p xmlns:a="http://schemas.openxmlformats.org/drawingml/2006/main">
            <a:pPr>
              <a:buNone/>
              <a:defRPr sz="2000"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beb5d07414336" /></Relationships>
</file>

<file path=ppt/slideLayouts/slideLayout1.xml><?xml version="1.0" encoding="utf-8"?>
<p:sldLayout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文本">
            <a:extLst xmlns:a="http://schemas.openxmlformats.org/drawingml/2006/main">
              <a:ext uri="{FF2B5EF4-FFF2-40B4-BE49-F238E27FC236}">
                <a16:creationId xmlns:a16="http://schemas.microsoft.com/office/drawing/2014/main" id="{D893C2FE-C5E8-43F8-B0A0-56B6E2077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标题文本</a:t>
            </a:r>
          </a:p>
        </p:txBody>
      </p:sp>
      <p:sp>
        <p:nvSpPr>
          <p:cNvPr id="12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07E89AC3-A680-49AB-94E2-1E25F4A471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正文级别 1</a:t>
            </a:r>
          </a:p>
          <a:p xmlns:a="http://schemas.openxmlformats.org/drawingml/2006/main">
            <a:pPr lvl="1">
              <a:buNone/>
            </a:pPr>
            <a:r>
              <a:t>正文级别 2</a:t>
            </a:r>
          </a:p>
          <a:p xmlns:a="http://schemas.openxmlformats.org/drawingml/2006/main">
            <a:pPr lvl="2">
              <a:buNone/>
            </a:pPr>
            <a:r>
              <a:t>正文级别 3</a:t>
            </a:r>
          </a:p>
          <a:p xmlns:a="http://schemas.openxmlformats.org/drawingml/2006/main">
            <a:pPr lvl="3">
              <a:buNone/>
            </a:pPr>
            <a:r>
              <a:t>正文级别 4</a:t>
            </a:r>
          </a:p>
          <a:p xmlns:a="http://schemas.openxmlformats.org/drawingml/2006/main">
            <a:pPr lvl="4">
              <a:buNone/>
            </a:pPr>
            <a:r>
              <a:t>正文级别 5</a:t>
            </a:r>
          </a:p>
        </p:txBody>
      </p:sp>
      <p:sp>
        <p:nvSpPr>
          <p:cNvPr id="1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26A99A2B-33F3-42F2-8BF8-18CB200BEE2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24a700e214334" /><Relationship Type="http://schemas.openxmlformats.org/officeDocument/2006/relationships/slideLayout" Target="/ppt/slideLayouts/slideLayout1.xml" Id="R66e85bf626d145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文本">
            <a:extLst xmlns:a="http://schemas.openxmlformats.org/drawingml/2006/main">
              <a:ext uri="{FF2B5EF4-FFF2-40B4-BE49-F238E27FC236}">
                <a16:creationId xmlns:a16="http://schemas.microsoft.com/office/drawing/2014/main" id="{310D1F12-1036-4F70-8FD8-26EDB4108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79" y="708120"/>
            <a:ext cx="10971361" cy="27468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>标题文本</a:t>
            </a:r>
          </a:p>
        </p:txBody>
      </p:sp>
      <p:sp>
        <p:nvSpPr>
          <p:cNvPr id="3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781737D8-7E67-4219-ABE1-2E6BCA840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79" y="3364200"/>
            <a:ext cx="10971361" cy="45612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>正文级别 1</a:t>
            </a:r>
          </a:p>
          <a:p xmlns:a="http://schemas.openxmlformats.org/drawingml/2006/main">
            <a:pPr lvl="1">
              <a:buNone/>
            </a:pPr>
            <a:r>
              <a:t>正文级别 2</a:t>
            </a:r>
          </a:p>
          <a:p xmlns:a="http://schemas.openxmlformats.org/drawingml/2006/main">
            <a:pPr lvl="2">
              <a:buNone/>
            </a:pPr>
            <a:r>
              <a:t>正文级别 3</a:t>
            </a:r>
          </a:p>
          <a:p xmlns:a="http://schemas.openxmlformats.org/drawingml/2006/main">
            <a:pPr lvl="3">
              <a:buNone/>
            </a:pPr>
            <a:r>
              <a:t>正文级别 4</a:t>
            </a:r>
          </a:p>
          <a:p xmlns:a="http://schemas.openxmlformats.org/drawingml/2006/main">
            <a:pPr lvl="4">
              <a:buNone/>
            </a:pPr>
            <a:r>
              <a:t>正文级别 5</a:t>
            </a:r>
          </a:p>
        </p:txBody>
      </p:sp>
      <p:sp>
        <p:nvSpPr>
          <p:cNvPr id="4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5A2DE78D-E0D6-4C76-950E-2F152303DC3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e85bf626d14547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440d4e354a14" /><Relationship Type="http://schemas.openxmlformats.org/officeDocument/2006/relationships/notesSlide" Target="/ppt/notesSlides/notesSlide1.xml" Id="Rad93f38a41394ea0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5" name="generated-left-failure-signal">
            <a:extLst>
              <a:ext uri="{FF2B5EF4-FFF2-40B4-BE49-F238E27FC236}">
                <a16:creationId id="{17C4A489-E868-4B10-833B-D4E904134B38}"/>
              </a:ext>
            </a:extLst>
          </p:cNvPr>
          <p:cNvSpPr>
            <a:spLocks/>
          </p:cNvSpPr>
          <p:nvPr/>
        </p:nvSpPr>
        <p:spPr>
          <a:xfrm>
            <a:off x="2038350" y="171450"/>
            <a:ext cx="29146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D7DEE8"/>
            </a:solidFill>
            <a:prstDash val="solid"/>
          </a:ln>
        </p:spPr>
      </p:sp>
      <p:sp>
        <p:nvSpPr>
          <p:cNvPr id="2" name="generated-left-failure-icon">
            <a:extLst>
              <a:ext uri="{FF2B5EF4-FFF2-40B4-BE49-F238E27FC236}">
                <a16:creationId id="{00A64CDA-C262-4984-B35A-617279E5E594}"/>
              </a:ext>
            </a:extLst>
          </p:cNvPr>
          <p:cNvSpPr>
            <a:spLocks/>
          </p:cNvSpPr>
          <p:nvPr/>
        </p:nvSpPr>
        <p:spPr>
          <a:xfrm>
            <a:off x="2200275" y="276225"/>
            <a:ext cx="247650" cy="247650"/>
          </a:xfrm>
          <a:prstGeom prst="ellipse">
            <a:avLst/>
          </a:prstGeom>
          <a:solidFill>
            <a:srgbClr val="FFF1F1"/>
          </a:solidFill>
          <a:ln w="0">
            <a:solidFill>
              <a:srgbClr val="FFF1F1"/>
            </a:solidFill>
            <a:prstDash val="solid"/>
          </a:ln>
        </p:spPr>
      </p:sp>
      <p:sp>
        <p:nvSpPr>
          <p:cNvPr id="3" name="generated-left-failure-mark">
            <a:extLst>
              <a:ext uri="{FF2B5EF4-FFF2-40B4-BE49-F238E27FC236}">
                <a16:creationId id="{638D52CE-B98A-44DF-8600-06212D0FC433}"/>
              </a:ext>
            </a:extLst>
          </p:cNvPr>
          <p:cNvSpPr>
            <a:spLocks/>
          </p:cNvSpPr>
          <p:nvPr/>
        </p:nvSpPr>
        <p:spPr>
          <a:xfrm>
            <a:off x="2200275" y="266700"/>
            <a:ext cx="247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!</a:t>
            </a:r>
          </a:p>
        </p:txBody>
      </p:sp>
      <p:sp>
        <p:nvSpPr>
          <p:cNvPr id="4" name="generated-left-failure-title">
            <a:extLst>
              <a:ext uri="{FF2B5EF4-FFF2-40B4-BE49-F238E27FC236}">
                <a16:creationId id="{E2CDE526-CD15-44EE-84FA-B7790CA63EA2}"/>
              </a:ext>
            </a:extLst>
          </p:cNvPr>
          <p:cNvSpPr>
            <a:spLocks/>
          </p:cNvSpPr>
          <p:nvPr/>
        </p:nvSpPr>
        <p:spPr>
          <a:xfrm>
            <a:off x="2552700" y="219075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39"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7324A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7324A"/>
                </a:solidFill>
                <a:latin typeface="Helvetica"/>
                <a:ea typeface="Helvetica"/>
                <a:cs typeface="Helvetica"/>
              </a:rPr>
              <a:t>CI Failure Signal</a:t>
            </a:r>
          </a:p>
        </p:txBody>
      </p:sp>
      <p:sp>
        <p:nvSpPr>
          <p:cNvPr id="5" name="generated-left-failure-body">
            <a:extLst>
              <a:ext uri="{FF2B5EF4-FFF2-40B4-BE49-F238E27FC236}">
                <a16:creationId id="{082E235A-C48C-483C-8F81-4AF21D768922}"/>
              </a:ext>
            </a:extLst>
          </p:cNvPr>
          <p:cNvSpPr>
            <a:spLocks/>
          </p:cNvSpPr>
          <p:nvPr/>
        </p:nvSpPr>
        <p:spPr>
          <a:xfrm>
            <a:off x="2552700" y="409575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960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失败事件、运行对象与原始证据入口</a:t>
            </a:r>
          </a:p>
        </p:txBody>
      </p:sp>
      <p:sp>
        <p:nvSpPr>
          <p:cNvPr id="6" name="generated-left-control-plane">
            <a:extLst>
              <a:ext uri="{FF2B5EF4-FFF2-40B4-BE49-F238E27FC236}">
                <a16:creationId id="{1ED232DB-2D97-49CB-935D-C0B908CDE3A9}"/>
              </a:ext>
            </a:extLst>
          </p:cNvPr>
          <p:cNvSpPr>
            <a:spLocks/>
          </p:cNvSpPr>
          <p:nvPr/>
        </p:nvSpPr>
        <p:spPr>
          <a:xfrm>
            <a:off x="400050" y="857250"/>
            <a:ext cx="6115050" cy="1790700"/>
          </a:xfrm>
          <a:prstGeom prst="roundRect">
            <a:avLst>
              <a:gd name="adj" fmla="val 7447"/>
            </a:avLst>
          </a:prstGeom>
          <a:solidFill>
            <a:srgbClr val="E8F6F2"/>
          </a:solidFill>
          <a:ln w="19050">
            <a:solidFill>
              <a:srgbClr val="008B73"/>
            </a:solidFill>
            <a:prstDash val="solid"/>
          </a:ln>
        </p:spPr>
      </p:sp>
      <p:sp>
        <p:nvSpPr>
          <p:cNvPr id="7" name="generated-left-control-plane-title">
            <a:extLst>
              <a:ext uri="{FF2B5EF4-FFF2-40B4-BE49-F238E27FC236}">
                <a16:creationId id="{5F3464AF-F001-4BB2-BD2B-E16881C94DE5}"/>
              </a:ext>
            </a:extLst>
          </p:cNvPr>
          <p:cNvSpPr>
            <a:spLocks/>
          </p:cNvSpPr>
          <p:nvPr/>
        </p:nvSpPr>
        <p:spPr>
          <a:xfrm>
            <a:off x="590550" y="9525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rPr>
              <a:t>有状态自愈控制面</a:t>
            </a:r>
          </a:p>
        </p:txBody>
      </p:sp>
      <p:sp>
        <p:nvSpPr>
          <p:cNvPr id="8" name="generated-left-control-plane-en">
            <a:extLst>
              <a:ext uri="{FF2B5EF4-FFF2-40B4-BE49-F238E27FC236}">
                <a16:creationId id="{DFE5F795-54F1-4454-9366-DFD20EF0741C}"/>
              </a:ext>
            </a:extLst>
          </p:cNvPr>
          <p:cNvSpPr>
            <a:spLocks/>
          </p:cNvSpPr>
          <p:nvPr/>
        </p:nvSpPr>
        <p:spPr>
          <a:xfrm>
            <a:off x="4524375" y="971550"/>
            <a:ext cx="1743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863" b="1">
                <a:solidFill>
                  <a:srgbClr val="008B73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008B73"/>
                </a:solidFill>
                <a:latin typeface="Helvetica"/>
                <a:ea typeface="Helvetica"/>
                <a:cs typeface="Helvetica"/>
              </a:rPr>
              <a:t>STATEFUL CONTROL PLANE</a:t>
            </a:r>
          </a:p>
        </p:txBody>
      </p:sp>
      <p:sp>
        <p:nvSpPr>
          <p:cNvPr id="9" name="generated-control-step-1">
            <a:extLst>
              <a:ext uri="{FF2B5EF4-FFF2-40B4-BE49-F238E27FC236}">
                <a16:creationId id="{D941F24F-90C1-4F3B-A9DE-ACAF4A0E1DDC}"/>
              </a:ext>
            </a:extLst>
          </p:cNvPr>
          <p:cNvSpPr>
            <a:spLocks/>
          </p:cNvSpPr>
          <p:nvPr/>
        </p:nvSpPr>
        <p:spPr>
          <a:xfrm>
            <a:off x="600075" y="1257300"/>
            <a:ext cx="5715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8E9E4"/>
            </a:solidFill>
            <a:prstDash val="solid"/>
          </a:ln>
        </p:spPr>
      </p:sp>
      <p:sp>
        <p:nvSpPr>
          <p:cNvPr id="10" name="generated-control-step-1-number-circle">
            <a:extLst>
              <a:ext uri="{FF2B5EF4-FFF2-40B4-BE49-F238E27FC236}">
                <a16:creationId id="{809B8BE9-0955-44A5-A1C9-442FD0ED9208}"/>
              </a:ext>
            </a:extLst>
          </p:cNvPr>
          <p:cNvSpPr>
            <a:spLocks/>
          </p:cNvSpPr>
          <p:nvPr/>
        </p:nvSpPr>
        <p:spPr>
          <a:xfrm>
            <a:off x="704850" y="1323975"/>
            <a:ext cx="219075" cy="2190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11" name="generated-control-step-1-number">
            <a:extLst>
              <a:ext uri="{FF2B5EF4-FFF2-40B4-BE49-F238E27FC236}">
                <a16:creationId id="{3E233685-604C-4D18-A046-8084F42ACF7C}"/>
              </a:ext>
            </a:extLst>
          </p:cNvPr>
          <p:cNvSpPr>
            <a:spLocks/>
          </p:cNvSpPr>
          <p:nvPr/>
        </p:nvSpPr>
        <p:spPr>
          <a:xfrm>
            <a:off x="704850" y="1319213"/>
            <a:ext cx="219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12" name="generated-control-step-1-title">
            <a:extLst>
              <a:ext uri="{FF2B5EF4-FFF2-40B4-BE49-F238E27FC236}">
                <a16:creationId id="{AFD9A78E-5D0A-4843-8072-79BC5107F675}"/>
              </a:ext>
            </a:extLst>
          </p:cNvPr>
          <p:cNvSpPr>
            <a:spLocks/>
          </p:cNvSpPr>
          <p:nvPr/>
        </p:nvSpPr>
        <p:spPr>
          <a:xfrm>
            <a:off x="1028700" y="1285875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733"/>
          </a:bodyPr>
          <a:lstStyle/>
          <a:p>
            <a:pPr algn="l">
              <a:lnSpc>
                <a:spcPct val="100000"/>
              </a:lnSpc>
              <a:buNone/>
              <a:defRPr sz="1163" b="1">
                <a:solidFill>
                  <a:srgbClr val="17324A"/>
                </a:solidFill>
                <a:latin typeface="Helvetica"/>
                <a:ea typeface="Helvetica"/>
                <a:cs typeface="Helvetica"/>
              </a:defRPr>
            </a:pPr>
            <a:r>
              <a:rPr sz="1163" b="1">
                <a:solidFill>
                  <a:srgbClr val="17324A"/>
                </a:solidFill>
                <a:latin typeface="Helvetica"/>
                <a:ea typeface="Helvetica"/>
                <a:cs typeface="Helvetica"/>
              </a:rPr>
              <a:t>Failure Episode</a:t>
            </a:r>
          </a:p>
        </p:txBody>
      </p:sp>
      <p:sp>
        <p:nvSpPr>
          <p:cNvPr id="13" name="generated-control-step-1-body">
            <a:extLst>
              <a:ext uri="{FF2B5EF4-FFF2-40B4-BE49-F238E27FC236}">
                <a16:creationId id="{74722333-73DA-4E97-9A28-7D496FF6C582}"/>
              </a:ext>
            </a:extLst>
          </p:cNvPr>
          <p:cNvSpPr>
            <a:spLocks/>
          </p:cNvSpPr>
          <p:nvPr/>
        </p:nvSpPr>
        <p:spPr>
          <a:xfrm>
            <a:off x="2562225" y="1285875"/>
            <a:ext cx="3562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Commit 绑定 · 故障指纹 · 证据快照与上下文血缘</a:t>
            </a:r>
          </a:p>
        </p:txBody>
      </p:sp>
      <p:sp>
        <p:nvSpPr>
          <p:cNvPr id="14" name="generated-control-step-2">
            <a:extLst>
              <a:ext uri="{FF2B5EF4-FFF2-40B4-BE49-F238E27FC236}">
                <a16:creationId id="{6D3F8815-B7E2-4D4F-8EAE-197C4FE46B6E}"/>
              </a:ext>
            </a:extLst>
          </p:cNvPr>
          <p:cNvSpPr>
            <a:spLocks/>
          </p:cNvSpPr>
          <p:nvPr/>
        </p:nvSpPr>
        <p:spPr>
          <a:xfrm>
            <a:off x="600075" y="1695450"/>
            <a:ext cx="5715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8E9E4"/>
            </a:solidFill>
            <a:prstDash val="solid"/>
          </a:ln>
        </p:spPr>
      </p:sp>
      <p:sp>
        <p:nvSpPr>
          <p:cNvPr id="15" name="generated-control-step-2-number-circle">
            <a:extLst>
              <a:ext uri="{FF2B5EF4-FFF2-40B4-BE49-F238E27FC236}">
                <a16:creationId id="{75BC301A-5C4C-4E25-96B3-EDAEBE9F2BA9}"/>
              </a:ext>
            </a:extLst>
          </p:cNvPr>
          <p:cNvSpPr>
            <a:spLocks/>
          </p:cNvSpPr>
          <p:nvPr/>
        </p:nvSpPr>
        <p:spPr>
          <a:xfrm>
            <a:off x="704850" y="1762125"/>
            <a:ext cx="219075" cy="2190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16" name="generated-control-step-2-number">
            <a:extLst>
              <a:ext uri="{FF2B5EF4-FFF2-40B4-BE49-F238E27FC236}">
                <a16:creationId id="{F0F11F15-24C1-4CCE-ACEB-A2D54452F821}"/>
              </a:ext>
            </a:extLst>
          </p:cNvPr>
          <p:cNvSpPr>
            <a:spLocks/>
          </p:cNvSpPr>
          <p:nvPr/>
        </p:nvSpPr>
        <p:spPr>
          <a:xfrm>
            <a:off x="704850" y="1757363"/>
            <a:ext cx="219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7" name="generated-control-step-2-title">
            <a:extLst>
              <a:ext uri="{FF2B5EF4-FFF2-40B4-BE49-F238E27FC236}">
                <a16:creationId id="{1F4CFBE6-D031-45D4-985D-24BDDCD36CCD}"/>
              </a:ext>
            </a:extLst>
          </p:cNvPr>
          <p:cNvSpPr>
            <a:spLocks/>
          </p:cNvSpPr>
          <p:nvPr/>
        </p:nvSpPr>
        <p:spPr>
          <a:xfrm>
            <a:off x="1028700" y="17240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6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自愈资格预检</a:t>
            </a:r>
          </a:p>
        </p:txBody>
      </p:sp>
      <p:sp>
        <p:nvSpPr>
          <p:cNvPr id="18" name="generated-control-step-2-body">
            <a:extLst>
              <a:ext uri="{FF2B5EF4-FFF2-40B4-BE49-F238E27FC236}">
                <a16:creationId id="{E62833EE-D397-471B-835D-61025565B7C1}"/>
              </a:ext>
            </a:extLst>
          </p:cNvPr>
          <p:cNvSpPr>
            <a:spLocks/>
          </p:cNvSpPr>
          <p:nvPr/>
        </p:nvSpPr>
        <p:spPr>
          <a:xfrm>
            <a:off x="2438400" y="1724025"/>
            <a:ext cx="36861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新鲜度 · 去重/租约 · 范围 · 权限 · 预算 · Oracle</a:t>
            </a:r>
          </a:p>
        </p:txBody>
      </p:sp>
      <p:sp>
        <p:nvSpPr>
          <p:cNvPr id="19" name="generated-control-step-2-stop">
            <a:extLst>
              <a:ext uri="{FF2B5EF4-FFF2-40B4-BE49-F238E27FC236}">
                <a16:creationId id="{31F1A126-91C2-4D64-8B96-896505291A1C}"/>
              </a:ext>
            </a:extLst>
          </p:cNvPr>
          <p:cNvSpPr>
            <a:spLocks/>
          </p:cNvSpPr>
          <p:nvPr/>
        </p:nvSpPr>
        <p:spPr>
          <a:xfrm>
            <a:off x="5048250" y="1924050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400"/>
          </a:bodyPr>
          <a:lstStyle/>
          <a:p>
            <a:pPr algn="r">
              <a:lnSpc>
                <a:spcPct val="100000"/>
              </a:lnSpc>
              <a:buNone/>
              <a:defRPr sz="80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3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不满足 → 留证停止</a:t>
            </a:r>
          </a:p>
        </p:txBody>
      </p:sp>
      <p:sp>
        <p:nvSpPr>
          <p:cNvPr id="20" name="generated-control-step-3">
            <a:extLst>
              <a:ext uri="{FF2B5EF4-FFF2-40B4-BE49-F238E27FC236}">
                <a16:creationId id="{0F51126F-DBF7-40BE-BB93-454D9F4D99CD}"/>
              </a:ext>
            </a:extLst>
          </p:cNvPr>
          <p:cNvSpPr>
            <a:spLocks/>
          </p:cNvSpPr>
          <p:nvPr/>
        </p:nvSpPr>
        <p:spPr>
          <a:xfrm>
            <a:off x="600075" y="2133600"/>
            <a:ext cx="5715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8E9E4"/>
            </a:solidFill>
            <a:prstDash val="solid"/>
          </a:ln>
        </p:spPr>
      </p:sp>
      <p:sp>
        <p:nvSpPr>
          <p:cNvPr id="21" name="generated-control-step-3-number-circle">
            <a:extLst>
              <a:ext uri="{FF2B5EF4-FFF2-40B4-BE49-F238E27FC236}">
                <a16:creationId id="{02CAE2F7-60E1-4B87-9CDF-9FF2DC9837E2}"/>
              </a:ext>
            </a:extLst>
          </p:cNvPr>
          <p:cNvSpPr>
            <a:spLocks/>
          </p:cNvSpPr>
          <p:nvPr/>
        </p:nvSpPr>
        <p:spPr>
          <a:xfrm>
            <a:off x="704850" y="2200275"/>
            <a:ext cx="219075" cy="2190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22" name="generated-control-step-3-number">
            <a:extLst>
              <a:ext uri="{FF2B5EF4-FFF2-40B4-BE49-F238E27FC236}">
                <a16:creationId id="{5229BA11-FC35-4C5C-B2DC-F0DE18E6C164}"/>
              </a:ext>
            </a:extLst>
          </p:cNvPr>
          <p:cNvSpPr>
            <a:spLocks/>
          </p:cNvSpPr>
          <p:nvPr/>
        </p:nvSpPr>
        <p:spPr>
          <a:xfrm>
            <a:off x="704850" y="2195513"/>
            <a:ext cx="219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23" name="generated-control-step-3-title">
            <a:extLst>
              <a:ext uri="{FF2B5EF4-FFF2-40B4-BE49-F238E27FC236}">
                <a16:creationId id="{AE6226AC-0F29-4C41-BC13-9645C027C1C3}"/>
              </a:ext>
            </a:extLst>
          </p:cNvPr>
          <p:cNvSpPr>
            <a:spLocks/>
          </p:cNvSpPr>
          <p:nvPr/>
        </p:nvSpPr>
        <p:spPr>
          <a:xfrm>
            <a:off x="1028700" y="216217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6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分诊与路径决策</a:t>
            </a:r>
          </a:p>
        </p:txBody>
      </p:sp>
      <p:sp>
        <p:nvSpPr>
          <p:cNvPr id="24" name="generated-control-step-3-body">
            <a:extLst>
              <a:ext uri="{FF2B5EF4-FFF2-40B4-BE49-F238E27FC236}">
                <a16:creationId id="{3E2F3017-C63F-4615-8119-93B164F8EAE6}"/>
              </a:ext>
            </a:extLst>
          </p:cNvPr>
          <p:cNvSpPr>
            <a:spLocks/>
          </p:cNvSpPr>
          <p:nvPr/>
        </p:nvSpPr>
        <p:spPr>
          <a:xfrm>
            <a:off x="2571750" y="2162175"/>
            <a:ext cx="3552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100000"/>
              </a:lnSpc>
              <a:buNone/>
              <a:def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确定性规则优先 · 语义分类补充 · Route Policy</a:t>
            </a:r>
          </a:p>
        </p:txBody>
      </p:sp>
      <p:sp>
        <p:nvSpPr>
          <p:cNvPr id="25" name="generated-route-fast">
            <a:extLst>
              <a:ext uri="{FF2B5EF4-FFF2-40B4-BE49-F238E27FC236}">
                <a16:creationId id="{F19713E4-2A23-4D3C-AD1B-694B216CEAB1}"/>
              </a:ext>
            </a:extLst>
          </p:cNvPr>
          <p:cNvSpPr>
            <a:spLocks/>
          </p:cNvSpPr>
          <p:nvPr/>
        </p:nvSpPr>
        <p:spPr>
          <a:xfrm>
            <a:off x="342900" y="3009900"/>
            <a:ext cx="1924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6193">
            <a:solidFill>
              <a:srgbClr val="1A9A96"/>
            </a:solidFill>
            <a:prstDash val="solid"/>
          </a:ln>
        </p:spPr>
      </p:sp>
      <p:sp>
        <p:nvSpPr>
          <p:cNvPr id="26" name="generated-route-fast-tag">
            <a:extLst>
              <a:ext uri="{FF2B5EF4-FFF2-40B4-BE49-F238E27FC236}">
                <a16:creationId id="{3F7F80AF-5A26-4F2F-A6BE-B4C8BECE2F34}"/>
              </a:ext>
            </a:extLst>
          </p:cNvPr>
          <p:cNvSpPr>
            <a:spLocks/>
          </p:cNvSpPr>
          <p:nvPr/>
        </p:nvSpPr>
        <p:spPr>
          <a:xfrm>
            <a:off x="476250" y="31051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840" b="1">
                <a:solidFill>
                  <a:srgbClr val="1A9A96"/>
                </a:solidFill>
                <a:latin typeface="Helvetica"/>
                <a:ea typeface="Helvetica"/>
                <a:cs typeface="Helvetica"/>
              </a:defRPr>
            </a:pPr>
            <a:r>
              <a:rPr sz="840" b="1">
                <a:solidFill>
                  <a:srgbClr val="1A9A96"/>
                </a:solidFill>
                <a:latin typeface="Helvetica"/>
                <a:ea typeface="Helvetica"/>
                <a:cs typeface="Helvetica"/>
              </a:rPr>
              <a:t>FAST LOOP</a:t>
            </a:r>
          </a:p>
        </p:txBody>
      </p:sp>
      <p:sp>
        <p:nvSpPr>
          <p:cNvPr id="27" name="generated-route-fast-title">
            <a:extLst>
              <a:ext uri="{FF2B5EF4-FFF2-40B4-BE49-F238E27FC236}">
                <a16:creationId id="{8D67C4CC-BB21-486D-B122-A9F974B444CC}"/>
              </a:ext>
            </a:extLst>
          </p:cNvPr>
          <p:cNvSpPr>
            <a:spLocks/>
          </p:cNvSpPr>
          <p:nvPr/>
        </p:nvSpPr>
        <p:spPr>
          <a:xfrm>
            <a:off x="476250" y="3305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31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受限恢复</a:t>
            </a:r>
          </a:p>
        </p:txBody>
      </p:sp>
      <p:sp>
        <p:nvSpPr>
          <p:cNvPr id="28" name="generated-route-fast-body">
            <a:extLst>
              <a:ext uri="{FF2B5EF4-FFF2-40B4-BE49-F238E27FC236}">
                <a16:creationId id="{A4B60262-A2CA-402A-B320-193A3695FC30}"/>
              </a:ext>
            </a:extLst>
          </p:cNvPr>
          <p:cNvSpPr>
            <a:spLocks/>
          </p:cNvSpPr>
          <p:nvPr/>
        </p:nvSpPr>
        <p:spPr>
          <a:xfrm>
            <a:off x="476250" y="3533775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254"/>
          </a:bodyPr>
          <a:lstStyle/>
          <a:p>
            <a:pPr algn="l">
              <a:lnSpc>
                <a:spcPct val="100000"/>
              </a:lnSpc>
              <a:buNone/>
              <a:def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重试 · 更换 Runner · 本次运行缓存</a:t>
            </a:r>
          </a:p>
        </p:txBody>
      </p:sp>
      <p:sp>
        <p:nvSpPr>
          <p:cNvPr id="29" name="generated-route-fast-attempt">
            <a:extLst>
              <a:ext uri="{FF2B5EF4-FFF2-40B4-BE49-F238E27FC236}">
                <a16:creationId id="{AC719BF7-D723-452F-A6B6-045040EF246B}"/>
              </a:ext>
            </a:extLst>
          </p:cNvPr>
          <p:cNvSpPr>
            <a:spLocks/>
          </p:cNvSpPr>
          <p:nvPr/>
        </p:nvSpPr>
        <p:spPr>
          <a:xfrm>
            <a:off x="1381125" y="3695700"/>
            <a:ext cx="7143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400"/>
          </a:bodyPr>
          <a:lstStyle/>
          <a:p>
            <a:pPr algn="r">
              <a:lnSpc>
                <a:spcPct val="100000"/>
              </a:lnSpc>
              <a:buNone/>
              <a:defRPr sz="803" b="0">
                <a:solidFill>
                  <a:srgbClr val="1A9A96"/>
                </a:solidFill>
                <a:latin typeface="Helvetica"/>
                <a:ea typeface="Helvetica"/>
                <a:cs typeface="Helvetica"/>
              </a:defRPr>
            </a:pPr>
            <a:r>
              <a:rPr sz="803" b="0">
                <a:solidFill>
                  <a:srgbClr val="1A9A96"/>
                </a:solidFill>
                <a:latin typeface="Helvetica"/>
                <a:ea typeface="Helvetica"/>
                <a:cs typeface="Helvetica"/>
              </a:rPr>
              <a:t>attempt i / R</a:t>
            </a:r>
          </a:p>
        </p:txBody>
      </p:sp>
      <p:sp>
        <p:nvSpPr>
          <p:cNvPr id="30" name="generated-route-slow">
            <a:extLst>
              <a:ext uri="{FF2B5EF4-FFF2-40B4-BE49-F238E27FC236}">
                <a16:creationId id="{71780D63-4A81-4523-81F2-EB9928643C81}"/>
              </a:ext>
            </a:extLst>
          </p:cNvPr>
          <p:cNvSpPr>
            <a:spLocks/>
          </p:cNvSpPr>
          <p:nvPr/>
        </p:nvSpPr>
        <p:spPr>
          <a:xfrm>
            <a:off x="2466975" y="3009900"/>
            <a:ext cx="1924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6193">
            <a:solidFill>
              <a:srgbClr val="4F76C7"/>
            </a:solidFill>
            <a:prstDash val="solid"/>
          </a:ln>
        </p:spPr>
      </p:sp>
      <p:sp>
        <p:nvSpPr>
          <p:cNvPr id="31" name="generated-route-slow-tag">
            <a:extLst>
              <a:ext uri="{FF2B5EF4-FFF2-40B4-BE49-F238E27FC236}">
                <a16:creationId id="{3084C1AA-5335-43C8-8F97-FE5BECB80361}"/>
              </a:ext>
            </a:extLst>
          </p:cNvPr>
          <p:cNvSpPr>
            <a:spLocks/>
          </p:cNvSpPr>
          <p:nvPr/>
        </p:nvSpPr>
        <p:spPr>
          <a:xfrm>
            <a:off x="2600325" y="31051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840" b="1">
                <a:solidFill>
                  <a:srgbClr val="4F76C7"/>
                </a:solidFill>
                <a:latin typeface="Helvetica"/>
                <a:ea typeface="Helvetica"/>
                <a:cs typeface="Helvetica"/>
              </a:defRPr>
            </a:pPr>
            <a:r>
              <a:rPr sz="840" b="1">
                <a:solidFill>
                  <a:srgbClr val="4F76C7"/>
                </a:solidFill>
                <a:latin typeface="Helvetica"/>
                <a:ea typeface="Helvetica"/>
                <a:cs typeface="Helvetica"/>
              </a:rPr>
              <a:t>SLOW LOOP</a:t>
            </a:r>
          </a:p>
        </p:txBody>
      </p:sp>
      <p:sp>
        <p:nvSpPr>
          <p:cNvPr id="32" name="generated-route-slow-title">
            <a:extLst>
              <a:ext uri="{FF2B5EF4-FFF2-40B4-BE49-F238E27FC236}">
                <a16:creationId id="{D04745B0-B9B1-4A45-8D27-1BB3051B2BB1}"/>
              </a:ext>
            </a:extLst>
          </p:cNvPr>
          <p:cNvSpPr>
            <a:spLocks/>
          </p:cNvSpPr>
          <p:nvPr/>
        </p:nvSpPr>
        <p:spPr>
          <a:xfrm>
            <a:off x="2600325" y="3305175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31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证据驱动修复</a:t>
            </a:r>
          </a:p>
        </p:txBody>
      </p:sp>
      <p:sp>
        <p:nvSpPr>
          <p:cNvPr id="33" name="generated-route-slow-body">
            <a:extLst>
              <a:ext uri="{FF2B5EF4-FFF2-40B4-BE49-F238E27FC236}">
                <a16:creationId id="{0842EDE5-7045-4786-A0FF-6AC71B3F62B2}"/>
              </a:ext>
            </a:extLst>
          </p:cNvPr>
          <p:cNvSpPr>
            <a:spLocks/>
          </p:cNvSpPr>
          <p:nvPr/>
        </p:nvSpPr>
        <p:spPr>
          <a:xfrm>
            <a:off x="2600325" y="3533775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958"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复现 → 根因假设 → 有界实验 → 候选修复</a:t>
            </a:r>
          </a:p>
        </p:txBody>
      </p:sp>
      <p:sp>
        <p:nvSpPr>
          <p:cNvPr id="34" name="generated-route-slow-attempt">
            <a:extLst>
              <a:ext uri="{FF2B5EF4-FFF2-40B4-BE49-F238E27FC236}">
                <a16:creationId id="{79E36A1A-DF50-4DCE-9253-ABDF9F1BC82C}"/>
              </a:ext>
            </a:extLst>
          </p:cNvPr>
          <p:cNvSpPr>
            <a:spLocks/>
          </p:cNvSpPr>
          <p:nvPr/>
        </p:nvSpPr>
        <p:spPr>
          <a:xfrm>
            <a:off x="3505200" y="3695700"/>
            <a:ext cx="71437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400"/>
          </a:bodyPr>
          <a:lstStyle/>
          <a:p>
            <a:pPr algn="r">
              <a:lnSpc>
                <a:spcPct val="100000"/>
              </a:lnSpc>
              <a:buNone/>
              <a:defRPr sz="803" b="0">
                <a:solidFill>
                  <a:srgbClr val="4F76C7"/>
                </a:solidFill>
                <a:latin typeface="Helvetica"/>
                <a:ea typeface="Helvetica"/>
                <a:cs typeface="Helvetica"/>
              </a:defRPr>
            </a:pPr>
            <a:r>
              <a:rPr sz="803" b="0">
                <a:solidFill>
                  <a:srgbClr val="4F76C7"/>
                </a:solidFill>
                <a:latin typeface="Helvetica"/>
                <a:ea typeface="Helvetica"/>
                <a:cs typeface="Helvetica"/>
              </a:rPr>
              <a:t>attempt i / N</a:t>
            </a:r>
          </a:p>
        </p:txBody>
      </p:sp>
      <p:sp>
        <p:nvSpPr>
          <p:cNvPr id="35" name="generated-route-human">
            <a:extLst>
              <a:ext uri="{FF2B5EF4-FFF2-40B4-BE49-F238E27FC236}">
                <a16:creationId id="{CD199A28-CDE4-45D3-8FB9-2524CED9C618}"/>
              </a:ext>
            </a:extLst>
          </p:cNvPr>
          <p:cNvSpPr>
            <a:spLocks/>
          </p:cNvSpPr>
          <p:nvPr/>
        </p:nvSpPr>
        <p:spPr>
          <a:xfrm>
            <a:off x="4591050" y="3009900"/>
            <a:ext cx="192405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6193">
            <a:solidFill>
              <a:srgbClr val="CC8237"/>
            </a:solidFill>
            <a:prstDash val="solid"/>
          </a:ln>
        </p:spPr>
      </p:sp>
      <p:sp>
        <p:nvSpPr>
          <p:cNvPr id="36" name="generated-route-human-tag">
            <a:extLst>
              <a:ext uri="{FF2B5EF4-FFF2-40B4-BE49-F238E27FC236}">
                <a16:creationId id="{DAD98E3F-F505-461D-8FC9-5BD9491005B6}"/>
              </a:ext>
            </a:extLst>
          </p:cNvPr>
          <p:cNvSpPr>
            <a:spLocks/>
          </p:cNvSpPr>
          <p:nvPr/>
        </p:nvSpPr>
        <p:spPr>
          <a:xfrm>
            <a:off x="4724400" y="3105150"/>
            <a:ext cx="857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840" b="1">
                <a:solidFill>
                  <a:srgbClr val="CC8237"/>
                </a:solidFill>
                <a:latin typeface="Helvetica"/>
                <a:ea typeface="Helvetica"/>
                <a:cs typeface="Helvetica"/>
              </a:defRPr>
            </a:pPr>
            <a:r>
              <a:rPr sz="840" b="1">
                <a:solidFill>
                  <a:srgbClr val="CC8237"/>
                </a:solidFill>
                <a:latin typeface="Helvetica"/>
                <a:ea typeface="Helvetica"/>
                <a:cs typeface="Helvetica"/>
              </a:rPr>
              <a:t>SAFE EXIT</a:t>
            </a:r>
          </a:p>
        </p:txBody>
      </p:sp>
      <p:sp>
        <p:nvSpPr>
          <p:cNvPr id="37" name="generated-route-human-title">
            <a:extLst>
              <a:ext uri="{FF2B5EF4-FFF2-40B4-BE49-F238E27FC236}">
                <a16:creationId id="{8C8D5730-CCF7-461E-B580-E4A97A1FC0C8}"/>
              </a:ext>
            </a:extLst>
          </p:cNvPr>
          <p:cNvSpPr>
            <a:spLocks/>
          </p:cNvSpPr>
          <p:nvPr/>
        </p:nvSpPr>
        <p:spPr>
          <a:xfrm>
            <a:off x="4724400" y="3305175"/>
            <a:ext cx="1638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31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证据补全 / 人工</a:t>
            </a:r>
          </a:p>
        </p:txBody>
      </p:sp>
      <p:sp>
        <p:nvSpPr>
          <p:cNvPr id="38" name="generated-route-human-body">
            <a:extLst>
              <a:ext uri="{FF2B5EF4-FFF2-40B4-BE49-F238E27FC236}">
                <a16:creationId id="{74861C17-7DDE-40AF-9058-705882EE6995}"/>
              </a:ext>
            </a:extLst>
          </p:cNvPr>
          <p:cNvSpPr>
            <a:spLocks/>
          </p:cNvSpPr>
          <p:nvPr/>
        </p:nvSpPr>
        <p:spPr>
          <a:xfrm>
            <a:off x="4724400" y="354330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682"/>
          </a:bodyPr>
          <a:lstStyle/>
          <a:p>
            <a:pPr algn="l">
              <a:lnSpc>
                <a:spcPct val="100000"/>
              </a:lnSpc>
              <a:buNone/>
              <a:def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未知问题 · 证据冲突 · 高风险动作</a:t>
            </a:r>
          </a:p>
        </p:txBody>
      </p:sp>
      <p:sp>
        <p:nvSpPr>
          <p:cNvPr id="39" name="generated-action-eligibility">
            <a:extLst>
              <a:ext uri="{FF2B5EF4-FFF2-40B4-BE49-F238E27FC236}">
                <a16:creationId id="{17F932BA-F64C-4E2A-9DD9-5091E5F577FF}"/>
              </a:ext>
            </a:extLst>
          </p:cNvPr>
          <p:cNvSpPr>
            <a:spLocks/>
          </p:cNvSpPr>
          <p:nvPr/>
        </p:nvSpPr>
        <p:spPr>
          <a:xfrm>
            <a:off x="1581150" y="4133850"/>
            <a:ext cx="37528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6193">
            <a:solidFill>
              <a:srgbClr val="008B73"/>
            </a:solidFill>
            <a:prstDash val="solid"/>
          </a:ln>
        </p:spPr>
      </p:sp>
      <p:sp>
        <p:nvSpPr>
          <p:cNvPr id="40" name="generated-action-eligibility-number-circle">
            <a:extLst>
              <a:ext uri="{FF2B5EF4-FFF2-40B4-BE49-F238E27FC236}">
                <a16:creationId id="{D7916B9A-899D-4970-BCA9-DF265A5EA21C}"/>
              </a:ext>
            </a:extLst>
          </p:cNvPr>
          <p:cNvSpPr>
            <a:spLocks/>
          </p:cNvSpPr>
          <p:nvPr/>
        </p:nvSpPr>
        <p:spPr>
          <a:xfrm>
            <a:off x="1724025" y="4286250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41" name="generated-action-eligibility-number">
            <a:extLst>
              <a:ext uri="{FF2B5EF4-FFF2-40B4-BE49-F238E27FC236}">
                <a16:creationId id="{88E80E83-08A7-4C2A-B4EF-CC9A560816C3}"/>
              </a:ext>
            </a:extLst>
          </p:cNvPr>
          <p:cNvSpPr>
            <a:spLocks/>
          </p:cNvSpPr>
          <p:nvPr/>
        </p:nvSpPr>
        <p:spPr>
          <a:xfrm>
            <a:off x="1724025" y="4281488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42" name="generated-action-eligibility-title">
            <a:extLst>
              <a:ext uri="{FF2B5EF4-FFF2-40B4-BE49-F238E27FC236}">
                <a16:creationId id="{C5CE210A-F503-4082-8601-A56C514F802B}"/>
              </a:ext>
            </a:extLst>
          </p:cNvPr>
          <p:cNvSpPr>
            <a:spLocks/>
          </p:cNvSpPr>
          <p:nvPr/>
        </p:nvSpPr>
        <p:spPr>
          <a:xfrm>
            <a:off x="2095500" y="42100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33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动作资格与隔离执行</a:t>
            </a:r>
          </a:p>
        </p:txBody>
      </p:sp>
      <p:sp>
        <p:nvSpPr>
          <p:cNvPr id="43" name="generated-action-eligibility-body">
            <a:extLst>
              <a:ext uri="{FF2B5EF4-FFF2-40B4-BE49-F238E27FC236}">
                <a16:creationId id="{086E0197-C133-4B9E-A66E-E01C5F58278F}"/>
              </a:ext>
            </a:extLst>
          </p:cNvPr>
          <p:cNvSpPr>
            <a:spLocks/>
          </p:cNvSpPr>
          <p:nvPr/>
        </p:nvSpPr>
        <p:spPr>
          <a:xfrm>
            <a:off x="2095500" y="44577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1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动作白名单 · 修改范围 · 临时身份 · 回滚条件</a:t>
            </a:r>
          </a:p>
        </p:txBody>
      </p:sp>
      <p:sp>
        <p:nvSpPr>
          <p:cNvPr id="44" name="generated-independent-oracle">
            <a:extLst>
              <a:ext uri="{FF2B5EF4-FFF2-40B4-BE49-F238E27FC236}">
                <a16:creationId id="{95323BFC-CA2D-4C6C-AE88-8EEA212908B5}"/>
              </a:ext>
            </a:extLst>
          </p:cNvPr>
          <p:cNvSpPr>
            <a:spLocks/>
          </p:cNvSpPr>
          <p:nvPr/>
        </p:nvSpPr>
        <p:spPr>
          <a:xfrm>
            <a:off x="1009650" y="5010150"/>
            <a:ext cx="4857750" cy="685800"/>
          </a:xfrm>
          <a:prstGeom prst="roundRect">
            <a:avLst>
              <a:gd name="adj" fmla="val 19444"/>
            </a:avLst>
          </a:prstGeom>
          <a:solidFill>
            <a:srgbClr val="E8F6F2"/>
          </a:solidFill>
          <a:ln w="22860">
            <a:solidFill>
              <a:srgbClr val="008B73"/>
            </a:solidFill>
            <a:prstDash val="solid"/>
          </a:ln>
        </p:spPr>
      </p:sp>
      <p:sp>
        <p:nvSpPr>
          <p:cNvPr id="45" name="generated-independent-oracle-icon">
            <a:extLst>
              <a:ext uri="{FF2B5EF4-FFF2-40B4-BE49-F238E27FC236}">
                <a16:creationId id="{214D9BF2-3FC9-4F79-8B89-DF246AF00D14}"/>
              </a:ext>
            </a:extLst>
          </p:cNvPr>
          <p:cNvSpPr>
            <a:spLocks/>
          </p:cNvSpPr>
          <p:nvPr/>
        </p:nvSpPr>
        <p:spPr>
          <a:xfrm>
            <a:off x="1181100" y="5181600"/>
            <a:ext cx="323850" cy="323850"/>
          </a:xfrm>
          <a:prstGeom prst="ellipse">
            <a:avLst/>
          </a:prstGeom>
          <a:solidFill>
            <a:srgbClr val="008B73"/>
          </a:solidFill>
          <a:ln w="0">
            <a:solidFill>
              <a:srgbClr val="008B73"/>
            </a:solidFill>
            <a:prstDash val="solid"/>
          </a:ln>
        </p:spPr>
      </p:sp>
      <p:sp>
        <p:nvSpPr>
          <p:cNvPr id="46" name="generated-independent-oracle-check">
            <a:extLst>
              <a:ext uri="{FF2B5EF4-FFF2-40B4-BE49-F238E27FC236}">
                <a16:creationId id="{12729333-2967-40A0-BBF4-2B8AE97435A7}"/>
              </a:ext>
            </a:extLst>
          </p:cNvPr>
          <p:cNvSpPr>
            <a:spLocks/>
          </p:cNvSpPr>
          <p:nvPr/>
        </p:nvSpPr>
        <p:spPr>
          <a:xfrm>
            <a:off x="1181100" y="5162550"/>
            <a:ext cx="323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7" name="generated-independent-oracle-title">
            <a:extLst>
              <a:ext uri="{FF2B5EF4-FFF2-40B4-BE49-F238E27FC236}">
                <a16:creationId id="{EABC1304-DD29-4EA8-BD96-768780FF7BE8}"/>
              </a:ext>
            </a:extLst>
          </p:cNvPr>
          <p:cNvSpPr>
            <a:spLocks/>
          </p:cNvSpPr>
          <p:nvPr/>
        </p:nvSpPr>
        <p:spPr>
          <a:xfrm>
            <a:off x="1657350" y="5105400"/>
            <a:ext cx="1476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rPr>
              <a:t>独立 Oracle</a:t>
            </a:r>
          </a:p>
        </p:txBody>
      </p:sp>
      <p:sp>
        <p:nvSpPr>
          <p:cNvPr id="48" name="generated-independent-oracle-body-1">
            <a:extLst>
              <a:ext uri="{FF2B5EF4-FFF2-40B4-BE49-F238E27FC236}">
                <a16:creationId id="{D00A6AC0-89A9-4FE2-A129-902C40E85862}"/>
              </a:ext>
            </a:extLst>
          </p:cNvPr>
          <p:cNvSpPr>
            <a:spLocks/>
          </p:cNvSpPr>
          <p:nvPr/>
        </p:nvSpPr>
        <p:spPr>
          <a:xfrm>
            <a:off x="1657350" y="5343525"/>
            <a:ext cx="3829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03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原失败任务重跑 · Required Checks · Scan / Policy</a:t>
            </a:r>
          </a:p>
        </p:txBody>
      </p:sp>
      <p:sp>
        <p:nvSpPr>
          <p:cNvPr id="49" name="generated-independent-oracle-body-2">
            <a:extLst>
              <a:ext uri="{FF2B5EF4-FFF2-40B4-BE49-F238E27FC236}">
                <a16:creationId id="{353E4863-4B63-49B8-9AF5-121E39FEBF01}"/>
              </a:ext>
            </a:extLst>
          </p:cNvPr>
          <p:cNvSpPr>
            <a:spLocks/>
          </p:cNvSpPr>
          <p:nvPr/>
        </p:nvSpPr>
        <p:spPr>
          <a:xfrm>
            <a:off x="1657350" y="5514975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95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同一 Commit / Artifact / Environment 绑定后，才判定修复成立</a:t>
            </a:r>
          </a:p>
        </p:txBody>
      </p:sp>
      <p:sp>
        <p:nvSpPr>
          <p:cNvPr id="50" name="generated-offline-learning">
            <a:extLst>
              <a:ext uri="{FF2B5EF4-FFF2-40B4-BE49-F238E27FC236}">
                <a16:creationId id="{E1D2C720-EA84-428B-A0D7-1D9198F6B292}"/>
              </a:ext>
            </a:extLst>
          </p:cNvPr>
          <p:cNvSpPr>
            <a:spLocks/>
          </p:cNvSpPr>
          <p:nvPr/>
        </p:nvSpPr>
        <p:spPr>
          <a:xfrm>
            <a:off x="2571750" y="5781675"/>
            <a:ext cx="175260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1430">
            <a:solidFill>
              <a:srgbClr val="008B73"/>
            </a:solidFill>
            <a:prstDash val="dash"/>
          </a:ln>
        </p:spPr>
      </p:sp>
      <p:sp>
        <p:nvSpPr>
          <p:cNvPr id="51" name="generated-offline-learning-text">
            <a:extLst>
              <a:ext uri="{FF2B5EF4-FFF2-40B4-BE49-F238E27FC236}">
                <a16:creationId id="{D65B1682-A985-4F17-B133-F40A91879F5B}"/>
              </a:ext>
            </a:extLst>
          </p:cNvPr>
          <p:cNvSpPr>
            <a:spLocks/>
          </p:cNvSpPr>
          <p:nvPr/>
        </p:nvSpPr>
        <p:spPr>
          <a:xfrm>
            <a:off x="2657475" y="58102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rPr>
              <a:t>稳定模式 → 规则 / Runbook</a:t>
            </a:r>
          </a:p>
        </p:txBody>
      </p:sp>
      <p:sp>
        <p:nvSpPr>
          <p:cNvPr id="52" name="generated-output-writeback">
            <a:extLst>
              <a:ext uri="{FF2B5EF4-FFF2-40B4-BE49-F238E27FC236}">
                <a16:creationId id="{233751E8-4087-4BFA-AB66-C52C56F755F8}"/>
              </a:ext>
            </a:extLst>
          </p:cNvPr>
          <p:cNvSpPr>
            <a:spLocks/>
          </p:cNvSpPr>
          <p:nvPr/>
        </p:nvSpPr>
        <p:spPr>
          <a:xfrm>
            <a:off x="542925" y="6153150"/>
            <a:ext cx="2324100" cy="504825"/>
          </a:xfrm>
          <a:prstGeom prst="roundRect">
            <a:avLst>
              <a:gd name="adj" fmla="val 20755"/>
            </a:avLst>
          </a:prstGeom>
          <a:solidFill>
            <a:srgbClr val="F3FAF8"/>
          </a:solidFill>
          <a:ln w="14288">
            <a:solidFill>
              <a:srgbClr val="008B73"/>
            </a:solidFill>
            <a:prstDash val="solid"/>
          </a:ln>
        </p:spPr>
      </p:sp>
      <p:sp>
        <p:nvSpPr>
          <p:cNvPr id="53" name="generated-output-writeback-title">
            <a:extLst>
              <a:ext uri="{FF2B5EF4-FFF2-40B4-BE49-F238E27FC236}">
                <a16:creationId id="{B5364A9E-9F28-401A-8239-76F9E4E5FEA8}"/>
              </a:ext>
            </a:extLst>
          </p:cNvPr>
          <p:cNvSpPr>
            <a:spLocks/>
          </p:cNvSpPr>
          <p:nvPr/>
        </p:nvSpPr>
        <p:spPr>
          <a:xfrm>
            <a:off x="704850" y="6229350"/>
            <a:ext cx="2000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E5C"/>
                </a:solidFill>
                <a:latin typeface="Microsoft YaHei"/>
                <a:ea typeface="Microsoft YaHei"/>
                <a:cs typeface="Microsoft YaHei"/>
              </a:rPr>
              <a:t>受控写回 / 更新 PR</a:t>
            </a:r>
          </a:p>
        </p:txBody>
      </p:sp>
      <p:sp>
        <p:nvSpPr>
          <p:cNvPr id="54" name="generated-output-writeback-body">
            <a:extLst>
              <a:ext uri="{FF2B5EF4-FFF2-40B4-BE49-F238E27FC236}">
                <a16:creationId id="{4E01DBBC-1272-49C5-9ED7-E49DF83F765F}"/>
              </a:ext>
            </a:extLst>
          </p:cNvPr>
          <p:cNvSpPr>
            <a:spLocks/>
          </p:cNvSpPr>
          <p:nvPr/>
        </p:nvSpPr>
        <p:spPr>
          <a:xfrm>
            <a:off x="704850" y="6457950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仅消费有效 Verification Receipt</a:t>
            </a:r>
          </a:p>
        </p:txBody>
      </p:sp>
      <p:sp>
        <p:nvSpPr>
          <p:cNvPr id="55" name="generated-output-stop">
            <a:extLst>
              <a:ext uri="{FF2B5EF4-FFF2-40B4-BE49-F238E27FC236}">
                <a16:creationId id="{9234889A-D46A-4497-8A95-570B6930109F}"/>
              </a:ext>
            </a:extLst>
          </p:cNvPr>
          <p:cNvSpPr>
            <a:spLocks/>
          </p:cNvSpPr>
          <p:nvPr/>
        </p:nvSpPr>
        <p:spPr>
          <a:xfrm>
            <a:off x="4019550" y="6153150"/>
            <a:ext cx="2324100" cy="504825"/>
          </a:xfrm>
          <a:prstGeom prst="roundRect">
            <a:avLst>
              <a:gd name="adj" fmla="val 20755"/>
            </a:avLst>
          </a:prstGeom>
          <a:solidFill>
            <a:srgbClr val="FFF1F1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56" name="generated-output-stop-title">
            <a:extLst>
              <a:ext uri="{FF2B5EF4-FFF2-40B4-BE49-F238E27FC236}">
                <a16:creationId id="{EC6D917A-1E7B-4E11-8164-29345EE56150}"/>
              </a:ext>
            </a:extLst>
          </p:cNvPr>
          <p:cNvSpPr>
            <a:spLocks/>
          </p:cNvSpPr>
          <p:nvPr/>
        </p:nvSpPr>
        <p:spPr>
          <a:xfrm>
            <a:off x="4171950" y="6229350"/>
            <a:ext cx="2019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123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停止 / 回滚 / 人工接管</a:t>
            </a:r>
          </a:p>
        </p:txBody>
      </p:sp>
      <p:sp>
        <p:nvSpPr>
          <p:cNvPr id="57" name="generated-output-stop-body">
            <a:extLst>
              <a:ext uri="{FF2B5EF4-FFF2-40B4-BE49-F238E27FC236}">
                <a16:creationId id="{197A2F80-FE00-49A8-88BE-9CBB8CED40E1}"/>
              </a:ext>
            </a:extLst>
          </p:cNvPr>
          <p:cNvSpPr>
            <a:spLocks/>
          </p:cNvSpPr>
          <p:nvPr/>
        </p:nvSpPr>
        <p:spPr>
          <a:xfrm>
            <a:off x="4171950" y="6457950"/>
            <a:ext cx="2019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预算、风险或对象漂移触发断路</a:t>
            </a:r>
          </a:p>
        </p:txBody>
      </p:sp>
      <p:cxnSp>
        <p:nvCxnSpPr>
          <p:cNvPr id="172" name=""/>
          <p:cNvCxnSpPr>
            <a:stCxn id="1" idx="2"/>
            <a:endCxn id="6" idx="0"/>
          </p:cNvCxnSpPr>
          <p:nvPr/>
        </p:nvCxnSpPr>
        <p:spPr>
          <a:xfrm flipH="1">
            <a:off x="3457575" y="628650"/>
            <a:ext cx="38100" cy="2286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8B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3" name=""/>
          <p:cNvCxnSpPr>
            <a:stCxn id="6" idx="2"/>
            <a:endCxn id="25" idx="0"/>
          </p:cNvCxnSpPr>
          <p:nvPr/>
        </p:nvCxnSpPr>
        <p:spPr>
          <a:xfrm flipH="1">
            <a:off x="1304925" y="2647950"/>
            <a:ext cx="2152650" cy="3619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008B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4" name=""/>
          <p:cNvCxnSpPr>
            <a:stCxn id="6" idx="2"/>
            <a:endCxn id="30" idx="0"/>
          </p:cNvCxnSpPr>
          <p:nvPr/>
        </p:nvCxnSpPr>
        <p:spPr>
          <a:xfrm flipH="1">
            <a:off x="3429000" y="2647950"/>
            <a:ext cx="28575" cy="3619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008B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5" name=""/>
          <p:cNvCxnSpPr>
            <a:stCxn id="6" idx="2"/>
            <a:endCxn id="35" idx="0"/>
          </p:cNvCxnSpPr>
          <p:nvPr/>
        </p:nvCxnSpPr>
        <p:spPr>
          <a:xfrm>
            <a:off x="3457575" y="2647950"/>
            <a:ext cx="2095500" cy="3619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008B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6" name=""/>
          <p:cNvCxnSpPr>
            <a:stCxn id="25" idx="2"/>
            <a:endCxn id="39" idx="0"/>
          </p:cNvCxnSpPr>
          <p:nvPr/>
        </p:nvCxnSpPr>
        <p:spPr>
          <a:xfrm>
            <a:off x="1304925" y="3829050"/>
            <a:ext cx="2152650" cy="30480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1A9A96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7" name=""/>
          <p:cNvCxnSpPr>
            <a:stCxn id="30" idx="2"/>
            <a:endCxn id="39" idx="0"/>
          </p:cNvCxnSpPr>
          <p:nvPr/>
        </p:nvCxnSpPr>
        <p:spPr>
          <a:xfrm>
            <a:off x="3429000" y="3829050"/>
            <a:ext cx="28575" cy="30480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4F76C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8" name=""/>
          <p:cNvCxnSpPr>
            <a:stCxn id="39" idx="2"/>
            <a:endCxn id="44" idx="0"/>
          </p:cNvCxnSpPr>
          <p:nvPr/>
        </p:nvCxnSpPr>
        <p:spPr>
          <a:xfrm flipH="1">
            <a:off x="3438525" y="4705350"/>
            <a:ext cx="19050" cy="3048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8B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9" name=""/>
          <p:cNvCxnSpPr>
            <a:stCxn id="35" idx="2"/>
            <a:endCxn id="55" idx="0"/>
          </p:cNvCxnSpPr>
          <p:nvPr/>
        </p:nvCxnSpPr>
        <p:spPr>
          <a:xfrm flipH="1">
            <a:off x="5181600" y="3829050"/>
            <a:ext cx="800100" cy="2324100"/>
          </a:xfrm>
          <a:prstGeom prst="bentConnector4">
            <a:avLst/>
          </a:prstGeom>
          <a:ln w="14288">
            <a:solidFill>
              <a:srgbClr val="CC823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0" name=""/>
          <p:cNvCxnSpPr>
            <a:stCxn id="44" idx="2"/>
            <a:endCxn id="52" idx="0"/>
          </p:cNvCxnSpPr>
          <p:nvPr/>
        </p:nvCxnSpPr>
        <p:spPr>
          <a:xfrm flipH="1">
            <a:off x="1704975" y="5695950"/>
            <a:ext cx="1733550" cy="4572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008B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1" name=""/>
          <p:cNvCxnSpPr>
            <a:stCxn id="44" idx="2"/>
            <a:endCxn id="55" idx="0"/>
          </p:cNvCxnSpPr>
          <p:nvPr/>
        </p:nvCxnSpPr>
        <p:spPr>
          <a:xfrm>
            <a:off x="3438525" y="5695950"/>
            <a:ext cx="1743075" cy="457200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C000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2" name=""/>
          <p:cNvCxnSpPr>
            <a:stCxn id="44" idx="2"/>
            <a:endCxn id="50" idx="0"/>
          </p:cNvCxnSpPr>
          <p:nvPr/>
        </p:nvCxnSpPr>
        <p:spPr>
          <a:xfrm>
            <a:off x="3438525" y="5695950"/>
            <a:ext cx="9525" cy="85725"/>
          </a:xfrm>
          <a:prstGeom prst="bentConnector4">
            <a:avLst>
              <a:gd name="adj1" fmla="val 0"/>
              <a:gd name="adj2" fmla="val 50000"/>
            </a:avLst>
          </a:prstGeom>
          <a:ln w="11430">
            <a:solidFill>
              <a:srgbClr val="008B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83" name=""/>
          <p:cNvCxnSpPr>
            <a:stCxn id="44" idx="1"/>
            <a:endCxn id="30" idx="2"/>
          </p:cNvCxnSpPr>
          <p:nvPr/>
        </p:nvCxnSpPr>
        <p:spPr>
          <a:xfrm flipV="1">
            <a:off x="1009650" y="3829050"/>
            <a:ext cx="2419350" cy="1524000"/>
          </a:xfrm>
          <a:prstGeom prst="bentConnector2">
            <a:avLst/>
          </a:prstGeom>
          <a:ln w="12383">
            <a:solidFill>
              <a:srgbClr val="4F76C7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70" name="generated-loop-same-failure-label">
            <a:extLst>
              <a:ext uri="{FF2B5EF4-FFF2-40B4-BE49-F238E27FC236}">
                <a16:creationId id="{CE4E6873-76B3-448B-A8EC-446886309DD2}"/>
              </a:ext>
            </a:extLst>
          </p:cNvPr>
          <p:cNvSpPr>
            <a:spLocks/>
          </p:cNvSpPr>
          <p:nvPr/>
        </p:nvSpPr>
        <p:spPr>
          <a:xfrm>
            <a:off x="114300" y="4695825"/>
            <a:ext cx="8858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357"/>
          </a:bodyPr>
          <a:lstStyle/>
          <a:p>
            <a:pPr algn="ctr">
              <a:lnSpc>
                <a:spcPct val="100000"/>
              </a:lnSpc>
              <a:buNone/>
              <a:defRPr sz="848" b="0">
                <a:solidFill>
                  <a:srgbClr val="4F7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4F76C7"/>
                </a:solidFill>
                <a:latin typeface="Microsoft YaHei"/>
                <a:ea typeface="Microsoft YaHei"/>
                <a:cs typeface="Microsoft YaHei"/>
              </a:rPr>
              <a:t>原故障仍在</a:t>
            </a:r>
          </a:p>
          <a:p>
            <a:pPr algn="ctr">
              <a:lnSpc>
                <a:spcPct val="100000"/>
              </a:lnSpc>
              <a:buNone/>
              <a:defRPr sz="848" b="0">
                <a:solidFill>
                  <a:srgbClr val="4F7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4F76C7"/>
                </a:solidFill>
                <a:latin typeface="Microsoft YaHei"/>
                <a:ea typeface="Microsoft YaHei"/>
                <a:cs typeface="Microsoft YaHei"/>
              </a:rPr>
              <a:t>携带验证证据返回诊断</a:t>
            </a:r>
          </a:p>
        </p:txBody>
      </p:sp>
      <p:cxnSp>
        <p:nvCxnSpPr>
          <p:cNvPr id="185" name=""/>
          <p:cNvCxnSpPr>
            <a:stCxn id="44" idx="3"/>
            <a:endCxn id="20" idx="3"/>
          </p:cNvCxnSpPr>
          <p:nvPr/>
        </p:nvCxnSpPr>
        <p:spPr>
          <a:xfrm flipV="1">
            <a:off x="5867400" y="2314575"/>
            <a:ext cx="447675" cy="3038475"/>
          </a:xfrm>
          <a:prstGeom prst="bentConnector3">
            <a:avLst>
              <a:gd name="adj1" fmla="val 50000"/>
            </a:avLst>
          </a:prstGeom>
          <a:ln w="11430">
            <a:solidFill>
              <a:srgbClr val="C00000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72" name="generated-loop-new-fingerprint-label">
            <a:extLst>
              <a:ext uri="{FF2B5EF4-FFF2-40B4-BE49-F238E27FC236}">
                <a16:creationId id="{A35A0D87-4C42-4B0B-9936-DFD988E202E9}"/>
              </a:ext>
            </a:extLst>
          </p:cNvPr>
          <p:cNvSpPr>
            <a:spLocks/>
          </p:cNvSpPr>
          <p:nvPr/>
        </p:nvSpPr>
        <p:spPr>
          <a:xfrm>
            <a:off x="5886450" y="46958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02"/>
          </a:bodyPr>
          <a:lstStyle/>
          <a:p>
            <a:pPr algn="ctr">
              <a:lnSpc>
                <a:spcPct val="100000"/>
              </a:lnSpc>
              <a:buNone/>
              <a:defRPr sz="848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新故障 / 指纹变化</a:t>
            </a:r>
          </a:p>
          <a:p>
            <a:pPr algn="ctr">
              <a:lnSpc>
                <a:spcPct val="100000"/>
              </a:lnSpc>
              <a:buNone/>
              <a:defRPr sz="848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重新分诊</a:t>
            </a:r>
          </a:p>
        </p:txBody>
      </p:sp>
      <p:sp>
        <p:nvSpPr>
          <p:cNvPr id="73" name="generated-right-control-group">
            <a:extLst>
              <a:ext uri="{FF2B5EF4-FFF2-40B4-BE49-F238E27FC236}">
                <a16:creationId id="{38663DCC-F478-41A3-815F-F769CD5BBD61}"/>
              </a:ext>
            </a:extLst>
          </p:cNvPr>
          <p:cNvSpPr>
            <a:spLocks/>
          </p:cNvSpPr>
          <p:nvPr/>
        </p:nvSpPr>
        <p:spPr>
          <a:xfrm>
            <a:off x="7124700" y="190500"/>
            <a:ext cx="4762500" cy="2095500"/>
          </a:xfrm>
          <a:prstGeom prst="roundRect">
            <a:avLst>
              <a:gd name="adj" fmla="val 5000"/>
            </a:avLst>
          </a:prstGeom>
          <a:solidFill>
            <a:srgbClr val="F3FAF8"/>
          </a:solidFill>
          <a:ln w="0">
            <a:solidFill>
              <a:srgbClr val="F3FAF8"/>
            </a:solidFill>
            <a:prstDash val="solid"/>
          </a:ln>
        </p:spPr>
      </p:sp>
      <p:sp>
        <p:nvSpPr>
          <p:cNvPr id="74" name="generated-right-control-label">
            <a:extLst>
              <a:ext uri="{FF2B5EF4-FFF2-40B4-BE49-F238E27FC236}">
                <a16:creationId id="{E7357269-0D14-42DF-8E57-A88EEEA03B3F}"/>
              </a:ext>
            </a:extLst>
          </p:cNvPr>
          <p:cNvSpPr>
            <a:spLocks/>
          </p:cNvSpPr>
          <p:nvPr/>
        </p:nvSpPr>
        <p:spPr>
          <a:xfrm>
            <a:off x="7286625" y="2381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48" b="1">
                <a:solidFill>
                  <a:srgbClr val="008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008B73"/>
                </a:solidFill>
                <a:latin typeface="Microsoft YaHei"/>
                <a:ea typeface="Microsoft YaHei"/>
                <a:cs typeface="Microsoft YaHei"/>
              </a:rPr>
              <a:t>控制决策层</a:t>
            </a:r>
          </a:p>
        </p:txBody>
      </p:sp>
      <p:sp>
        <p:nvSpPr>
          <p:cNvPr id="75" name="generated-right-capability-1-card">
            <a:extLst>
              <a:ext uri="{FF2B5EF4-FFF2-40B4-BE49-F238E27FC236}">
                <a16:creationId id="{E2F65773-4EEC-47B1-869A-4CB88BF37441}"/>
              </a:ext>
            </a:extLst>
          </p:cNvPr>
          <p:cNvSpPr>
            <a:spLocks/>
          </p:cNvSpPr>
          <p:nvPr/>
        </p:nvSpPr>
        <p:spPr>
          <a:xfrm>
            <a:off x="7239000" y="457200"/>
            <a:ext cx="453390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76" name="generated-right-capability-1-accent">
            <a:extLst>
              <a:ext uri="{FF2B5EF4-FFF2-40B4-BE49-F238E27FC236}">
                <a16:creationId id="{D6D3BED8-DA72-43DE-9ED1-4E73F9FB681C}"/>
              </a:ext>
            </a:extLst>
          </p:cNvPr>
          <p:cNvSpPr>
            <a:spLocks/>
          </p:cNvSpPr>
          <p:nvPr/>
        </p:nvSpPr>
        <p:spPr>
          <a:xfrm>
            <a:off x="7239000" y="457200"/>
            <a:ext cx="47625" cy="819150"/>
          </a:xfrm>
          <a:prstGeom prst="roundRect">
            <a:avLst>
              <a:gd name="adj" fmla="val 50000"/>
            </a:avLst>
          </a:prstGeom>
          <a:solidFill>
            <a:srgbClr val="008B73"/>
          </a:solidFill>
          <a:ln w="0">
            <a:solidFill>
              <a:srgbClr val="008B73"/>
            </a:solidFill>
            <a:prstDash val="solid"/>
          </a:ln>
        </p:spPr>
      </p:sp>
      <p:sp>
        <p:nvSpPr>
          <p:cNvPr id="77" name="generated-right-capability-1-number-circle">
            <a:extLst>
              <a:ext uri="{FF2B5EF4-FFF2-40B4-BE49-F238E27FC236}">
                <a16:creationId id="{FEAD7D70-DC7B-4F95-A534-3DCACF0B2FEA}"/>
              </a:ext>
            </a:extLst>
          </p:cNvPr>
          <p:cNvSpPr>
            <a:spLocks/>
          </p:cNvSpPr>
          <p:nvPr/>
        </p:nvSpPr>
        <p:spPr>
          <a:xfrm>
            <a:off x="7372350" y="561975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78" name="generated-right-capability-1-number">
            <a:extLst>
              <a:ext uri="{FF2B5EF4-FFF2-40B4-BE49-F238E27FC236}">
                <a16:creationId id="{F22E813C-D68A-4AC3-870C-C771E8CE0FA3}"/>
              </a:ext>
            </a:extLst>
          </p:cNvPr>
          <p:cNvSpPr>
            <a:spLocks/>
          </p:cNvSpPr>
          <p:nvPr/>
        </p:nvSpPr>
        <p:spPr>
          <a:xfrm>
            <a:off x="7372350" y="557213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79" name="generated-right-capability-1-title">
            <a:extLst>
              <a:ext uri="{FF2B5EF4-FFF2-40B4-BE49-F238E27FC236}">
                <a16:creationId id="{F9D87D8F-7AD4-4C55-9147-CFF3E2351AA0}"/>
              </a:ext>
            </a:extLst>
          </p:cNvPr>
          <p:cNvSpPr>
            <a:spLocks/>
          </p:cNvSpPr>
          <p:nvPr/>
        </p:nvSpPr>
        <p:spPr>
          <a:xfrm>
            <a:off x="7724775" y="533400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故障对象建模与状态编排</a:t>
            </a:r>
          </a:p>
        </p:txBody>
      </p:sp>
      <p:sp>
        <p:nvSpPr>
          <p:cNvPr id="80" name="generated-right-capability-1-body">
            <a:extLst>
              <a:ext uri="{FF2B5EF4-FFF2-40B4-BE49-F238E27FC236}">
                <a16:creationId id="{6D2EBC0A-B9C6-4A96-807C-10D9C206C69F}"/>
              </a:ext>
            </a:extLst>
          </p:cNvPr>
          <p:cNvSpPr>
            <a:spLocks/>
          </p:cNvSpPr>
          <p:nvPr/>
        </p:nvSpPr>
        <p:spPr>
          <a:xfrm>
            <a:off x="7724775" y="781050"/>
            <a:ext cx="3924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将失败封装为绑定 Commit、指纹、证据、租约与预算的</a:t>
            </a:r>
          </a:p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Failure Episode，驱动幂等、可恢复的状态流转。</a:t>
            </a:r>
          </a:p>
        </p:txBody>
      </p:sp>
      <p:sp>
        <p:nvSpPr>
          <p:cNvPr id="81" name="generated-right-capability-2-card">
            <a:extLst>
              <a:ext uri="{FF2B5EF4-FFF2-40B4-BE49-F238E27FC236}">
                <a16:creationId id="{539A4128-35F4-4CB0-8C7A-B58556CEE548}"/>
              </a:ext>
            </a:extLst>
          </p:cNvPr>
          <p:cNvSpPr>
            <a:spLocks/>
          </p:cNvSpPr>
          <p:nvPr/>
        </p:nvSpPr>
        <p:spPr>
          <a:xfrm>
            <a:off x="7239000" y="1362075"/>
            <a:ext cx="453390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2" name="generated-right-capability-2-accent">
            <a:extLst>
              <a:ext uri="{FF2B5EF4-FFF2-40B4-BE49-F238E27FC236}">
                <a16:creationId id="{083966BA-3884-4FA4-8DD5-8B98E202F0DF}"/>
              </a:ext>
            </a:extLst>
          </p:cNvPr>
          <p:cNvSpPr>
            <a:spLocks/>
          </p:cNvSpPr>
          <p:nvPr/>
        </p:nvSpPr>
        <p:spPr>
          <a:xfrm>
            <a:off x="7239000" y="1362075"/>
            <a:ext cx="47625" cy="819150"/>
          </a:xfrm>
          <a:prstGeom prst="roundRect">
            <a:avLst>
              <a:gd name="adj" fmla="val 50000"/>
            </a:avLst>
          </a:prstGeom>
          <a:solidFill>
            <a:srgbClr val="008B73"/>
          </a:solidFill>
          <a:ln w="0">
            <a:solidFill>
              <a:srgbClr val="008B73"/>
            </a:solidFill>
            <a:prstDash val="solid"/>
          </a:ln>
        </p:spPr>
      </p:sp>
      <p:sp>
        <p:nvSpPr>
          <p:cNvPr id="83" name="generated-right-capability-2-number-circle">
            <a:extLst>
              <a:ext uri="{FF2B5EF4-FFF2-40B4-BE49-F238E27FC236}">
                <a16:creationId id="{34633E54-03F6-4DB8-94DA-4B7F2ACB9454}"/>
              </a:ext>
            </a:extLst>
          </p:cNvPr>
          <p:cNvSpPr>
            <a:spLocks/>
          </p:cNvSpPr>
          <p:nvPr/>
        </p:nvSpPr>
        <p:spPr>
          <a:xfrm>
            <a:off x="7372350" y="1466850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84" name="generated-right-capability-2-number">
            <a:extLst>
              <a:ext uri="{FF2B5EF4-FFF2-40B4-BE49-F238E27FC236}">
                <a16:creationId id="{AB20C515-B6C1-496D-B491-61F9FE41CDCD}"/>
              </a:ext>
            </a:extLst>
          </p:cNvPr>
          <p:cNvSpPr>
            <a:spLocks/>
          </p:cNvSpPr>
          <p:nvPr/>
        </p:nvSpPr>
        <p:spPr>
          <a:xfrm>
            <a:off x="7372350" y="1462088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85" name="generated-right-capability-2-title">
            <a:extLst>
              <a:ext uri="{FF2B5EF4-FFF2-40B4-BE49-F238E27FC236}">
                <a16:creationId id="{AE5E66B8-951A-474C-A3AD-E8F00F60C9F3}"/>
              </a:ext>
            </a:extLst>
          </p:cNvPr>
          <p:cNvSpPr>
            <a:spLocks/>
          </p:cNvSpPr>
          <p:nvPr/>
        </p:nvSpPr>
        <p:spPr>
          <a:xfrm>
            <a:off x="7724775" y="1438275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可配置分诊与策略路由</a:t>
            </a:r>
          </a:p>
        </p:txBody>
      </p:sp>
      <p:sp>
        <p:nvSpPr>
          <p:cNvPr id="86" name="generated-right-capability-2-body">
            <a:extLst>
              <a:ext uri="{FF2B5EF4-FFF2-40B4-BE49-F238E27FC236}">
                <a16:creationId id="{7D0310BB-3785-46E1-97B8-E13C6344F9F2}"/>
              </a:ext>
            </a:extLst>
          </p:cNvPr>
          <p:cNvSpPr>
            <a:spLocks/>
          </p:cNvSpPr>
          <p:nvPr/>
        </p:nvSpPr>
        <p:spPr>
          <a:xfrm>
            <a:off x="7724775" y="1685925"/>
            <a:ext cx="3924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529"/>
          </a:bodyPr>
          <a:lstStyle/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规则优先、语义分类补充；结合语言、组件、产品问题类型、</a:t>
            </a:r>
          </a:p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风险及能力可用性，生成可解释路径。</a:t>
            </a:r>
          </a:p>
        </p:txBody>
      </p:sp>
      <p:sp>
        <p:nvSpPr>
          <p:cNvPr id="87" name="generated-right-execution-group">
            <a:extLst>
              <a:ext uri="{FF2B5EF4-FFF2-40B4-BE49-F238E27FC236}">
                <a16:creationId id="{55FDF2F1-0119-41D6-A2DD-1930C3F714A4}"/>
              </a:ext>
            </a:extLst>
          </p:cNvPr>
          <p:cNvSpPr>
            <a:spLocks/>
          </p:cNvSpPr>
          <p:nvPr/>
        </p:nvSpPr>
        <p:spPr>
          <a:xfrm>
            <a:off x="7124700" y="2381250"/>
            <a:ext cx="4762500" cy="2095500"/>
          </a:xfrm>
          <a:prstGeom prst="roundRect">
            <a:avLst>
              <a:gd name="adj" fmla="val 5000"/>
            </a:avLst>
          </a:prstGeom>
          <a:solidFill>
            <a:srgbClr val="EDF3FC"/>
          </a:solidFill>
          <a:ln w="0">
            <a:solidFill>
              <a:srgbClr val="EDF3FC"/>
            </a:solidFill>
            <a:prstDash val="solid"/>
          </a:ln>
        </p:spPr>
      </p:sp>
      <p:sp>
        <p:nvSpPr>
          <p:cNvPr id="88" name="generated-right-execution-label">
            <a:extLst>
              <a:ext uri="{FF2B5EF4-FFF2-40B4-BE49-F238E27FC236}">
                <a16:creationId id="{FCB7B73F-92B9-4B26-8288-BE3BAA579281}"/>
              </a:ext>
            </a:extLst>
          </p:cNvPr>
          <p:cNvSpPr>
            <a:spLocks/>
          </p:cNvSpPr>
          <p:nvPr/>
        </p:nvSpPr>
        <p:spPr>
          <a:xfrm>
            <a:off x="7286625" y="24288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48" b="1">
                <a:solidFill>
                  <a:srgbClr val="4F7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4F76C7"/>
                </a:solidFill>
                <a:latin typeface="Microsoft YaHei"/>
                <a:ea typeface="Microsoft YaHei"/>
                <a:cs typeface="Microsoft YaHei"/>
              </a:rPr>
              <a:t>诊断执行层</a:t>
            </a:r>
          </a:p>
        </p:txBody>
      </p:sp>
      <p:sp>
        <p:nvSpPr>
          <p:cNvPr id="89" name="generated-right-capability-3-card">
            <a:extLst>
              <a:ext uri="{FF2B5EF4-FFF2-40B4-BE49-F238E27FC236}">
                <a16:creationId id="{AB08A318-A800-4867-A22C-7659614A0DA8}"/>
              </a:ext>
            </a:extLst>
          </p:cNvPr>
          <p:cNvSpPr>
            <a:spLocks/>
          </p:cNvSpPr>
          <p:nvPr/>
        </p:nvSpPr>
        <p:spPr>
          <a:xfrm>
            <a:off x="7239000" y="2647950"/>
            <a:ext cx="453390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0" name="generated-right-capability-3-accent">
            <a:extLst>
              <a:ext uri="{FF2B5EF4-FFF2-40B4-BE49-F238E27FC236}">
                <a16:creationId id="{193A8678-AFA1-457C-AB9D-A59B4BDA1C2C}"/>
              </a:ext>
            </a:extLst>
          </p:cNvPr>
          <p:cNvSpPr>
            <a:spLocks/>
          </p:cNvSpPr>
          <p:nvPr/>
        </p:nvSpPr>
        <p:spPr>
          <a:xfrm>
            <a:off x="7239000" y="2647950"/>
            <a:ext cx="47625" cy="819150"/>
          </a:xfrm>
          <a:prstGeom prst="roundRect">
            <a:avLst>
              <a:gd name="adj" fmla="val 50000"/>
            </a:avLst>
          </a:prstGeom>
          <a:solidFill>
            <a:srgbClr val="4F76C7"/>
          </a:solidFill>
          <a:ln w="0">
            <a:solidFill>
              <a:srgbClr val="4F76C7"/>
            </a:solidFill>
            <a:prstDash val="solid"/>
          </a:ln>
        </p:spPr>
      </p:sp>
      <p:sp>
        <p:nvSpPr>
          <p:cNvPr id="91" name="generated-right-capability-3-number-circle">
            <a:extLst>
              <a:ext uri="{FF2B5EF4-FFF2-40B4-BE49-F238E27FC236}">
                <a16:creationId id="{1B5CC9D5-1595-4C86-B71F-B360FE82AA2E}"/>
              </a:ext>
            </a:extLst>
          </p:cNvPr>
          <p:cNvSpPr>
            <a:spLocks/>
          </p:cNvSpPr>
          <p:nvPr/>
        </p:nvSpPr>
        <p:spPr>
          <a:xfrm>
            <a:off x="7372350" y="2752725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92" name="generated-right-capability-3-number">
            <a:extLst>
              <a:ext uri="{FF2B5EF4-FFF2-40B4-BE49-F238E27FC236}">
                <a16:creationId id="{CEA5CE2D-7870-4CD3-9D84-C0B3F9BB7879}"/>
              </a:ext>
            </a:extLst>
          </p:cNvPr>
          <p:cNvSpPr>
            <a:spLocks/>
          </p:cNvSpPr>
          <p:nvPr/>
        </p:nvSpPr>
        <p:spPr>
          <a:xfrm>
            <a:off x="7372350" y="2747963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93" name="generated-right-capability-3-title">
            <a:extLst>
              <a:ext uri="{FF2B5EF4-FFF2-40B4-BE49-F238E27FC236}">
                <a16:creationId id="{9485F845-6392-4135-9F55-781A8001B894}"/>
              </a:ext>
            </a:extLst>
          </p:cNvPr>
          <p:cNvSpPr>
            <a:spLocks/>
          </p:cNvSpPr>
          <p:nvPr/>
        </p:nvSpPr>
        <p:spPr>
          <a:xfrm>
            <a:off x="7724775" y="2724150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诊断编排与有界求解</a:t>
            </a:r>
          </a:p>
        </p:txBody>
      </p:sp>
      <p:sp>
        <p:nvSpPr>
          <p:cNvPr id="94" name="generated-right-capability-3-body">
            <a:extLst>
              <a:ext uri="{FF2B5EF4-FFF2-40B4-BE49-F238E27FC236}">
                <a16:creationId id="{D817340B-AAAB-4591-AE87-6667E4CBAD40}"/>
              </a:ext>
            </a:extLst>
          </p:cNvPr>
          <p:cNvSpPr>
            <a:spLocks/>
          </p:cNvSpPr>
          <p:nvPr/>
        </p:nvSpPr>
        <p:spPr>
          <a:xfrm>
            <a:off x="7724775" y="2971800"/>
            <a:ext cx="3924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按路径装配上下文、诊断 Skill 与工具，通过复现、</a:t>
            </a:r>
          </a:p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根因假设和有界实验收敛候选修复。</a:t>
            </a:r>
          </a:p>
        </p:txBody>
      </p:sp>
      <p:sp>
        <p:nvSpPr>
          <p:cNvPr id="95" name="generated-right-capability-4-card">
            <a:extLst>
              <a:ext uri="{FF2B5EF4-FFF2-40B4-BE49-F238E27FC236}">
                <a16:creationId id="{4D350904-77FD-4399-91C6-D7EDF88A3D72}"/>
              </a:ext>
            </a:extLst>
          </p:cNvPr>
          <p:cNvSpPr>
            <a:spLocks/>
          </p:cNvSpPr>
          <p:nvPr/>
        </p:nvSpPr>
        <p:spPr>
          <a:xfrm>
            <a:off x="7239000" y="3552825"/>
            <a:ext cx="453390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96" name="generated-right-capability-4-accent">
            <a:extLst>
              <a:ext uri="{FF2B5EF4-FFF2-40B4-BE49-F238E27FC236}">
                <a16:creationId id="{9A019ECC-6D84-43FB-AC03-6B1720FCB487}"/>
              </a:ext>
            </a:extLst>
          </p:cNvPr>
          <p:cNvSpPr>
            <a:spLocks/>
          </p:cNvSpPr>
          <p:nvPr/>
        </p:nvSpPr>
        <p:spPr>
          <a:xfrm>
            <a:off x="7239000" y="3552825"/>
            <a:ext cx="47625" cy="819150"/>
          </a:xfrm>
          <a:prstGeom prst="roundRect">
            <a:avLst>
              <a:gd name="adj" fmla="val 50000"/>
            </a:avLst>
          </a:prstGeom>
          <a:solidFill>
            <a:srgbClr val="4F76C7"/>
          </a:solidFill>
          <a:ln w="0">
            <a:solidFill>
              <a:srgbClr val="4F76C7"/>
            </a:solidFill>
            <a:prstDash val="solid"/>
          </a:ln>
        </p:spPr>
      </p:sp>
      <p:sp>
        <p:nvSpPr>
          <p:cNvPr id="97" name="generated-right-capability-4-number-circle">
            <a:extLst>
              <a:ext uri="{FF2B5EF4-FFF2-40B4-BE49-F238E27FC236}">
                <a16:creationId id="{84A5D1EE-0EEA-4BCA-8236-DC683DF8DF37}"/>
              </a:ext>
            </a:extLst>
          </p:cNvPr>
          <p:cNvSpPr>
            <a:spLocks/>
          </p:cNvSpPr>
          <p:nvPr/>
        </p:nvSpPr>
        <p:spPr>
          <a:xfrm>
            <a:off x="7372350" y="3657600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98" name="generated-right-capability-4-number">
            <a:extLst>
              <a:ext uri="{FF2B5EF4-FFF2-40B4-BE49-F238E27FC236}">
                <a16:creationId id="{2D1D8F4F-0A9A-4132-AEF0-EDD23878CC9B}"/>
              </a:ext>
            </a:extLst>
          </p:cNvPr>
          <p:cNvSpPr>
            <a:spLocks/>
          </p:cNvSpPr>
          <p:nvPr/>
        </p:nvSpPr>
        <p:spPr>
          <a:xfrm>
            <a:off x="7372350" y="3652838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99" name="generated-right-capability-4-title">
            <a:extLst>
              <a:ext uri="{FF2B5EF4-FFF2-40B4-BE49-F238E27FC236}">
                <a16:creationId id="{A7D4301C-6937-4F9F-8035-C67F4869FBA9}"/>
              </a:ext>
            </a:extLst>
          </p:cNvPr>
          <p:cNvSpPr>
            <a:spLocks/>
          </p:cNvSpPr>
          <p:nvPr/>
        </p:nvSpPr>
        <p:spPr>
          <a:xfrm>
            <a:off x="7724775" y="3629025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隔离执行与动作治理</a:t>
            </a:r>
          </a:p>
        </p:txBody>
      </p:sp>
      <p:sp>
        <p:nvSpPr>
          <p:cNvPr id="100" name="generated-right-capability-4-body">
            <a:extLst>
              <a:ext uri="{FF2B5EF4-FFF2-40B4-BE49-F238E27FC236}">
                <a16:creationId id="{4C86A12D-4BD5-4408-B0C2-4F5968775796}"/>
              </a:ext>
            </a:extLst>
          </p:cNvPr>
          <p:cNvSpPr>
            <a:spLocks/>
          </p:cNvSpPr>
          <p:nvPr/>
        </p:nvSpPr>
        <p:spPr>
          <a:xfrm>
            <a:off x="7724775" y="3876675"/>
            <a:ext cx="3924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367"/>
          </a:bodyPr>
          <a:lstStyle/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以动作白名单、作用域锁、临时身份、隔离工作区和回滚条件，</a:t>
            </a:r>
          </a:p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约束修改边界与异常退出。</a:t>
            </a:r>
          </a:p>
        </p:txBody>
      </p:sp>
      <p:sp>
        <p:nvSpPr>
          <p:cNvPr id="101" name="generated-right-assurance-group">
            <a:extLst>
              <a:ext uri="{FF2B5EF4-FFF2-40B4-BE49-F238E27FC236}">
                <a16:creationId id="{B5F2A99F-8926-4206-82B2-BC7152384C9E}"/>
              </a:ext>
            </a:extLst>
          </p:cNvPr>
          <p:cNvSpPr>
            <a:spLocks/>
          </p:cNvSpPr>
          <p:nvPr/>
        </p:nvSpPr>
        <p:spPr>
          <a:xfrm>
            <a:off x="7124700" y="4572000"/>
            <a:ext cx="4762500" cy="2095500"/>
          </a:xfrm>
          <a:prstGeom prst="roundRect">
            <a:avLst>
              <a:gd name="adj" fmla="val 5000"/>
            </a:avLst>
          </a:prstGeom>
          <a:solidFill>
            <a:srgbClr val="EAF8F7"/>
          </a:solidFill>
          <a:ln w="0">
            <a:solidFill>
              <a:srgbClr val="EAF8F7"/>
            </a:solidFill>
            <a:prstDash val="solid"/>
          </a:ln>
        </p:spPr>
      </p:sp>
      <p:sp>
        <p:nvSpPr>
          <p:cNvPr id="102" name="generated-right-assurance-label">
            <a:extLst>
              <a:ext uri="{FF2B5EF4-FFF2-40B4-BE49-F238E27FC236}">
                <a16:creationId id="{AE4766C0-447F-4E09-93F2-850C5A392CBC}"/>
              </a:ext>
            </a:extLst>
          </p:cNvPr>
          <p:cNvSpPr>
            <a:spLocks/>
          </p:cNvSpPr>
          <p:nvPr/>
        </p:nvSpPr>
        <p:spPr>
          <a:xfrm>
            <a:off x="7286625" y="46196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148" b="1">
                <a:solidFill>
                  <a:srgbClr val="1A9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1">
                <a:solidFill>
                  <a:srgbClr val="1A9A96"/>
                </a:solidFill>
                <a:latin typeface="Microsoft YaHei"/>
                <a:ea typeface="Microsoft YaHei"/>
                <a:cs typeface="Microsoft YaHei"/>
              </a:rPr>
              <a:t>可信验证层</a:t>
            </a:r>
          </a:p>
        </p:txBody>
      </p:sp>
      <p:sp>
        <p:nvSpPr>
          <p:cNvPr id="103" name="generated-right-capability-5-card">
            <a:extLst>
              <a:ext uri="{FF2B5EF4-FFF2-40B4-BE49-F238E27FC236}">
                <a16:creationId id="{D7BB42B7-C75A-4A28-9635-595409BAFF8C}"/>
              </a:ext>
            </a:extLst>
          </p:cNvPr>
          <p:cNvSpPr>
            <a:spLocks/>
          </p:cNvSpPr>
          <p:nvPr/>
        </p:nvSpPr>
        <p:spPr>
          <a:xfrm>
            <a:off x="7239000" y="4838700"/>
            <a:ext cx="453390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04" name="generated-right-capability-5-accent">
            <a:extLst>
              <a:ext uri="{FF2B5EF4-FFF2-40B4-BE49-F238E27FC236}">
                <a16:creationId id="{35001927-C23D-448F-B143-D11AFBAE0903}"/>
              </a:ext>
            </a:extLst>
          </p:cNvPr>
          <p:cNvSpPr>
            <a:spLocks/>
          </p:cNvSpPr>
          <p:nvPr/>
        </p:nvSpPr>
        <p:spPr>
          <a:xfrm>
            <a:off x="7239000" y="4838700"/>
            <a:ext cx="47625" cy="819150"/>
          </a:xfrm>
          <a:prstGeom prst="roundRect">
            <a:avLst>
              <a:gd name="adj" fmla="val 50000"/>
            </a:avLst>
          </a:prstGeom>
          <a:solidFill>
            <a:srgbClr val="1A9A96"/>
          </a:solidFill>
          <a:ln w="0">
            <a:solidFill>
              <a:srgbClr val="1A9A96"/>
            </a:solidFill>
            <a:prstDash val="solid"/>
          </a:ln>
        </p:spPr>
      </p:sp>
      <p:sp>
        <p:nvSpPr>
          <p:cNvPr id="105" name="generated-right-capability-5-number-circle">
            <a:extLst>
              <a:ext uri="{FF2B5EF4-FFF2-40B4-BE49-F238E27FC236}">
                <a16:creationId id="{164768CA-A856-4C33-9EB8-6F7E13761997}"/>
              </a:ext>
            </a:extLst>
          </p:cNvPr>
          <p:cNvSpPr>
            <a:spLocks/>
          </p:cNvSpPr>
          <p:nvPr/>
        </p:nvSpPr>
        <p:spPr>
          <a:xfrm>
            <a:off x="7372350" y="4943475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106" name="generated-right-capability-5-number">
            <a:extLst>
              <a:ext uri="{FF2B5EF4-FFF2-40B4-BE49-F238E27FC236}">
                <a16:creationId id="{48DA51CD-0CCE-49ED-958E-014A8B774A51}"/>
              </a:ext>
            </a:extLst>
          </p:cNvPr>
          <p:cNvSpPr>
            <a:spLocks/>
          </p:cNvSpPr>
          <p:nvPr/>
        </p:nvSpPr>
        <p:spPr>
          <a:xfrm>
            <a:off x="7372350" y="4938713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107" name="generated-right-capability-5-title">
            <a:extLst>
              <a:ext uri="{FF2B5EF4-FFF2-40B4-BE49-F238E27FC236}">
                <a16:creationId id="{AFF49E5D-8005-4B52-AD6D-335A21BADE79}"/>
              </a:ext>
            </a:extLst>
          </p:cNvPr>
          <p:cNvSpPr>
            <a:spLocks/>
          </p:cNvSpPr>
          <p:nvPr/>
        </p:nvSpPr>
        <p:spPr>
          <a:xfrm>
            <a:off x="7724775" y="4914900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独立验证与凭证式写回</a:t>
            </a:r>
          </a:p>
        </p:txBody>
      </p:sp>
      <p:sp>
        <p:nvSpPr>
          <p:cNvPr id="108" name="generated-right-capability-5-body">
            <a:extLst>
              <a:ext uri="{FF2B5EF4-FFF2-40B4-BE49-F238E27FC236}">
                <a16:creationId id="{E5D6CD3F-35D7-4C91-81CA-1F8FAE871823}"/>
              </a:ext>
            </a:extLst>
          </p:cNvPr>
          <p:cNvSpPr>
            <a:spLocks/>
          </p:cNvSpPr>
          <p:nvPr/>
        </p:nvSpPr>
        <p:spPr>
          <a:xfrm>
            <a:off x="7724775" y="5162550"/>
            <a:ext cx="3924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53"/>
          </a:bodyPr>
          <a:lstStyle/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独立 Oracle 重跑原任务、Required Checks 与 Scan/Policy；</a:t>
            </a:r>
          </a:p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仅绑定同一对象的有效验证凭证放行写回。</a:t>
            </a:r>
          </a:p>
        </p:txBody>
      </p:sp>
      <p:sp>
        <p:nvSpPr>
          <p:cNvPr id="109" name="generated-right-capability-6-card">
            <a:extLst>
              <a:ext uri="{FF2B5EF4-FFF2-40B4-BE49-F238E27FC236}">
                <a16:creationId id="{4A84B526-19FB-4E9A-A2A2-9D8E6DEF0F02}"/>
              </a:ext>
            </a:extLst>
          </p:cNvPr>
          <p:cNvSpPr>
            <a:spLocks/>
          </p:cNvSpPr>
          <p:nvPr/>
        </p:nvSpPr>
        <p:spPr>
          <a:xfrm>
            <a:off x="7239000" y="5743575"/>
            <a:ext cx="4533900" cy="819150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0" name="generated-right-capability-6-accent">
            <a:extLst>
              <a:ext uri="{FF2B5EF4-FFF2-40B4-BE49-F238E27FC236}">
                <a16:creationId id="{E0A1E0C7-67DB-41D9-9769-D45FE7BBF93C}"/>
              </a:ext>
            </a:extLst>
          </p:cNvPr>
          <p:cNvSpPr>
            <a:spLocks/>
          </p:cNvSpPr>
          <p:nvPr/>
        </p:nvSpPr>
        <p:spPr>
          <a:xfrm>
            <a:off x="7239000" y="5743575"/>
            <a:ext cx="47625" cy="819150"/>
          </a:xfrm>
          <a:prstGeom prst="roundRect">
            <a:avLst>
              <a:gd name="adj" fmla="val 50000"/>
            </a:avLst>
          </a:prstGeom>
          <a:solidFill>
            <a:srgbClr val="1A9A96"/>
          </a:solidFill>
          <a:ln w="0">
            <a:solidFill>
              <a:srgbClr val="1A9A96"/>
            </a:solidFill>
            <a:prstDash val="solid"/>
          </a:ln>
        </p:spPr>
      </p:sp>
      <p:sp>
        <p:nvSpPr>
          <p:cNvPr id="111" name="generated-right-capability-6-number-circle">
            <a:extLst>
              <a:ext uri="{FF2B5EF4-FFF2-40B4-BE49-F238E27FC236}">
                <a16:creationId id="{6180355E-A91E-41A2-A0AA-E410D487454D}"/>
              </a:ext>
            </a:extLst>
          </p:cNvPr>
          <p:cNvSpPr>
            <a:spLocks/>
          </p:cNvSpPr>
          <p:nvPr/>
        </p:nvSpPr>
        <p:spPr>
          <a:xfrm>
            <a:off x="7372350" y="5848350"/>
            <a:ext cx="238125" cy="2381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solid"/>
          </a:ln>
        </p:spPr>
      </p:sp>
      <p:sp>
        <p:nvSpPr>
          <p:cNvPr id="112" name="generated-right-capability-6-number">
            <a:extLst>
              <a:ext uri="{FF2B5EF4-FFF2-40B4-BE49-F238E27FC236}">
                <a16:creationId id="{886ED046-731F-4A57-BEF7-A2CF4C3AFE80}"/>
              </a:ext>
            </a:extLst>
          </p:cNvPr>
          <p:cNvSpPr>
            <a:spLocks/>
          </p:cNvSpPr>
          <p:nvPr/>
        </p:nvSpPr>
        <p:spPr>
          <a:xfrm>
            <a:off x="7372350" y="5843588"/>
            <a:ext cx="238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  <a:def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defRPr>
            </a:pPr>
            <a:r>
              <a:rPr sz="863" b="1">
                <a:solidFill>
                  <a:srgbClr val="C00000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113" name="generated-right-capability-6-title">
            <a:extLst>
              <a:ext uri="{FF2B5EF4-FFF2-40B4-BE49-F238E27FC236}">
                <a16:creationId id="{C13335BF-3EF9-4CCD-BAFF-6A70FA67100E}"/>
              </a:ext>
            </a:extLst>
          </p:cNvPr>
          <p:cNvSpPr>
            <a:spLocks/>
          </p:cNvSpPr>
          <p:nvPr/>
        </p:nvSpPr>
        <p:spPr>
          <a:xfrm>
            <a:off x="7724775" y="5819775"/>
            <a:ext cx="3924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运行反馈与规则沉淀</a:t>
            </a:r>
          </a:p>
        </p:txBody>
      </p:sp>
      <p:sp>
        <p:nvSpPr>
          <p:cNvPr id="114" name="generated-right-capability-6-body">
            <a:extLst>
              <a:ext uri="{FF2B5EF4-FFF2-40B4-BE49-F238E27FC236}">
                <a16:creationId id="{55399FA7-0E89-4747-BE0E-61F0FADC7C2D}"/>
              </a:ext>
            </a:extLst>
          </p:cNvPr>
          <p:cNvSpPr>
            <a:spLocks/>
          </p:cNvSpPr>
          <p:nvPr/>
        </p:nvSpPr>
        <p:spPr>
          <a:xfrm>
            <a:off x="7724775" y="6067425"/>
            <a:ext cx="3924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沉淀指纹、路径、诊断与验证证据，将稳定高频模式经审核</a:t>
            </a:r>
          </a:p>
          <a:p>
            <a:pPr algn="l">
              <a:lnSpc>
                <a:spcPct val="105000"/>
              </a:lnSpc>
              <a:buNone/>
              <a:def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8" b="0">
                <a:solidFill>
                  <a:srgbClr val="53667A"/>
                </a:solidFill>
                <a:latin typeface="Microsoft YaHei"/>
                <a:ea typeface="Microsoft YaHei"/>
                <a:cs typeface="Microsoft YaHei"/>
              </a:rPr>
              <a:t>固化为确定性规则或 Runbook。</a:t>
            </a:r>
          </a:p>
        </p:txBody>
      </p:sp>
    </p:spTree>
    <p:extLst>
      <p:ext uri="{BB962C8B-B14F-4D97-AF65-F5344CB8AC3E}">
        <p14:creationId val="1198625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2026-07-30T12:58:26.1520000Z</dcterms:created>
  <dcterms:modified xsi:type="dcterms:W3CDTF">2026-07-30T12:58:26.1520000Z</dcterms:modified>
</coreProperties>
</file>