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cd6ab2b03243bf" /><Relationship Type="http://schemas.openxmlformats.org/officeDocument/2006/relationships/extended-properties" Target="/docProps/app.xml" Id="Rd42cf68b72d54d9a" /><Relationship Type="http://schemas.openxmlformats.org/officeDocument/2006/relationships/officeDocument" Target="/ppt/presentation.xml" Id="Rb603800b5c1146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c71e05be04674"/>
  </p:sldMasterIdLst>
  <p:notesMasterIdLst>
    <p:notesMasterId xmlns:r="http://schemas.openxmlformats.org/officeDocument/2006/relationships" r:id="Rb1216ba2538248dc"/>
  </p:notesMasterIdLst>
  <p:sldIdLst>
    <p:sldId xmlns:r="http://schemas.openxmlformats.org/officeDocument/2006/relationships" id="256" r:id="R908de6ae873b4e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790a506a764119" /><Relationship Type="http://schemas.openxmlformats.org/officeDocument/2006/relationships/slideMaster" Target="/ppt/slideMasters/slideMaster1.xml" Id="Rb25c71e05be04674" /><Relationship Type="http://schemas.openxmlformats.org/officeDocument/2006/relationships/notesMaster" Target="/ppt/notesMasters/notesMaster1.xml" Id="Rb1216ba2538248dc" /><Relationship Type="http://schemas.openxmlformats.org/officeDocument/2006/relationships/presProps" Target="/ppt/presProps.xml" Id="R154ddded52bd425d" /><Relationship Type="http://schemas.openxmlformats.org/officeDocument/2006/relationships/viewProps" Target="/ppt/viewProps.xml" Id="R4717dcd4451b4ce9" /><Relationship Type="http://schemas.openxmlformats.org/officeDocument/2006/relationships/tableStyles" Target="/ppt/tableStyles.xml" Id="R790a80fbf3ca46f2" /><Relationship Type="http://schemas.openxmlformats.org/officeDocument/2006/relationships/slide" Target="/ppt/slides/slide1.xml" Id="R908de6ae873b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74c32a24ce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e179a8fd2b4995" /><Relationship Type="http://schemas.openxmlformats.org/officeDocument/2006/relationships/notesMaster" Target="/ppt/notesMasters/notesMaster1.xml" Id="R84d4a1ce8a2e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[讲解主线]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决策不是“CLI 还是 MCP”的二选一，而是先判断能力复用半径，再判断写动作风险半径。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CLI 是进程级执行契约：适合单 Harness、本地或隔离 Runner、已有成熟命令、需要锁版本和复验的任务。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MCP 是跨 Host 互操作层：适合多个 Agent 客户端复用同一远程能力、工具目录、上下文和认证入口。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组合路线没有强制上下位关系：MCP Server 可以调用 API、SDK 或 CLI；Agent CLI 也可以完全不经 MCP 直接运行命令。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[逐主张事实审计]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“组合而非替代”：GitHub Copilot CLI（GA）同时保留直接 Shell 与内建/自定义 MCP；OpenAI Codex CLI、Anthropic Claude Code 也都能从 CLI 配置 local stdio / remote MCP。该判断是跨产品架构归纳，不是协议强制规定。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“CLI 的局部执行价值”：Codex exec 面向脚本/CI并提供 JSONL、JSON Schema；Terraform 将 Plan 与 Apply 分离并支持机器输出。低适配、易调试/重放是基于进程模型的分析推断，不是厂商横向测量。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“MCP 的跨客户端价值”：当前 latest 在访问时仍指向 2025-11-25 规范；规范定义 Host/Client/Server、JSON-RPC、能力协商与 Tools/Resources/Prompts。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“接口不等于授权”：Kubernetes API server 在认证后按策略裁决请求；Copilot CLI 将工具可见性与 allow/deny 权限分离；Terraform 建议生产变更保留 Plan 审阅/批准。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[状态与边界]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as_of / accessed_at: 2026-07-28。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“业界主流”仅指 OpenAI、Anthropic、GitHub 等独立 Agent CLI 与 HashiCorp、Kubernetes 等工程生态出现同构机制；不代表市场份额、企业采用率或 CI/CD 成功率。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GitHub Copilot CLI：GA（2026-02-25）；2026-06-23 是新终端界面 GA，不应与产品整体 GA 日期混淆。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MCP current latest at access：2025-11-25；2026-07-28 新版本在核验时仍处于 RC / 最终切换待确认，不在本页写成已发布最终版。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Codex CLI / MCP、Terraform CLI / MCP 文档页未给出可直接对应的单项 GA / Preview 标签，因此不自行补生命周期。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CLI-Anything 论文（arXiv:2606.03854v1，2026-06-02）证明“接口工厂”研究路线存在；其 Codex 集成为 Experimental / Community，不作为本页主流案例。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CLI / MCP 都不能替代明确 Target、任务身份、后端 RBAC / Policy、Test / Scan / Signature / SLO、Approval、审计和回退。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[Sources]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GitHub Copilot CLI GA (2026-02-25): https://github.blog/changelog/2026-02-25-github-copilot-cli-is-now-generally-available/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GitHub Copilot CLI overview / Shell / MCP: https://docs.github.com/en/copilot/how-tos/copilot-cli/use-copilot-cli/overview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GitHub allow/deny tools: https://docs.github.com/en/copilot/how-tos/copilot-cli/use-copilot-cli/allowing-tools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OpenAI Codex non-interactive mode: https://learn.chatgpt.com/docs/non-interactive-mode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OpenAI MCP for Codex: https://developers.openai.com/codex/mcp/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Anthropic Claude Code MCP: https://code.claude.com/docs/en/mcp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MCP Specification latest (redirected to 2025-11-25 at access): https://modelcontextprotocol.io/specification/latest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HashiCorp Terraform CLI overview: https://developer.hashicorp.com/terraform/cli/commands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HashiCorp Terraform automation / Plan approval: https://developer.hashicorp.com/terraform/tutorials/automation/automate-terraform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HashiCorp Terraform MCP Server: https://developer.hashicorp.com/terraform/mcp-server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Kubernetes Authorization: https://kubernetes.io/docs/reference/access-authn-authz/authorization/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CLI-Anything paper: https://arxiv.org/abs/2606.03854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bc04327ea445c" /></Relationships>
</file>

<file path=ppt/slideLayouts/slideLayout1.xml><?xml version="1.0" encoding="utf-8"?>
<p:sldLayout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文本">
            <a:extLst xmlns:a="http://schemas.openxmlformats.org/drawingml/2006/main">
              <a:ext uri="{FF2B5EF4-FFF2-40B4-BE49-F238E27FC236}">
                <a16:creationId xmlns:a16="http://schemas.microsoft.com/office/drawing/2014/main" id="{BD0EBEDB-61FF-40AA-9ED9-74B62025F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标题文本</a:t>
            </a:r>
          </a:p>
        </p:txBody>
      </p:sp>
      <p:sp>
        <p:nvSpPr>
          <p:cNvPr id="12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0A7B6DA1-5D35-40AA-9518-273C39C734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正文级别 1</a:t>
            </a:r>
          </a:p>
          <a:p xmlns:a="http://schemas.openxmlformats.org/drawingml/2006/main">
            <a:pPr lvl="1">
              <a:buNone/>
            </a:pPr>
            <a:r>
              <a:t>正文级别 2</a:t>
            </a:r>
          </a:p>
          <a:p xmlns:a="http://schemas.openxmlformats.org/drawingml/2006/main">
            <a:pPr lvl="2">
              <a:buNone/>
            </a:pPr>
            <a:r>
              <a:t>正文级别 3</a:t>
            </a:r>
          </a:p>
          <a:p xmlns:a="http://schemas.openxmlformats.org/drawingml/2006/main">
            <a:pPr lvl="3">
              <a:buNone/>
            </a:pPr>
            <a:r>
              <a:t>正文级别 4</a:t>
            </a:r>
          </a:p>
          <a:p xmlns:a="http://schemas.openxmlformats.org/drawingml/2006/main">
            <a:pPr lvl="4">
              <a:buNone/>
            </a:pPr>
            <a:r>
              <a:t>正文级别 5</a:t>
            </a:r>
          </a:p>
        </p:txBody>
      </p:sp>
      <p:sp>
        <p:nvSpPr>
          <p:cNvPr id="1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2865A8E1-EB43-4B07-9B4E-F3C1AC9C9B6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d1b309b27e4fe4" /><Relationship Type="http://schemas.openxmlformats.org/officeDocument/2006/relationships/slideLayout" Target="/ppt/slideLayouts/slideLayout1.xml" Id="Rc198a373259a470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文本">
            <a:extLst xmlns:a="http://schemas.openxmlformats.org/drawingml/2006/main">
              <a:ext uri="{FF2B5EF4-FFF2-40B4-BE49-F238E27FC236}">
                <a16:creationId xmlns:a16="http://schemas.microsoft.com/office/drawing/2014/main" id="{3F91E0AF-07BB-4F66-BCCB-C0E683DA8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79" y="708120"/>
            <a:ext cx="10971361" cy="2746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>标题文本</a:t>
            </a:r>
          </a:p>
        </p:txBody>
      </p:sp>
      <p:sp>
        <p:nvSpPr>
          <p:cNvPr id="3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02A64742-B8B6-4007-99C9-D0D9E67479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79" y="3364200"/>
            <a:ext cx="10971361" cy="4561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>正文级别 1</a:t>
            </a:r>
          </a:p>
          <a:p xmlns:a="http://schemas.openxmlformats.org/drawingml/2006/main">
            <a:pPr lvl="1">
              <a:buNone/>
            </a:pPr>
            <a:r>
              <a:t>正文级别 2</a:t>
            </a:r>
          </a:p>
          <a:p xmlns:a="http://schemas.openxmlformats.org/drawingml/2006/main">
            <a:pPr lvl="2">
              <a:buNone/>
            </a:pPr>
            <a:r>
              <a:t>正文级别 3</a:t>
            </a:r>
          </a:p>
          <a:p xmlns:a="http://schemas.openxmlformats.org/drawingml/2006/main">
            <a:pPr lvl="3">
              <a:buNone/>
            </a:pPr>
            <a:r>
              <a:t>正文级别 4</a:t>
            </a:r>
          </a:p>
          <a:p xmlns:a="http://schemas.openxmlformats.org/drawingml/2006/main">
            <a:pPr lvl="4">
              <a:buNone/>
            </a:pPr>
            <a:r>
              <a:t>正文级别 5</a:t>
            </a:r>
          </a:p>
        </p:txBody>
      </p:sp>
      <p:sp>
        <p:nvSpPr>
          <p:cNvPr id="4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05C6F902-AE1E-494E-968C-25BC45AACBC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8a373259a470d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c691503064f1b" /><Relationship Type="http://schemas.openxmlformats.org/officeDocument/2006/relationships/hyperlink" Target="https://learn.chatgpt.com/docs/non-interactive-mode" TargetMode="External" Id="R5b1f9793eda543b9" /><Relationship Type="http://schemas.openxmlformats.org/officeDocument/2006/relationships/hyperlink" Target="https://developer.hashicorp.com/terraform/cli/commands" TargetMode="External" Id="Reca22009aa204e22" /><Relationship Type="http://schemas.openxmlformats.org/officeDocument/2006/relationships/hyperlink" Target="https://kubernetes.io/docs/reference/access-authn-authz/authorization/" TargetMode="External" Id="R00e88da80df64a7b" /><Relationship Type="http://schemas.openxmlformats.org/officeDocument/2006/relationships/hyperlink" Target="https://modelcontextprotocol.io/specification/latest" TargetMode="External" Id="R6bcbc525ecba4b69" /><Relationship Type="http://schemas.openxmlformats.org/officeDocument/2006/relationships/hyperlink" Target="https://code.claude.com/docs/en/mcp" TargetMode="External" Id="Racfa3c360a994216" /><Relationship Type="http://schemas.openxmlformats.org/officeDocument/2006/relationships/hyperlink" Target="https://github.blog/changelog/2026-02-25-github-copilot-cli-is-now-generally-available/" TargetMode="External" Id="Rbe033198126945d8" /><Relationship Type="http://schemas.openxmlformats.org/officeDocument/2006/relationships/hyperlink" Target="https://developer.hashicorp.com/terraform/mcp-server" TargetMode="External" Id="R07678ca85be543ce" /><Relationship Type="http://schemas.openxmlformats.org/officeDocument/2006/relationships/hyperlink" Target="https://docs.github.com/en/copilot/how-tos/copilot-cli/use-copilot-cli/allowing-tools" TargetMode="External" Id="R613b5c9ca3764a9e" /><Relationship Type="http://schemas.openxmlformats.org/officeDocument/2006/relationships/hyperlink" Target="https://developer.hashicorp.com/terraform/cli/commands" TargetMode="External" Id="Rd564bfe647794158" /><Relationship Type="http://schemas.openxmlformats.org/officeDocument/2006/relationships/notesSlide" Target="/ppt/notesSlides/notesSlide1.xml" Id="R6273448986ea4b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157ED9-752D-434F-8686-A6964D8A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51" y="261025"/>
            <a:ext cx="10943618" cy="4191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lvl1pPr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2400" b="1">
                <a:solidFill>
                  <a:srgbClr val="C90000"/>
                </a:solidFill>
                <a:latin typeface="Microsoft YaHei"/>
                <a:ea typeface="Microsoft YaHei"/>
                <a:cs typeface="Microsoft YaHei"/>
              </a:rPr>
              <a:t>CLI 保留受控执行，MCP 统一跨 Agent 接入：二者组合，而非替代</a:t>
            </a:r>
          </a:p>
        </p:txBody>
      </p:sp>
      <p:sp>
        <p:nvSpPr>
          <p:cNvPr id="23" name="flow-label">
            <a:extLst xmlns:a="http://schemas.openxmlformats.org/drawingml/2006/main">
              <a:ext uri="{FF2B5EF4-FFF2-40B4-BE49-F238E27FC236}">
                <a16:creationId xmlns:a16="http://schemas.microsoft.com/office/drawing/2014/main" id="{3D2F9CF1-0158-4409-B382-F390D641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20" y="822689"/>
            <a:ext cx="4004280" cy="3567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100000"/>
          </a:bodyPr>
          <a:lstStyle xmlns:a="http://schemas.openxmlformats.org/drawingml/2006/main">
            <a:lvl1pPr>
              <a:buNone/>
              <a:defRPr sz="1500" b="1"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Agentic CI/CD：接口复用 × 风险治理</a:t>
            </a:r>
          </a:p>
        </p:txBody>
      </p:sp>
      <p:sp>
        <p:nvSpPr>
          <p:cNvPr id="24" name="nx-stage-1">
            <a:extLst xmlns:a="http://schemas.openxmlformats.org/drawingml/2006/main">
              <a:ext uri="{FF2B5EF4-FFF2-40B4-BE49-F238E27FC236}">
                <a16:creationId xmlns:a16="http://schemas.microsoft.com/office/drawing/2014/main" id="{FEB0DBCB-756E-41D4-9C2D-54236CCA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20" y="1571759"/>
            <a:ext cx="1694160" cy="722521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3334">
            <a:solidFill>
              <a:srgbClr val="087F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nx-stage-1-title">
            <a:extLst xmlns:a="http://schemas.openxmlformats.org/drawingml/2006/main">
              <a:ext uri="{FF2B5EF4-FFF2-40B4-BE49-F238E27FC236}">
                <a16:creationId xmlns:a16="http://schemas.microsoft.com/office/drawing/2014/main" id="{5A94391B-8C17-42C5-AE8C-9BB9643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45" y="1612180"/>
            <a:ext cx="1265400" cy="4318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14D"/>
                </a:solidFill>
                <a:latin typeface="Microsoft YaHei"/>
                <a:ea typeface="Microsoft YaHei"/>
                <a:cs typeface="Microsoft YaHei"/>
              </a:rPr>
              <a:t>任务运行位置</a:t>
            </a:r>
          </a:p>
        </p:txBody>
      </p:sp>
      <p:sp>
        <p:nvSpPr>
          <p:cNvPr id="26" name="nx-stage-1-detail">
            <a:extLst xmlns:a="http://schemas.openxmlformats.org/drawingml/2006/main">
              <a:ext uri="{FF2B5EF4-FFF2-40B4-BE49-F238E27FC236}">
                <a16:creationId xmlns:a16="http://schemas.microsoft.com/office/drawing/2014/main" id="{823256F3-CFF7-4B8E-B845-41EE142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40" y="2055938"/>
            <a:ext cx="1413361" cy="21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2595"/>
          </a:bodyPr>
          <a:lstStyle xmlns:a="http://schemas.openxmlformats.org/drawingml/2006/main">
            <a:lvl1pPr algn="ctr">
              <a:buNone/>
              <a:defRPr sz="8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900">
                <a:solidFill>
                  <a:srgbClr val="416174"/>
                </a:solidFill>
                <a:latin typeface="Arial"/>
                <a:ea typeface="Arial"/>
                <a:cs typeface="Arial"/>
              </a:rPr>
              <a:t>Local · CI Runner · Remote</a:t>
            </a:r>
          </a:p>
        </p:txBody>
      </p:sp>
      <p:sp>
        <p:nvSpPr>
          <p:cNvPr id="27" name="nx-stage-2">
            <a:extLst xmlns:a="http://schemas.openxmlformats.org/drawingml/2006/main">
              <a:ext uri="{FF2B5EF4-FFF2-40B4-BE49-F238E27FC236}">
                <a16:creationId xmlns:a16="http://schemas.microsoft.com/office/drawing/2014/main" id="{277300F9-3584-43C0-9A9A-96387E6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200" y="1571759"/>
            <a:ext cx="1389241" cy="722521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17145">
            <a:solidFill>
              <a:srgbClr val="087F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8" name="nx-stage-2-title">
            <a:extLst xmlns:a="http://schemas.openxmlformats.org/drawingml/2006/main">
              <a:ext uri="{FF2B5EF4-FFF2-40B4-BE49-F238E27FC236}">
                <a16:creationId xmlns:a16="http://schemas.microsoft.com/office/drawing/2014/main" id="{340E2C6B-DAAF-4C54-B3A8-79CD5B24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580" y="1617632"/>
            <a:ext cx="960481" cy="4064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935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14D"/>
                </a:solidFill>
                <a:latin typeface="Microsoft YaHei"/>
                <a:ea typeface="Microsoft YaHei"/>
                <a:cs typeface="Microsoft YaHei"/>
              </a:rPr>
              <a:t>复用半径判断</a:t>
            </a:r>
          </a:p>
        </p:txBody>
      </p:sp>
      <p:sp>
        <p:nvSpPr>
          <p:cNvPr id="29" name="nx-stage-2-detail">
            <a:extLst xmlns:a="http://schemas.openxmlformats.org/drawingml/2006/main">
              <a:ext uri="{FF2B5EF4-FFF2-40B4-BE49-F238E27FC236}">
                <a16:creationId xmlns:a16="http://schemas.microsoft.com/office/drawing/2014/main" id="{FF44578B-9FB0-4335-A07D-2605B42D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419" y="2043771"/>
            <a:ext cx="1108801" cy="30335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83333"/>
          </a:bodyPr>
          <a:lstStyle xmlns:a="http://schemas.openxmlformats.org/drawingml/2006/main">
            <a:lvl1pPr algn="ctr">
              <a:buNone/>
              <a:defRPr sz="7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840">
                <a:solidFill>
                  <a:srgbClr val="416174"/>
                </a:solidFill>
                <a:latin typeface="Arial"/>
                <a:ea typeface="Arial"/>
                <a:cs typeface="Arial"/>
              </a:rPr>
              <a:t>Single Harness ↔ Multi-client</a:t>
            </a:r>
          </a:p>
        </p:txBody>
      </p:sp>
      <p:sp>
        <p:nvSpPr>
          <p:cNvPr id="30" name="nx-stage-3">
            <a:extLst xmlns:a="http://schemas.openxmlformats.org/drawingml/2006/main">
              <a:ext uri="{FF2B5EF4-FFF2-40B4-BE49-F238E27FC236}">
                <a16:creationId xmlns:a16="http://schemas.microsoft.com/office/drawing/2014/main" id="{B6B8E8FE-D1F5-46E5-8CF7-941C3D52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679" y="1571759"/>
            <a:ext cx="1474921" cy="722521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17145">
            <a:solidFill>
              <a:srgbClr val="087F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1" name="nx-stage-3-title">
            <a:extLst xmlns:a="http://schemas.openxmlformats.org/drawingml/2006/main">
              <a:ext uri="{FF2B5EF4-FFF2-40B4-BE49-F238E27FC236}">
                <a16:creationId xmlns:a16="http://schemas.microsoft.com/office/drawing/2014/main" id="{58CDE1F1-A99E-446F-9E57-83CAF62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149" y="1602282"/>
            <a:ext cx="1046161" cy="4064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14D"/>
                </a:solidFill>
                <a:latin typeface="Microsoft YaHei"/>
                <a:ea typeface="Microsoft YaHei"/>
                <a:cs typeface="Microsoft YaHei"/>
              </a:rPr>
              <a:t>接口选择</a:t>
            </a:r>
          </a:p>
        </p:txBody>
      </p:sp>
      <p:sp>
        <p:nvSpPr>
          <p:cNvPr id="32" name="nx-stage-3-detail">
            <a:extLst xmlns:a="http://schemas.openxmlformats.org/drawingml/2006/main">
              <a:ext uri="{FF2B5EF4-FFF2-40B4-BE49-F238E27FC236}">
                <a16:creationId xmlns:a16="http://schemas.microsoft.com/office/drawing/2014/main" id="{98D813B3-5C25-4CD8-ABBE-7605D4BD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899" y="2019599"/>
            <a:ext cx="1194482" cy="21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2595"/>
          </a:bodyPr>
          <a:lstStyle xmlns:a="http://schemas.openxmlformats.org/drawingml/2006/main">
            <a:lvl1pPr algn="ctr">
              <a:buNone/>
              <a:defRPr sz="8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900">
                <a:solidFill>
                  <a:srgbClr val="416174"/>
                </a:solidFill>
                <a:latin typeface="Arial"/>
                <a:ea typeface="Arial"/>
                <a:cs typeface="Arial"/>
              </a:rPr>
              <a:t>CLI · MCP · Hybrid</a:t>
            </a:r>
          </a:p>
        </p:txBody>
      </p:sp>
      <p:sp>
        <p:nvSpPr>
          <p:cNvPr id="33" name="nx-stage-4">
            <a:extLst xmlns:a="http://schemas.openxmlformats.org/drawingml/2006/main">
              <a:ext uri="{FF2B5EF4-FFF2-40B4-BE49-F238E27FC236}">
                <a16:creationId xmlns:a16="http://schemas.microsoft.com/office/drawing/2014/main" id="{248E2676-458D-4431-82EB-65297A83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480" y="1571759"/>
            <a:ext cx="1474920" cy="722521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3334">
            <a:solidFill>
              <a:srgbClr val="087F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4" name="nx-stage-4-title">
            <a:extLst xmlns:a="http://schemas.openxmlformats.org/drawingml/2006/main">
              <a:ext uri="{FF2B5EF4-FFF2-40B4-BE49-F238E27FC236}">
                <a16:creationId xmlns:a16="http://schemas.microsoft.com/office/drawing/2014/main" id="{094942D5-C9DF-41B1-9A43-ABBA89C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33" y="1600753"/>
            <a:ext cx="1046161" cy="4064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14D"/>
                </a:solidFill>
                <a:latin typeface="Microsoft YaHei"/>
                <a:ea typeface="Microsoft YaHei"/>
                <a:cs typeface="Microsoft YaHei"/>
              </a:rPr>
              <a:t>执行边界</a:t>
            </a:r>
          </a:p>
        </p:txBody>
      </p:sp>
      <p:sp>
        <p:nvSpPr>
          <p:cNvPr id="35" name="nx-stage-4-detail">
            <a:extLst xmlns:a="http://schemas.openxmlformats.org/drawingml/2006/main">
              <a:ext uri="{FF2B5EF4-FFF2-40B4-BE49-F238E27FC236}">
                <a16:creationId xmlns:a16="http://schemas.microsoft.com/office/drawing/2014/main" id="{DDF06B3D-A7C2-4313-A1E1-847D667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519" y="2054920"/>
            <a:ext cx="1284481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lvl1pPr algn="ctr">
              <a:buNone/>
              <a:defRPr sz="80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840">
                <a:solidFill>
                  <a:srgbClr val="416174"/>
                </a:solidFill>
                <a:latin typeface="Arial"/>
                <a:ea typeface="Arial"/>
                <a:cs typeface="Arial"/>
              </a:rPr>
              <a:t>Identity · Allow/Deny · Sandbox</a:t>
            </a:r>
          </a:p>
        </p:txBody>
      </p:sp>
      <p:sp>
        <p:nvSpPr>
          <p:cNvPr id="36" name="nx-stage-5">
            <a:extLst xmlns:a="http://schemas.openxmlformats.org/drawingml/2006/main">
              <a:ext uri="{FF2B5EF4-FFF2-40B4-BE49-F238E27FC236}">
                <a16:creationId xmlns:a16="http://schemas.microsoft.com/office/drawing/2014/main" id="{42A9A4A7-537C-40B9-AC12-6D02A28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80" y="1571759"/>
            <a:ext cx="1427401" cy="722521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17145">
            <a:solidFill>
              <a:srgbClr val="087F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7" name="nx-stage-5-title">
            <a:extLst xmlns:a="http://schemas.openxmlformats.org/drawingml/2006/main">
              <a:ext uri="{FF2B5EF4-FFF2-40B4-BE49-F238E27FC236}">
                <a16:creationId xmlns:a16="http://schemas.microsoft.com/office/drawing/2014/main" id="{A6CA8244-5033-4A35-86BE-9B35AE11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519" y="1601419"/>
            <a:ext cx="1078201" cy="471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14D"/>
                </a:solidFill>
                <a:latin typeface="Microsoft YaHei"/>
                <a:ea typeface="Microsoft YaHei"/>
                <a:cs typeface="Microsoft YaHei"/>
              </a:rPr>
              <a:t>外部接受门</a:t>
            </a:r>
          </a:p>
        </p:txBody>
      </p:sp>
      <p:sp>
        <p:nvSpPr>
          <p:cNvPr id="38" name="nx-stage-5-detail">
            <a:extLst xmlns:a="http://schemas.openxmlformats.org/drawingml/2006/main">
              <a:ext uri="{FF2B5EF4-FFF2-40B4-BE49-F238E27FC236}">
                <a16:creationId xmlns:a16="http://schemas.microsoft.com/office/drawing/2014/main" id="{C59743B3-5C96-4C09-9E3C-92DF7462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499" y="2019599"/>
            <a:ext cx="1146962" cy="2932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0512"/>
          </a:bodyPr>
          <a:lstStyle xmlns:a="http://schemas.openxmlformats.org/drawingml/2006/main">
            <a:lvl1pPr algn="ctr">
              <a:buNone/>
              <a:defRPr sz="7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900">
                <a:solidFill>
                  <a:srgbClr val="416174"/>
                </a:solidFill>
                <a:latin typeface="Arial"/>
                <a:ea typeface="Arial"/>
                <a:cs typeface="Arial"/>
              </a:rPr>
              <a:t>Test · Policy · Approval</a:t>
            </a:r>
          </a:p>
        </p:txBody>
      </p:sp>
      <p:sp>
        <p:nvSpPr>
          <p:cNvPr id="39" name="nx-stage-6">
            <a:extLst xmlns:a="http://schemas.openxmlformats.org/drawingml/2006/main">
              <a:ext uri="{FF2B5EF4-FFF2-40B4-BE49-F238E27FC236}">
                <a16:creationId xmlns:a16="http://schemas.microsoft.com/office/drawing/2014/main" id="{8CB75DD7-00D9-43F3-8851-EC08BD0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59" y="1571759"/>
            <a:ext cx="2703601" cy="722521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3334">
            <a:solidFill>
              <a:srgbClr val="087F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0" name="nx-stage-6-title">
            <a:extLst xmlns:a="http://schemas.openxmlformats.org/drawingml/2006/main">
              <a:ext uri="{FF2B5EF4-FFF2-40B4-BE49-F238E27FC236}">
                <a16:creationId xmlns:a16="http://schemas.microsoft.com/office/drawing/2014/main" id="{BD3BCEC4-79C7-4314-8F7C-05396116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919" y="1726480"/>
            <a:ext cx="2275201" cy="2032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normAutofit fontScale="98766"/>
          </a:bodyPr>
          <a:lstStyle xmlns:a="http://schemas.openxmlformats.org/drawingml/2006/main">
            <a:lvl1pPr algn="ctr">
              <a:buNone/>
              <a:defRPr sz="1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1350" b="1">
                <a:solidFill>
                  <a:srgbClr val="17314D"/>
                </a:solidFill>
                <a:latin typeface="Microsoft YaHei"/>
                <a:ea typeface="Microsoft YaHei"/>
                <a:cs typeface="Microsoft YaHei"/>
              </a:rPr>
              <a:t>证据、审计与退出</a:t>
            </a:r>
          </a:p>
        </p:txBody>
      </p:sp>
      <p:sp>
        <p:nvSpPr>
          <p:cNvPr id="41" name="nx-stage-6-detail">
            <a:extLst xmlns:a="http://schemas.openxmlformats.org/drawingml/2006/main">
              <a:ext uri="{FF2B5EF4-FFF2-40B4-BE49-F238E27FC236}">
                <a16:creationId xmlns:a16="http://schemas.microsoft.com/office/drawing/2014/main" id="{1E652F90-CE5C-40B3-A041-97C5443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780" y="2039940"/>
            <a:ext cx="2423161" cy="217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2595"/>
          </a:bodyPr>
          <a:lstStyle xmlns:a="http://schemas.openxmlformats.org/drawingml/2006/main">
            <a:lvl1pPr algn="ctr">
              <a:buNone/>
              <a:defRPr sz="80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900">
                <a:solidFill>
                  <a:srgbClr val="416174"/>
                </a:solidFill>
                <a:latin typeface="Arial"/>
                <a:ea typeface="Arial"/>
                <a:cs typeface="Arial"/>
              </a:rPr>
              <a:t>Artifact · Audit · Revoke</a:t>
            </a:r>
          </a:p>
        </p:txBody>
      </p:sp>
      <p:sp>
        <p:nvSpPr>
          <p:cNvPr id="42" name="nx-flaky-route">
            <a:extLst xmlns:a="http://schemas.openxmlformats.org/drawingml/2006/main">
              <a:ext uri="{FF2B5EF4-FFF2-40B4-BE49-F238E27FC236}">
                <a16:creationId xmlns:a16="http://schemas.microsoft.com/office/drawing/2014/main" id="{61163B47-9DA9-4D05-AD19-C366160D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679" y="1200240"/>
            <a:ext cx="2361210" cy="293761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3" name="nx-flaky-route-text">
            <a:extLst xmlns:a="http://schemas.openxmlformats.org/drawingml/2006/main">
              <a:ext uri="{FF2B5EF4-FFF2-40B4-BE49-F238E27FC236}">
                <a16:creationId xmlns:a16="http://schemas.microsoft.com/office/drawing/2014/main" id="{930691E4-E225-43B9-ABB0-6ADFD7B1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225" y="1248455"/>
            <a:ext cx="1851841" cy="23011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8017"/>
          </a:bodyPr>
          <a:lstStyle xmlns:a="http://schemas.openxmlformats.org/drawingml/2006/main">
            <a:lvl1pPr algn="ctr">
              <a:buNone/>
              <a:defRPr sz="8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938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Multi-client / Remote → MCP</a:t>
            </a:r>
          </a:p>
        </p:txBody>
      </p:sp>
      <p:sp>
        <p:nvSpPr>
          <p:cNvPr id="44" name="nx-stop-route">
            <a:extLst xmlns:a="http://schemas.openxmlformats.org/drawingml/2006/main">
              <a:ext uri="{FF2B5EF4-FFF2-40B4-BE49-F238E27FC236}">
                <a16:creationId xmlns:a16="http://schemas.microsoft.com/office/drawing/2014/main" id="{10B0D2C9-8F22-40E4-9B06-B7C73A8A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81" y="2422729"/>
            <a:ext cx="2246402" cy="299952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DE9"/>
          </a:solidFill>
          <a:ln xmlns:a="http://schemas.openxmlformats.org/drawingml/2006/main" w="11430">
            <a:solidFill>
              <a:srgbClr val="8A4B3A"/>
            </a:solidFill>
            <a:prstDash val="dash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5" name="nx-stop-route-text">
            <a:extLst xmlns:a="http://schemas.openxmlformats.org/drawingml/2006/main">
              <a:ext uri="{FF2B5EF4-FFF2-40B4-BE49-F238E27FC236}">
                <a16:creationId xmlns:a16="http://schemas.microsoft.com/office/drawing/2014/main" id="{990E403C-9303-4BB8-98DF-D9DDA2BD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942" y="2470249"/>
            <a:ext cx="2004121" cy="23011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8016"/>
          </a:bodyPr>
          <a:lstStyle xmlns:a="http://schemas.openxmlformats.org/drawingml/2006/main">
            <a:lvl1pPr algn="ctr">
              <a:buNone/>
              <a:defRPr sz="800" b="1">
                <a:solidFill>
                  <a:srgbClr val="8A4B3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938" b="1">
                <a:solidFill>
                  <a:srgbClr val="9A4E38"/>
                </a:solidFill>
                <a:latin typeface="Arial"/>
                <a:ea typeface="Arial"/>
                <a:cs typeface="Arial"/>
              </a:rPr>
              <a:t>Local / Runner → CLI</a:t>
            </a:r>
          </a:p>
        </p:txBody>
      </p:sp>
      <p:cxnSp>
        <p:nvCxnSpPr>
          <p:cNvPr id="143" name="直线箭头连接符 44"/>
          <p:cNvCxnSpPr/>
          <p:nvPr/>
        </p:nvCxnSpPr>
        <p:spPr>
          <a:xfrm xmlns:a="http://schemas.openxmlformats.org/drawingml/2006/main">
            <a:off x="2227680" y="1933199"/>
            <a:ext cx="1918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tailEnd type="triangle"/>
          </a:ln>
        </p:spPr>
      </p:cxnSp>
      <p:cxnSp>
        <p:nvCxnSpPr>
          <p:cNvPr id="144" name="直线箭头连接符 45"/>
          <p:cNvCxnSpPr/>
          <p:nvPr/>
        </p:nvCxnSpPr>
        <p:spPr>
          <a:xfrm xmlns:a="http://schemas.openxmlformats.org/drawingml/2006/main">
            <a:off x="3808440" y="1933199"/>
            <a:ext cx="1926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tailEnd type="triangle"/>
          </a:ln>
        </p:spPr>
      </p:cxnSp>
      <p:cxnSp>
        <p:nvCxnSpPr>
          <p:cNvPr id="145" name="直线箭头连接符 46"/>
          <p:cNvCxnSpPr/>
          <p:nvPr/>
        </p:nvCxnSpPr>
        <p:spPr>
          <a:xfrm xmlns:a="http://schemas.openxmlformats.org/drawingml/2006/main">
            <a:off x="5475600" y="1933199"/>
            <a:ext cx="19224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tailEnd type="triangle"/>
          </a:ln>
        </p:spPr>
      </p:cxnSp>
      <p:cxnSp>
        <p:nvCxnSpPr>
          <p:cNvPr id="146" name="直线箭头连接符 47"/>
          <p:cNvCxnSpPr/>
          <p:nvPr/>
        </p:nvCxnSpPr>
        <p:spPr>
          <a:xfrm xmlns:a="http://schemas.openxmlformats.org/drawingml/2006/main">
            <a:off x="7142400" y="1933199"/>
            <a:ext cx="19224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tailEnd type="triangle"/>
          </a:ln>
        </p:spPr>
      </p:cxnSp>
      <p:cxnSp>
        <p:nvCxnSpPr>
          <p:cNvPr id="147" name="直线箭头连接符 48"/>
          <p:cNvCxnSpPr/>
          <p:nvPr/>
        </p:nvCxnSpPr>
        <p:spPr>
          <a:xfrm xmlns:a="http://schemas.openxmlformats.org/drawingml/2006/main">
            <a:off x="8761680" y="1933199"/>
            <a:ext cx="19224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tailEnd type="triangle"/>
          </a:ln>
        </p:spPr>
      </p:cxnSp>
      <p:cxnSp>
        <p:nvCxnSpPr>
          <p:cNvPr id="148" name="肘形连接符 49"/>
          <p:cNvCxnSpPr>
            <a:stCxn xmlns:a="http://schemas.openxmlformats.org/drawingml/2006/main" id="27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3808441" y="1347121"/>
            <a:ext cx="192238" cy="58589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4">
            <a:solidFill>
              <a:srgbClr val="B7791F"/>
            </a:solidFill>
            <a:prstDash val="dash"/>
            <a:tailEnd type="triangle"/>
          </a:ln>
        </p:spPr>
      </p:cxnSp>
      <p:sp>
        <p:nvSpPr>
          <p:cNvPr id="52" name="nx-manual-route">
            <a:extLst xmlns:a="http://schemas.openxmlformats.org/drawingml/2006/main">
              <a:ext uri="{FF2B5EF4-FFF2-40B4-BE49-F238E27FC236}">
                <a16:creationId xmlns:a16="http://schemas.microsoft.com/office/drawing/2014/main" id="{6629D9CF-99A9-4FD2-990E-26C731B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24510"/>
            <a:ext cx="2151360" cy="291979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1430">
            <a:solidFill>
              <a:srgbClr val="627D98"/>
            </a:solidFill>
            <a:prstDash val="dash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" name="nx-manual-route-text">
            <a:extLst xmlns:a="http://schemas.openxmlformats.org/drawingml/2006/main">
              <a:ext uri="{FF2B5EF4-FFF2-40B4-BE49-F238E27FC236}">
                <a16:creationId xmlns:a16="http://schemas.microsoft.com/office/drawing/2014/main" id="{1EF90855-3380-4257-A41E-EC9221E9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259" y="2472031"/>
            <a:ext cx="1908721" cy="23011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4999" tIns="44999" rIns="44999" bIns="44999">
            <a:normAutofit fontScale="96444"/>
          </a:bodyPr>
          <a:lstStyle xmlns:a="http://schemas.openxmlformats.org/drawingml/2006/main">
            <a:lvl1pPr algn="ctr">
              <a:buNone/>
              <a:defRPr sz="800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rPr sz="863" b="1">
                <a:solidFill>
                  <a:srgbClr val="557B9A"/>
                </a:solidFill>
                <a:latin typeface="Microsoft YaHei"/>
                <a:ea typeface="Microsoft YaHei"/>
                <a:cs typeface="Microsoft YaHei"/>
              </a:rPr>
              <a:t>高风险写动作 → Approval / Runbook</a:t>
            </a:r>
          </a:p>
        </p:txBody>
      </p:sp>
      <p:sp>
        <p:nvSpPr>
          <p:cNvPr id="54" name="矩形">
            <a:extLst xmlns:a="http://schemas.openxmlformats.org/drawingml/2006/main">
              <a:ext uri="{FF2B5EF4-FFF2-40B4-BE49-F238E27FC236}">
                <a16:creationId xmlns:a16="http://schemas.microsoft.com/office/drawing/2014/main" id="{48B9519D-E721-4828-A3F4-AB12D52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1079" y="5909731"/>
            <a:ext cx="10367723" cy="5494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" name="1. 自建 CI 自愈的核心，是打通“证据—分流—诊断—修复—验证—写回—回退”的受控闭环，而非只生成 Diff。…">
            <a:extLst xmlns:a="http://schemas.openxmlformats.org/drawingml/2006/main">
              <a:ext uri="{FF2B5EF4-FFF2-40B4-BE49-F238E27FC236}">
                <a16:creationId xmlns:a16="http://schemas.microsoft.com/office/drawing/2014/main" id="{81F871F9-DE7D-49C2-B148-545D69E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179" y="5911397"/>
            <a:ext cx="10291522" cy="546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CLI 优化局部执行、版本锁定与重放；MCP 优化跨客户端发现、远程接入与目录治理，主流路线是组合而非替代。</a:t>
            </a:r>
          </a:p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企业应先按复用半径选接口，再用任务身份、Policy、Approval 与外部 Oracle 限定自治。</a:t>
            </a:r>
          </a:p>
        </p:txBody>
      </p:sp>
      <p:cxnSp>
        <p:nvCxnSpPr>
          <p:cNvPr id="153" name="直线箭头连接符 69"/>
          <p:cNvCxnSpPr/>
          <p:nvPr/>
        </p:nvCxnSpPr>
        <p:spPr>
          <a:xfrm xmlns:a="http://schemas.openxmlformats.org/drawingml/2006/main" flipH="1">
            <a:off x="4733182" y="2294281"/>
            <a:ext cx="4958" cy="128449"/>
          </a:xfrm>
          <a:prstGeom xmlns:a="http://schemas.openxmlformats.org/drawingml/2006/main" prst="straightConnector1">
            <a:avLst/>
          </a:prstGeom>
          <a:ln xmlns:a="http://schemas.openxmlformats.org/drawingml/2006/main" w="13334">
            <a:solidFill>
              <a:srgbClr val="B7791F"/>
            </a:solidFill>
            <a:prstDash val="dash"/>
            <a:tailEnd type="triangle"/>
          </a:ln>
        </p:spPr>
      </p:cxnSp>
      <p:cxnSp>
        <p:nvCxnSpPr>
          <p:cNvPr id="154" name="直线箭头连接符 75"/>
          <p:cNvCxnSpPr/>
          <p:nvPr/>
        </p:nvCxnSpPr>
        <p:spPr>
          <a:xfrm xmlns:a="http://schemas.openxmlformats.org/drawingml/2006/main" flipH="1">
            <a:off x="8047980" y="2294280"/>
            <a:ext cx="0" cy="130231"/>
          </a:xfrm>
          <a:prstGeom xmlns:a="http://schemas.openxmlformats.org/drawingml/2006/main" prst="straightConnector1">
            <a:avLst/>
          </a:prstGeom>
          <a:ln xmlns:a="http://schemas.openxmlformats.org/drawingml/2006/main" w="13334">
            <a:solidFill>
              <a:schemeClr val="accent1"/>
            </a:solidFill>
            <a:prstDash val="dash"/>
            <a:tailEnd type="triangle"/>
          </a:ln>
        </p:spPr>
      </p:cxnSp>
      <p:sp>
        <p:nvSpPr>
          <p:cNvPr id="59" name="文本框 78">
            <a:extLst xmlns:a="http://schemas.openxmlformats.org/drawingml/2006/main">
              <a:ext uri="{FF2B5EF4-FFF2-40B4-BE49-F238E27FC236}">
                <a16:creationId xmlns:a16="http://schemas.microsoft.com/office/drawing/2014/main" id="{F5F3D1DC-1527-46A1-B84B-4153B0BB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60" y="1581866"/>
            <a:ext cx="544101" cy="2946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①</a:t>
            </a:r>
          </a:p>
        </p:txBody>
      </p:sp>
      <p:sp>
        <p:nvSpPr>
          <p:cNvPr id="60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EA3D33D-666E-459A-90EC-11E02F40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474" y="1559359"/>
            <a:ext cx="284396" cy="2946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②</a:t>
            </a:r>
          </a:p>
        </p:txBody>
      </p:sp>
      <p:sp>
        <p:nvSpPr>
          <p:cNvPr id="61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F0D4939F-7697-48CA-899F-5BC6C9C9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616" y="1537208"/>
            <a:ext cx="232817" cy="2946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③</a:t>
            </a:r>
          </a:p>
        </p:txBody>
      </p:sp>
      <p:sp>
        <p:nvSpPr>
          <p:cNvPr id="62" name="文本框 94">
            <a:extLst xmlns:a="http://schemas.openxmlformats.org/drawingml/2006/main">
              <a:ext uri="{FF2B5EF4-FFF2-40B4-BE49-F238E27FC236}">
                <a16:creationId xmlns:a16="http://schemas.microsoft.com/office/drawing/2014/main" id="{C484427B-B2E4-4BAC-AB1D-10A57B7A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894" y="1548027"/>
            <a:ext cx="223621" cy="2946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④</a:t>
            </a:r>
          </a:p>
        </p:txBody>
      </p:sp>
      <p:sp>
        <p:nvSpPr>
          <p:cNvPr id="63" name="文本框 95">
            <a:extLst xmlns:a="http://schemas.openxmlformats.org/drawingml/2006/main">
              <a:ext uri="{FF2B5EF4-FFF2-40B4-BE49-F238E27FC236}">
                <a16:creationId xmlns:a16="http://schemas.microsoft.com/office/drawing/2014/main" id="{9D779081-2A9F-4F22-A7A2-61758A8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474" y="1542344"/>
            <a:ext cx="195614" cy="2946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⑤</a:t>
            </a:r>
          </a:p>
        </p:txBody>
      </p:sp>
      <p:sp>
        <p:nvSpPr>
          <p:cNvPr id="64" name="文本框 96">
            <a:extLst xmlns:a="http://schemas.openxmlformats.org/drawingml/2006/main">
              <a:ext uri="{FF2B5EF4-FFF2-40B4-BE49-F238E27FC236}">
                <a16:creationId xmlns:a16="http://schemas.microsoft.com/office/drawing/2014/main" id="{D7F72315-6018-4C17-BAD9-00215445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47" y="1534370"/>
            <a:ext cx="196108" cy="2946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⑥</a:t>
            </a:r>
          </a:p>
        </p:txBody>
      </p:sp>
      <p:sp>
        <p:nvSpPr>
          <p:cNvPr id="65" name="矩形">
            <a:extLst xmlns:a="http://schemas.openxmlformats.org/drawingml/2006/main">
              <a:ext uri="{FF2B5EF4-FFF2-40B4-BE49-F238E27FC236}">
                <a16:creationId xmlns:a16="http://schemas.microsoft.com/office/drawing/2014/main" id="{CBDAD762-6DE2-420B-9816-AA179F52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20" y="5909731"/>
            <a:ext cx="651755" cy="54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6" name="洞察…">
            <a:extLst xmlns:a="http://schemas.openxmlformats.org/drawingml/2006/main">
              <a:ext uri="{FF2B5EF4-FFF2-40B4-BE49-F238E27FC236}">
                <a16:creationId xmlns:a16="http://schemas.microsoft.com/office/drawing/2014/main" id="{C7442EC8-D46B-4B49-B987-0096A055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519" y="5860048"/>
            <a:ext cx="561755" cy="648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44999" tIns="44999" rIns="44999" bIns="44999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  <a:p xmlns:a="http://schemas.openxmlformats.org/drawingml/2006/main">
            <a:pPr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graphicFrame>
        <p:nvGraphicFramePr>
          <p:cNvPr id="163" name="nx-stage-company-practice-table"/>
          <p:cNvGraphicFramePr/>
          <p:nvPr/>
        </p:nvGraphicFramePr>
        <p:xfrm>
          <a:off xmlns:a="http://schemas.openxmlformats.org/drawingml/2006/main" x="513719" y="2763260"/>
          <a:ext xmlns:a="http://schemas.openxmlformats.org/drawingml/2006/main" cx="11125080" cy="2788944"/>
        </p:xfrm>
        <a:graphic xmlns:a="http://schemas.openxmlformats.org/drawingml/2006/main"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76360"/>
                <a:gridCol w="3476520"/>
                <a:gridCol w="6172200"/>
              </a:tblGrid>
              <a:tr h="28548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Microsoft YaHei"/>
                          <a:ea typeface="Microsoft YaHei"/>
                          <a:cs typeface="Microsoft YaHei"/>
                        </a:rPr>
                        <a:t>选型维度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latin typeface="Microsoft YaHei"/>
                          <a:ea typeface="Microsoft YaHei"/>
                          <a:cs typeface="Microsoft YaHei"/>
                        </a:rPr>
                        <a:t>机制判断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latin typeface="Microsoft YaHei"/>
                          <a:ea typeface="Microsoft YaHei"/>
                          <a:cs typeface="Microsoft YaHei"/>
                        </a:rPr>
                        <a:t>业界主流证据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</a:tr>
              <a:tr h="3873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CLI｜优势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96000"/>
                        </a:lnSpc>
                        <a:buNone/>
                      </a:pP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显式命令、参数、进程输出与退出状态；贴近本地 / Runner，易调试、锁版本与重放。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5b1f9793eda543b9"/>
                        </a:rPr>
                        <a:t>OpenAI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 Codex exec：CI、JSONL、Schema；</a:t>
                      </a:r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eca22009aa204e22"/>
                        </a:rPr>
                        <a:t>HashiCorp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 Terraform：Plan / Apply。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</a:tr>
              <a:tr h="3873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②③ CLI</a:t>
                      </a:r>
                    </a:p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代价与场景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96000"/>
                        </a:lnSpc>
                        <a:buNone/>
                      </a:pP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需自行治理 Target、cwd、账户、版本、凭据与错误契约；适合单 Harness、成熟 CLI、隔离 Runner。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00e88da80df64a7b"/>
                        </a:rPr>
                        <a:t>Kubernetes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：kubectl 可调用，不等于 API 已授权。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</a:tr>
              <a:tr h="3873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MCP｜优势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96000"/>
                        </a:lnSpc>
                        <a:buNone/>
                      </a:pP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统一跨 Host 的 Tools、Resources、Prompts 与能力协商；适合多客户端发现和复用远程能力。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6bcbc525ecba4b69"/>
                        </a:rPr>
                        <a:t>MCP 规范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：Host / Client / Server、JSON-RPC、capability negotiation。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</a:tr>
              <a:tr h="3873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②③ MCP</a:t>
                      </a:r>
                    </a:p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代价与场景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96000"/>
                        </a:lnSpc>
                        <a:buNone/>
                      </a:pP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新增 Server 生命周期、传输、认证与信任边界；适合共享 SaaS、文档、目录和集中治理服务。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acfa3c360a994216"/>
                        </a:rPr>
                        <a:t>Anthropic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 Claude Code：local stdio / remote HTTP 均需显式配置。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</a:tr>
              <a:tr h="3873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③④ 组合路线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96000"/>
                        </a:lnSpc>
                        <a:buNone/>
                      </a:pP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常见架构：MCP 负责发现与接入，CLI / API / SDK 落实动作；二者没有强制上下位关系。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be033198126945d8"/>
                        </a:rPr>
                        <a:t>GitHub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 Copilot CLI（GA）：Shell + 内建 / 自定义 MCP；</a:t>
                      </a:r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07678ca85be543ce"/>
                        </a:rPr>
                        <a:t>HashiCorp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：Terraform CLI + MCP Server。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</a:tr>
              <a:tr h="3873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④⑤⑥ 共同边界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D9D9D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96000"/>
                        </a:lnSpc>
                        <a:buNone/>
                      </a:pP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CLI / MCP 都不能替代任务身份、后端 Policy、Approval、外部 Oracle 与 Audit。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613b5c9ca3764a9e"/>
                        </a:rPr>
                        <a:t>GitHub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：Tool visibility 与 allow / deny 分层；</a:t>
                      </a:r>
                      <a:r>
                        <a:rPr sz="998" b="1" u="sng">
                          <a:solidFill>
                            <a:srgbClr val="1673A6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d564bfe647794158"/>
                        </a:rPr>
                        <a:t>HashiCorp</a:t>
                      </a:r>
                      <a:r>
                        <a:rPr sz="998">
                          <a:latin typeface="Microsoft YaHei"/>
                          <a:ea typeface="Microsoft YaHei"/>
                          <a:cs typeface="Microsoft YaHei"/>
                        </a:rPr>
                        <a:t>：Plan → Review → Apply。</a:t>
                      </a:r>
                    </a:p>
                  </a:txBody>
                  <a:tcPr marL="19050" marR="19050" marT="19050" marB="19050" anchor="ctr" horzOverflow="overflow">
                    <a:lnL w="12700"/>
                    <a:lnR w="12700"/>
                    <a:lnT w="12700"/>
                    <a:lnB w="12700"/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711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2026-07-28T03:28:49.6150000Z</dcterms:created>
  <dcterms:modified xsi:type="dcterms:W3CDTF">2026-07-28T03:28:49.6150000Z</dcterms:modified>
</coreProperties>
</file>